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ptos Bold" charset="1" panose="020B0004020202020204"/>
      <p:regular r:id="rId16"/>
    </p:embeddedFont>
    <p:embeddedFont>
      <p:font typeface="Aptos" charset="1" panose="020B0004020202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882015" y="1362075"/>
            <a:ext cx="16478250" cy="7837170"/>
            <a:chOff x="0" y="0"/>
            <a:chExt cx="21971000" cy="10449560"/>
          </a:xfrm>
        </p:grpSpPr>
        <p:sp>
          <p:nvSpPr>
            <p:cNvPr name="Freeform 6" id="6"/>
            <p:cNvSpPr/>
            <p:nvPr/>
          </p:nvSpPr>
          <p:spPr>
            <a:xfrm flipH="false" flipV="false" rot="0">
              <a:off x="12700" y="12700"/>
              <a:ext cx="21945600" cy="10424161"/>
            </a:xfrm>
            <a:custGeom>
              <a:avLst/>
              <a:gdLst/>
              <a:ahLst/>
              <a:cxnLst/>
              <a:rect r="r" b="b" t="t" l="l"/>
              <a:pathLst>
                <a:path h="10424161" w="21945600">
                  <a:moveTo>
                    <a:pt x="0" y="219456"/>
                  </a:moveTo>
                  <a:cubicBezTo>
                    <a:pt x="0" y="98298"/>
                    <a:pt x="98425" y="0"/>
                    <a:pt x="219710" y="0"/>
                  </a:cubicBezTo>
                  <a:lnTo>
                    <a:pt x="21725889" y="0"/>
                  </a:lnTo>
                  <a:cubicBezTo>
                    <a:pt x="21847175" y="0"/>
                    <a:pt x="21945600" y="98298"/>
                    <a:pt x="21945600" y="219456"/>
                  </a:cubicBezTo>
                  <a:lnTo>
                    <a:pt x="21945600" y="10204704"/>
                  </a:lnTo>
                  <a:cubicBezTo>
                    <a:pt x="21945600" y="10325862"/>
                    <a:pt x="21847175" y="10424161"/>
                    <a:pt x="21725889" y="10424161"/>
                  </a:cubicBezTo>
                  <a:lnTo>
                    <a:pt x="219710" y="10424161"/>
                  </a:lnTo>
                  <a:cubicBezTo>
                    <a:pt x="98425" y="10424160"/>
                    <a:pt x="0" y="10325862"/>
                    <a:pt x="0" y="10204704"/>
                  </a:cubicBezTo>
                  <a:close/>
                </a:path>
              </a:pathLst>
            </a:custGeom>
            <a:solidFill>
              <a:srgbClr val="FFFFFF"/>
            </a:solidFill>
          </p:spPr>
        </p:sp>
        <p:sp>
          <p:nvSpPr>
            <p:cNvPr name="Freeform 7" id="7"/>
            <p:cNvSpPr/>
            <p:nvPr/>
          </p:nvSpPr>
          <p:spPr>
            <a:xfrm flipH="false" flipV="false" rot="0">
              <a:off x="0" y="0"/>
              <a:ext cx="21971000" cy="10449561"/>
            </a:xfrm>
            <a:custGeom>
              <a:avLst/>
              <a:gdLst/>
              <a:ahLst/>
              <a:cxnLst/>
              <a:rect r="r" b="b" t="t" l="l"/>
              <a:pathLst>
                <a:path h="10449561" w="21971000">
                  <a:moveTo>
                    <a:pt x="0" y="232156"/>
                  </a:moveTo>
                  <a:cubicBezTo>
                    <a:pt x="0" y="103886"/>
                    <a:pt x="104013" y="0"/>
                    <a:pt x="232410" y="0"/>
                  </a:cubicBezTo>
                  <a:lnTo>
                    <a:pt x="21738589" y="0"/>
                  </a:lnTo>
                  <a:lnTo>
                    <a:pt x="21738589" y="12700"/>
                  </a:lnTo>
                  <a:lnTo>
                    <a:pt x="21738589" y="0"/>
                  </a:lnTo>
                  <a:cubicBezTo>
                    <a:pt x="21866986" y="0"/>
                    <a:pt x="21971000" y="103886"/>
                    <a:pt x="21971000" y="232156"/>
                  </a:cubicBezTo>
                  <a:lnTo>
                    <a:pt x="21958300" y="232156"/>
                  </a:lnTo>
                  <a:lnTo>
                    <a:pt x="21971000" y="232156"/>
                  </a:lnTo>
                  <a:lnTo>
                    <a:pt x="21971000" y="10217404"/>
                  </a:lnTo>
                  <a:lnTo>
                    <a:pt x="21958300" y="10217404"/>
                  </a:lnTo>
                  <a:lnTo>
                    <a:pt x="21971000" y="10217404"/>
                  </a:lnTo>
                  <a:cubicBezTo>
                    <a:pt x="21971000" y="10345674"/>
                    <a:pt x="21866986" y="10449561"/>
                    <a:pt x="21738589" y="10449561"/>
                  </a:cubicBezTo>
                  <a:lnTo>
                    <a:pt x="21738589" y="10436861"/>
                  </a:lnTo>
                  <a:lnTo>
                    <a:pt x="21738589" y="10449561"/>
                  </a:lnTo>
                  <a:lnTo>
                    <a:pt x="232410" y="10449561"/>
                  </a:lnTo>
                  <a:lnTo>
                    <a:pt x="232410" y="10436861"/>
                  </a:lnTo>
                  <a:lnTo>
                    <a:pt x="232410" y="10449561"/>
                  </a:lnTo>
                  <a:cubicBezTo>
                    <a:pt x="104013" y="10449560"/>
                    <a:pt x="0" y="10345674"/>
                    <a:pt x="0" y="10217404"/>
                  </a:cubicBezTo>
                  <a:lnTo>
                    <a:pt x="0" y="232156"/>
                  </a:lnTo>
                  <a:lnTo>
                    <a:pt x="12700" y="232156"/>
                  </a:lnTo>
                  <a:lnTo>
                    <a:pt x="0" y="232156"/>
                  </a:lnTo>
                  <a:moveTo>
                    <a:pt x="25400" y="232156"/>
                  </a:moveTo>
                  <a:lnTo>
                    <a:pt x="25400" y="10217404"/>
                  </a:lnTo>
                  <a:lnTo>
                    <a:pt x="12700" y="10217404"/>
                  </a:lnTo>
                  <a:lnTo>
                    <a:pt x="25400" y="10217404"/>
                  </a:lnTo>
                  <a:cubicBezTo>
                    <a:pt x="25400" y="10331577"/>
                    <a:pt x="118110" y="10424161"/>
                    <a:pt x="232410" y="10424161"/>
                  </a:cubicBezTo>
                  <a:lnTo>
                    <a:pt x="21738589" y="10424161"/>
                  </a:lnTo>
                  <a:cubicBezTo>
                    <a:pt x="21852889" y="10424161"/>
                    <a:pt x="21945600" y="10331577"/>
                    <a:pt x="21945600" y="10217404"/>
                  </a:cubicBezTo>
                  <a:lnTo>
                    <a:pt x="21945600" y="232156"/>
                  </a:lnTo>
                  <a:cubicBezTo>
                    <a:pt x="21945600" y="117983"/>
                    <a:pt x="21852889" y="25400"/>
                    <a:pt x="21738589" y="25400"/>
                  </a:cubicBezTo>
                  <a:lnTo>
                    <a:pt x="232410" y="25400"/>
                  </a:lnTo>
                  <a:lnTo>
                    <a:pt x="232410" y="12700"/>
                  </a:lnTo>
                  <a:lnTo>
                    <a:pt x="232410" y="25400"/>
                  </a:lnTo>
                  <a:cubicBezTo>
                    <a:pt x="118110" y="25400"/>
                    <a:pt x="25400" y="117983"/>
                    <a:pt x="25400" y="232156"/>
                  </a:cubicBezTo>
                  <a:close/>
                </a:path>
              </a:pathLst>
            </a:custGeom>
            <a:solidFill>
              <a:srgbClr val="E2E8F0"/>
            </a:solidFill>
          </p:spPr>
        </p:sp>
      </p:grpSp>
      <p:grpSp>
        <p:nvGrpSpPr>
          <p:cNvPr name="Group 8" id="8"/>
          <p:cNvGrpSpPr/>
          <p:nvPr/>
        </p:nvGrpSpPr>
        <p:grpSpPr>
          <a:xfrm rot="0">
            <a:off x="882015" y="1362075"/>
            <a:ext cx="16478250" cy="403098"/>
            <a:chOff x="0" y="0"/>
            <a:chExt cx="21971000" cy="537464"/>
          </a:xfrm>
        </p:grpSpPr>
        <p:sp>
          <p:nvSpPr>
            <p:cNvPr name="Freeform 9" id="9"/>
            <p:cNvSpPr/>
            <p:nvPr/>
          </p:nvSpPr>
          <p:spPr>
            <a:xfrm flipH="false" flipV="false" rot="0">
              <a:off x="12700" y="12700"/>
              <a:ext cx="21945600" cy="512064"/>
            </a:xfrm>
            <a:custGeom>
              <a:avLst/>
              <a:gdLst/>
              <a:ahLst/>
              <a:cxnLst/>
              <a:rect r="r" b="b" t="t" l="l"/>
              <a:pathLst>
                <a:path h="512064" w="21945600">
                  <a:moveTo>
                    <a:pt x="0" y="0"/>
                  </a:moveTo>
                  <a:lnTo>
                    <a:pt x="21945600" y="0"/>
                  </a:lnTo>
                  <a:lnTo>
                    <a:pt x="21945600" y="512064"/>
                  </a:lnTo>
                  <a:lnTo>
                    <a:pt x="0" y="512064"/>
                  </a:lnTo>
                  <a:close/>
                </a:path>
              </a:pathLst>
            </a:custGeom>
            <a:solidFill>
              <a:srgbClr val="1F4E79"/>
            </a:solidFill>
          </p:spPr>
        </p:sp>
        <p:sp>
          <p:nvSpPr>
            <p:cNvPr name="Freeform 10" id="10"/>
            <p:cNvSpPr/>
            <p:nvPr/>
          </p:nvSpPr>
          <p:spPr>
            <a:xfrm flipH="false" flipV="false" rot="0">
              <a:off x="0" y="0"/>
              <a:ext cx="21971000" cy="537464"/>
            </a:xfrm>
            <a:custGeom>
              <a:avLst/>
              <a:gdLst/>
              <a:ahLst/>
              <a:cxnLst/>
              <a:rect r="r" b="b" t="t" l="l"/>
              <a:pathLst>
                <a:path h="537464" w="21971000">
                  <a:moveTo>
                    <a:pt x="12700" y="0"/>
                  </a:moveTo>
                  <a:lnTo>
                    <a:pt x="21958300" y="0"/>
                  </a:lnTo>
                  <a:cubicBezTo>
                    <a:pt x="21965286" y="0"/>
                    <a:pt x="21971000" y="5715"/>
                    <a:pt x="21971000" y="12700"/>
                  </a:cubicBezTo>
                  <a:lnTo>
                    <a:pt x="21971000" y="524764"/>
                  </a:lnTo>
                  <a:cubicBezTo>
                    <a:pt x="21971000" y="531749"/>
                    <a:pt x="21965286" y="537464"/>
                    <a:pt x="21958300"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1958300" y="512064"/>
                  </a:lnTo>
                  <a:lnTo>
                    <a:pt x="21958300" y="524764"/>
                  </a:lnTo>
                  <a:lnTo>
                    <a:pt x="21945600" y="524764"/>
                  </a:lnTo>
                  <a:lnTo>
                    <a:pt x="21945600" y="12700"/>
                  </a:lnTo>
                  <a:lnTo>
                    <a:pt x="21958300" y="12700"/>
                  </a:lnTo>
                  <a:lnTo>
                    <a:pt x="21958300" y="25400"/>
                  </a:lnTo>
                  <a:lnTo>
                    <a:pt x="12700" y="25400"/>
                  </a:lnTo>
                  <a:close/>
                </a:path>
              </a:pathLst>
            </a:custGeom>
            <a:solidFill>
              <a:srgbClr val="1F4E79"/>
            </a:solidFill>
          </p:spPr>
        </p:sp>
      </p:grpSp>
      <p:grpSp>
        <p:nvGrpSpPr>
          <p:cNvPr name="Group 11" id="11"/>
          <p:cNvGrpSpPr/>
          <p:nvPr/>
        </p:nvGrpSpPr>
        <p:grpSpPr>
          <a:xfrm rot="0">
            <a:off x="1371600" y="2263140"/>
            <a:ext cx="9875520" cy="1645920"/>
            <a:chOff x="0" y="0"/>
            <a:chExt cx="13167360" cy="2194560"/>
          </a:xfrm>
        </p:grpSpPr>
        <p:sp>
          <p:nvSpPr>
            <p:cNvPr name="Freeform 12" id="12"/>
            <p:cNvSpPr/>
            <p:nvPr/>
          </p:nvSpPr>
          <p:spPr>
            <a:xfrm flipH="false" flipV="false" rot="0">
              <a:off x="0" y="0"/>
              <a:ext cx="13167361" cy="2194560"/>
            </a:xfrm>
            <a:custGeom>
              <a:avLst/>
              <a:gdLst/>
              <a:ahLst/>
              <a:cxnLst/>
              <a:rect r="r" b="b" t="t" l="l"/>
              <a:pathLst>
                <a:path h="2194560" w="13167361">
                  <a:moveTo>
                    <a:pt x="0" y="0"/>
                  </a:moveTo>
                  <a:lnTo>
                    <a:pt x="13167361" y="0"/>
                  </a:lnTo>
                  <a:lnTo>
                    <a:pt x="13167361" y="2194560"/>
                  </a:lnTo>
                  <a:lnTo>
                    <a:pt x="0" y="2194560"/>
                  </a:lnTo>
                  <a:close/>
                </a:path>
              </a:pathLst>
            </a:custGeom>
            <a:blipFill>
              <a:blip r:embed="rId2">
                <a:alphaModFix amt="0"/>
              </a:blip>
              <a:stretch>
                <a:fillRect l="0" t="-66910" r="0" b="-66910"/>
              </a:stretch>
            </a:blipFill>
          </p:spPr>
        </p:sp>
        <p:sp>
          <p:nvSpPr>
            <p:cNvPr name="TextBox 13" id="13"/>
            <p:cNvSpPr txBox="true"/>
            <p:nvPr/>
          </p:nvSpPr>
          <p:spPr>
            <a:xfrm>
              <a:off x="0" y="0"/>
              <a:ext cx="13167360" cy="219456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BÁO CÁO KẾT QUẢ KIỂM THỬ</a:t>
              </a:r>
            </a:p>
            <a:p>
              <a:pPr algn="l">
                <a:lnSpc>
                  <a:spcPts val="4320"/>
                </a:lnSpc>
              </a:pPr>
              <a:r>
                <a:rPr lang="en-US" sz="3600" b="true">
                  <a:solidFill>
                    <a:srgbClr val="0F172A"/>
                  </a:solidFill>
                  <a:latin typeface="Aptos Bold"/>
                  <a:ea typeface="Aptos Bold"/>
                  <a:cs typeface="Aptos Bold"/>
                  <a:sym typeface="Aptos Bold"/>
                </a:rPr>
                <a:t>LOCALIZATION TESTING TRÊN PRESTASHOP DEMO</a:t>
              </a:r>
            </a:p>
          </p:txBody>
        </p:sp>
      </p:grpSp>
      <p:grpSp>
        <p:nvGrpSpPr>
          <p:cNvPr name="Group 14" id="14"/>
          <p:cNvGrpSpPr/>
          <p:nvPr/>
        </p:nvGrpSpPr>
        <p:grpSpPr>
          <a:xfrm rot="0">
            <a:off x="1399032" y="4183380"/>
            <a:ext cx="6832280" cy="1303020"/>
            <a:chOff x="0" y="0"/>
            <a:chExt cx="9109707" cy="1737360"/>
          </a:xfrm>
        </p:grpSpPr>
        <p:sp>
          <p:nvSpPr>
            <p:cNvPr name="Freeform 15" id="15"/>
            <p:cNvSpPr/>
            <p:nvPr/>
          </p:nvSpPr>
          <p:spPr>
            <a:xfrm flipH="false" flipV="false" rot="0">
              <a:off x="0" y="0"/>
              <a:ext cx="9109708" cy="1737360"/>
            </a:xfrm>
            <a:custGeom>
              <a:avLst/>
              <a:gdLst/>
              <a:ahLst/>
              <a:cxnLst/>
              <a:rect r="r" b="b" t="t" l="l"/>
              <a:pathLst>
                <a:path h="1737360" w="9109708">
                  <a:moveTo>
                    <a:pt x="0" y="0"/>
                  </a:moveTo>
                  <a:lnTo>
                    <a:pt x="9109708" y="0"/>
                  </a:lnTo>
                  <a:lnTo>
                    <a:pt x="9109708" y="1737360"/>
                  </a:lnTo>
                  <a:lnTo>
                    <a:pt x="0" y="1737360"/>
                  </a:lnTo>
                  <a:close/>
                </a:path>
              </a:pathLst>
            </a:custGeom>
            <a:blipFill>
              <a:blip r:embed="rId2">
                <a:alphaModFix amt="0"/>
              </a:blip>
              <a:stretch>
                <a:fillRect l="0" t="-64859" r="-12421" b="-64859"/>
              </a:stretch>
            </a:blipFill>
          </p:spPr>
        </p:sp>
        <p:sp>
          <p:nvSpPr>
            <p:cNvPr name="TextBox 16" id="16"/>
            <p:cNvSpPr txBox="true"/>
            <p:nvPr/>
          </p:nvSpPr>
          <p:spPr>
            <a:xfrm>
              <a:off x="0" y="-9525"/>
              <a:ext cx="9109707" cy="1746885"/>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Đề tài tập trung đánh giá khả năng bản địa hóa của website thương mại điện tử đa ngôn ngữ trên 4 locale đại diện bằng bộ kiểm thử tự động Selenium + JUnit 5.</a:t>
              </a:r>
            </a:p>
          </p:txBody>
        </p:sp>
      </p:grpSp>
      <p:grpSp>
        <p:nvGrpSpPr>
          <p:cNvPr name="Group 17" id="17"/>
          <p:cNvGrpSpPr/>
          <p:nvPr/>
        </p:nvGrpSpPr>
        <p:grpSpPr>
          <a:xfrm rot="0">
            <a:off x="1440180" y="6240780"/>
            <a:ext cx="6035040" cy="1234440"/>
            <a:chOff x="0" y="0"/>
            <a:chExt cx="8046720" cy="1645920"/>
          </a:xfrm>
        </p:grpSpPr>
        <p:sp>
          <p:nvSpPr>
            <p:cNvPr name="Freeform 18" id="18"/>
            <p:cNvSpPr/>
            <p:nvPr/>
          </p:nvSpPr>
          <p:spPr>
            <a:xfrm flipH="false" flipV="false" rot="0">
              <a:off x="0" y="0"/>
              <a:ext cx="8046720" cy="1645920"/>
            </a:xfrm>
            <a:custGeom>
              <a:avLst/>
              <a:gdLst/>
              <a:ahLst/>
              <a:cxnLst/>
              <a:rect r="r" b="b" t="t" l="l"/>
              <a:pathLst>
                <a:path h="1645920" w="8046720">
                  <a:moveTo>
                    <a:pt x="0" y="0"/>
                  </a:moveTo>
                  <a:lnTo>
                    <a:pt x="8046720" y="0"/>
                  </a:lnTo>
                  <a:lnTo>
                    <a:pt x="8046720" y="1645920"/>
                  </a:lnTo>
                  <a:lnTo>
                    <a:pt x="0" y="1645920"/>
                  </a:lnTo>
                  <a:close/>
                </a:path>
              </a:pathLst>
            </a:custGeom>
            <a:blipFill>
              <a:blip r:embed="rId2">
                <a:alphaModFix amt="0"/>
              </a:blip>
              <a:stretch>
                <a:fillRect l="0" t="-45260" r="0" b="-45260"/>
              </a:stretch>
            </a:blipFill>
          </p:spPr>
        </p:sp>
        <p:sp>
          <p:nvSpPr>
            <p:cNvPr name="TextBox 19" id="19"/>
            <p:cNvSpPr txBox="true"/>
            <p:nvPr/>
          </p:nvSpPr>
          <p:spPr>
            <a:xfrm>
              <a:off x="0" y="-9525"/>
              <a:ext cx="8046720" cy="1655445"/>
            </a:xfrm>
            <a:prstGeom prst="rect">
              <a:avLst/>
            </a:prstGeom>
          </p:spPr>
          <p:txBody>
            <a:bodyPr anchor="ctr" rtlCol="false" tIns="0" lIns="0" bIns="0" rIns="0"/>
            <a:lstStyle/>
            <a:p>
              <a:pPr algn="l">
                <a:lnSpc>
                  <a:spcPts val="2400"/>
                </a:lnSpc>
              </a:pPr>
              <a:r>
                <a:rPr lang="en-US" sz="2000">
                  <a:solidFill>
                    <a:srgbClr val="000000"/>
                  </a:solidFill>
                  <a:latin typeface="Aptos"/>
                  <a:ea typeface="Aptos"/>
                  <a:cs typeface="Aptos"/>
                  <a:sym typeface="Aptos"/>
                </a:rPr>
                <a:t>Người thực hiện: Lê Trí Anh</a:t>
              </a:r>
            </a:p>
            <a:p>
              <a:pPr algn="l">
                <a:lnSpc>
                  <a:spcPts val="2400"/>
                </a:lnSpc>
              </a:pPr>
              <a:r>
                <a:rPr lang="en-US" sz="2000">
                  <a:solidFill>
                    <a:srgbClr val="000000"/>
                  </a:solidFill>
                  <a:latin typeface="Aptos"/>
                  <a:ea typeface="Aptos"/>
                  <a:cs typeface="Aptos"/>
                  <a:sym typeface="Aptos"/>
                </a:rPr>
                <a:t>Môn học: Kiểm thử phần mềm</a:t>
              </a:r>
            </a:p>
            <a:p>
              <a:pPr algn="l">
                <a:lnSpc>
                  <a:spcPts val="2400"/>
                </a:lnSpc>
              </a:pPr>
              <a:r>
                <a:rPr lang="en-US" sz="2000">
                  <a:solidFill>
                    <a:srgbClr val="000000"/>
                  </a:solidFill>
                  <a:latin typeface="Aptos"/>
                  <a:ea typeface="Aptos"/>
                  <a:cs typeface="Aptos"/>
                  <a:sym typeface="Aptos"/>
                </a:rPr>
                <a:t>Nền tảng: PrestaShop Demo 8</a:t>
              </a:r>
            </a:p>
          </p:txBody>
        </p:sp>
      </p:grpSp>
      <p:sp>
        <p:nvSpPr>
          <p:cNvPr name="Freeform 20" id="20"/>
          <p:cNvSpPr/>
          <p:nvPr/>
        </p:nvSpPr>
        <p:spPr>
          <a:xfrm flipH="false" flipV="false" rot="0">
            <a:off x="8478048" y="3508769"/>
            <a:ext cx="8453099" cy="4680904"/>
          </a:xfrm>
          <a:custGeom>
            <a:avLst/>
            <a:gdLst/>
            <a:ahLst/>
            <a:cxnLst/>
            <a:rect r="r" b="b" t="t" l="l"/>
            <a:pathLst>
              <a:path h="4680904" w="8453099">
                <a:moveTo>
                  <a:pt x="0" y="0"/>
                </a:moveTo>
                <a:lnTo>
                  <a:pt x="8453099" y="0"/>
                </a:lnTo>
                <a:lnTo>
                  <a:pt x="8453099" y="4680903"/>
                </a:lnTo>
                <a:lnTo>
                  <a:pt x="0" y="4680903"/>
                </a:lnTo>
                <a:lnTo>
                  <a:pt x="0" y="0"/>
                </a:lnTo>
                <a:close/>
              </a:path>
            </a:pathLst>
          </a:custGeom>
          <a:blipFill>
            <a:blip r:embed="rId3"/>
            <a:stretch>
              <a:fillRect l="0" t="0" r="0" b="0"/>
            </a:stretch>
          </a:blipFill>
        </p:spPr>
      </p:sp>
      <p:sp>
        <p:nvSpPr>
          <p:cNvPr name="TextBox 21" id="21"/>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Tổng quan website demo và mục tiêu kiểm thử</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Tổng quan</a:t>
              </a:r>
            </a:p>
          </p:txBody>
        </p:sp>
      </p:grpSp>
      <p:grpSp>
        <p:nvGrpSpPr>
          <p:cNvPr name="Group 14" id="14"/>
          <p:cNvGrpSpPr/>
          <p:nvPr/>
        </p:nvGrpSpPr>
        <p:grpSpPr>
          <a:xfrm rot="0">
            <a:off x="950595" y="1842135"/>
            <a:ext cx="8385810" cy="7562850"/>
            <a:chOff x="0" y="0"/>
            <a:chExt cx="11181080" cy="10083800"/>
          </a:xfrm>
        </p:grpSpPr>
        <p:sp>
          <p:nvSpPr>
            <p:cNvPr name="Freeform 15" id="15"/>
            <p:cNvSpPr/>
            <p:nvPr/>
          </p:nvSpPr>
          <p:spPr>
            <a:xfrm flipH="false" flipV="false" rot="0">
              <a:off x="12700" y="12700"/>
              <a:ext cx="11155680" cy="10058400"/>
            </a:xfrm>
            <a:custGeom>
              <a:avLst/>
              <a:gdLst/>
              <a:ahLst/>
              <a:cxnLst/>
              <a:rect r="r" b="b" t="t" l="l"/>
              <a:pathLst>
                <a:path h="10058400" w="11155680">
                  <a:moveTo>
                    <a:pt x="0" y="146304"/>
                  </a:moveTo>
                  <a:cubicBezTo>
                    <a:pt x="0" y="65532"/>
                    <a:pt x="65532" y="0"/>
                    <a:pt x="146431" y="0"/>
                  </a:cubicBezTo>
                  <a:lnTo>
                    <a:pt x="11009249" y="0"/>
                  </a:lnTo>
                  <a:cubicBezTo>
                    <a:pt x="11090148" y="0"/>
                    <a:pt x="11155680" y="65532"/>
                    <a:pt x="11155680" y="146304"/>
                  </a:cubicBezTo>
                  <a:lnTo>
                    <a:pt x="11155680" y="9912096"/>
                  </a:lnTo>
                  <a:cubicBezTo>
                    <a:pt x="11155680" y="9992868"/>
                    <a:pt x="11090148" y="10058400"/>
                    <a:pt x="11009249" y="10058400"/>
                  </a:cubicBezTo>
                  <a:lnTo>
                    <a:pt x="146431" y="10058400"/>
                  </a:lnTo>
                  <a:cubicBezTo>
                    <a:pt x="65532" y="10058400"/>
                    <a:pt x="0" y="9992868"/>
                    <a:pt x="0" y="9912096"/>
                  </a:cubicBezTo>
                  <a:close/>
                </a:path>
              </a:pathLst>
            </a:custGeom>
            <a:solidFill>
              <a:srgbClr val="FFFFFF"/>
            </a:solidFill>
          </p:spPr>
        </p:sp>
        <p:sp>
          <p:nvSpPr>
            <p:cNvPr name="Freeform 16" id="16"/>
            <p:cNvSpPr/>
            <p:nvPr/>
          </p:nvSpPr>
          <p:spPr>
            <a:xfrm flipH="false" flipV="false" rot="0">
              <a:off x="0" y="0"/>
              <a:ext cx="11181080" cy="10083800"/>
            </a:xfrm>
            <a:custGeom>
              <a:avLst/>
              <a:gdLst/>
              <a:ahLst/>
              <a:cxnLst/>
              <a:rect r="r" b="b" t="t" l="l"/>
              <a:pathLst>
                <a:path h="10083800" w="11181080">
                  <a:moveTo>
                    <a:pt x="0" y="159004"/>
                  </a:moveTo>
                  <a:cubicBezTo>
                    <a:pt x="0" y="71247"/>
                    <a:pt x="71247" y="0"/>
                    <a:pt x="159131" y="0"/>
                  </a:cubicBezTo>
                  <a:lnTo>
                    <a:pt x="11021949" y="0"/>
                  </a:lnTo>
                  <a:lnTo>
                    <a:pt x="11021949" y="12700"/>
                  </a:lnTo>
                  <a:lnTo>
                    <a:pt x="11021949" y="0"/>
                  </a:lnTo>
                  <a:cubicBezTo>
                    <a:pt x="11109833" y="0"/>
                    <a:pt x="11181080" y="71247"/>
                    <a:pt x="11181080" y="159004"/>
                  </a:cubicBezTo>
                  <a:lnTo>
                    <a:pt x="11168380" y="159004"/>
                  </a:lnTo>
                  <a:lnTo>
                    <a:pt x="11181080" y="159004"/>
                  </a:lnTo>
                  <a:lnTo>
                    <a:pt x="11181080" y="9924796"/>
                  </a:lnTo>
                  <a:lnTo>
                    <a:pt x="11168380" y="9924796"/>
                  </a:lnTo>
                  <a:lnTo>
                    <a:pt x="11181080" y="9924796"/>
                  </a:lnTo>
                  <a:cubicBezTo>
                    <a:pt x="11181080" y="10012680"/>
                    <a:pt x="11109833" y="10083800"/>
                    <a:pt x="11021949" y="10083800"/>
                  </a:cubicBezTo>
                  <a:lnTo>
                    <a:pt x="11021949" y="10071100"/>
                  </a:lnTo>
                  <a:lnTo>
                    <a:pt x="11021949" y="10083800"/>
                  </a:lnTo>
                  <a:lnTo>
                    <a:pt x="159131" y="10083800"/>
                  </a:lnTo>
                  <a:lnTo>
                    <a:pt x="159131" y="10071100"/>
                  </a:lnTo>
                  <a:lnTo>
                    <a:pt x="159131" y="10083800"/>
                  </a:lnTo>
                  <a:cubicBezTo>
                    <a:pt x="71247" y="10083800"/>
                    <a:pt x="0" y="10012553"/>
                    <a:pt x="0" y="9924796"/>
                  </a:cubicBezTo>
                  <a:lnTo>
                    <a:pt x="0" y="159004"/>
                  </a:lnTo>
                  <a:lnTo>
                    <a:pt x="12700" y="159004"/>
                  </a:lnTo>
                  <a:lnTo>
                    <a:pt x="0" y="159004"/>
                  </a:lnTo>
                  <a:moveTo>
                    <a:pt x="25400" y="159004"/>
                  </a:moveTo>
                  <a:lnTo>
                    <a:pt x="25400" y="9924796"/>
                  </a:lnTo>
                  <a:lnTo>
                    <a:pt x="12700" y="9924796"/>
                  </a:lnTo>
                  <a:lnTo>
                    <a:pt x="25400" y="9924796"/>
                  </a:lnTo>
                  <a:cubicBezTo>
                    <a:pt x="25400" y="9998583"/>
                    <a:pt x="85217" y="10058400"/>
                    <a:pt x="159131" y="10058400"/>
                  </a:cubicBezTo>
                  <a:lnTo>
                    <a:pt x="11021949" y="10058400"/>
                  </a:lnTo>
                  <a:cubicBezTo>
                    <a:pt x="11095736" y="10058400"/>
                    <a:pt x="11155680" y="9998583"/>
                    <a:pt x="11155680" y="9924796"/>
                  </a:cubicBezTo>
                  <a:lnTo>
                    <a:pt x="11155680" y="159004"/>
                  </a:lnTo>
                  <a:cubicBezTo>
                    <a:pt x="11155680" y="85217"/>
                    <a:pt x="11095863" y="25400"/>
                    <a:pt x="11021949" y="25400"/>
                  </a:cubicBezTo>
                  <a:lnTo>
                    <a:pt x="159131" y="25400"/>
                  </a:lnTo>
                  <a:lnTo>
                    <a:pt x="159131" y="12700"/>
                  </a:lnTo>
                  <a:lnTo>
                    <a:pt x="159131" y="25400"/>
                  </a:lnTo>
                  <a:cubicBezTo>
                    <a:pt x="85217" y="25400"/>
                    <a:pt x="25400" y="85217"/>
                    <a:pt x="25400" y="159004"/>
                  </a:cubicBezTo>
                  <a:close/>
                </a:path>
              </a:pathLst>
            </a:custGeom>
            <a:solidFill>
              <a:srgbClr val="E2E8F0"/>
            </a:solidFill>
          </p:spPr>
        </p:sp>
      </p:grpSp>
      <p:grpSp>
        <p:nvGrpSpPr>
          <p:cNvPr name="Group 17" id="17"/>
          <p:cNvGrpSpPr/>
          <p:nvPr/>
        </p:nvGrpSpPr>
        <p:grpSpPr>
          <a:xfrm rot="0">
            <a:off x="950595" y="1842135"/>
            <a:ext cx="183642" cy="7562850"/>
            <a:chOff x="0" y="0"/>
            <a:chExt cx="244856" cy="10083800"/>
          </a:xfrm>
        </p:grpSpPr>
        <p:sp>
          <p:nvSpPr>
            <p:cNvPr name="Freeform 18" id="18"/>
            <p:cNvSpPr/>
            <p:nvPr/>
          </p:nvSpPr>
          <p:spPr>
            <a:xfrm flipH="false" flipV="false" rot="0">
              <a:off x="12700" y="12700"/>
              <a:ext cx="219456" cy="10058400"/>
            </a:xfrm>
            <a:custGeom>
              <a:avLst/>
              <a:gdLst/>
              <a:ahLst/>
              <a:cxnLst/>
              <a:rect r="r" b="b" t="t" l="l"/>
              <a:pathLst>
                <a:path h="10058400" w="219456">
                  <a:moveTo>
                    <a:pt x="0" y="0"/>
                  </a:moveTo>
                  <a:lnTo>
                    <a:pt x="219456" y="0"/>
                  </a:lnTo>
                  <a:lnTo>
                    <a:pt x="219456" y="10058400"/>
                  </a:lnTo>
                  <a:lnTo>
                    <a:pt x="0" y="10058400"/>
                  </a:lnTo>
                  <a:close/>
                </a:path>
              </a:pathLst>
            </a:custGeom>
            <a:solidFill>
              <a:srgbClr val="1F4E79"/>
            </a:solidFill>
          </p:spPr>
        </p:sp>
        <p:sp>
          <p:nvSpPr>
            <p:cNvPr name="Freeform 19" id="19"/>
            <p:cNvSpPr/>
            <p:nvPr/>
          </p:nvSpPr>
          <p:spPr>
            <a:xfrm flipH="false" flipV="false" rot="0">
              <a:off x="0" y="0"/>
              <a:ext cx="244856" cy="10083800"/>
            </a:xfrm>
            <a:custGeom>
              <a:avLst/>
              <a:gdLst/>
              <a:ahLst/>
              <a:cxnLst/>
              <a:rect r="r" b="b" t="t" l="l"/>
              <a:pathLst>
                <a:path h="10083800" w="244856">
                  <a:moveTo>
                    <a:pt x="12700" y="0"/>
                  </a:moveTo>
                  <a:lnTo>
                    <a:pt x="232156" y="0"/>
                  </a:lnTo>
                  <a:cubicBezTo>
                    <a:pt x="239141" y="0"/>
                    <a:pt x="244856" y="5715"/>
                    <a:pt x="244856" y="12700"/>
                  </a:cubicBezTo>
                  <a:lnTo>
                    <a:pt x="244856" y="10071100"/>
                  </a:lnTo>
                  <a:cubicBezTo>
                    <a:pt x="244856" y="10078085"/>
                    <a:pt x="239141" y="10083800"/>
                    <a:pt x="232156" y="10083800"/>
                  </a:cubicBezTo>
                  <a:lnTo>
                    <a:pt x="12700" y="10083800"/>
                  </a:lnTo>
                  <a:cubicBezTo>
                    <a:pt x="5715" y="10083800"/>
                    <a:pt x="0" y="10078085"/>
                    <a:pt x="0" y="10071100"/>
                  </a:cubicBezTo>
                  <a:lnTo>
                    <a:pt x="0" y="12700"/>
                  </a:lnTo>
                  <a:cubicBezTo>
                    <a:pt x="0" y="5715"/>
                    <a:pt x="5715" y="0"/>
                    <a:pt x="12700" y="0"/>
                  </a:cubicBezTo>
                  <a:moveTo>
                    <a:pt x="12700" y="25400"/>
                  </a:moveTo>
                  <a:lnTo>
                    <a:pt x="12700" y="12700"/>
                  </a:lnTo>
                  <a:lnTo>
                    <a:pt x="25400" y="12700"/>
                  </a:lnTo>
                  <a:lnTo>
                    <a:pt x="25400" y="10071100"/>
                  </a:lnTo>
                  <a:lnTo>
                    <a:pt x="12700" y="10071100"/>
                  </a:lnTo>
                  <a:lnTo>
                    <a:pt x="12700" y="10058400"/>
                  </a:lnTo>
                  <a:lnTo>
                    <a:pt x="232156" y="10058400"/>
                  </a:lnTo>
                  <a:lnTo>
                    <a:pt x="232156" y="10071100"/>
                  </a:lnTo>
                  <a:lnTo>
                    <a:pt x="219456" y="10071100"/>
                  </a:lnTo>
                  <a:lnTo>
                    <a:pt x="219456" y="12700"/>
                  </a:lnTo>
                  <a:lnTo>
                    <a:pt x="232156" y="12700"/>
                  </a:lnTo>
                  <a:lnTo>
                    <a:pt x="232156" y="25400"/>
                  </a:lnTo>
                  <a:lnTo>
                    <a:pt x="12700" y="25400"/>
                  </a:lnTo>
                  <a:close/>
                </a:path>
              </a:pathLst>
            </a:custGeom>
            <a:solidFill>
              <a:srgbClr val="1F4E79"/>
            </a:solidFill>
          </p:spPr>
        </p:sp>
      </p:grpSp>
      <p:grpSp>
        <p:nvGrpSpPr>
          <p:cNvPr name="Group 20" id="20"/>
          <p:cNvGrpSpPr/>
          <p:nvPr/>
        </p:nvGrpSpPr>
        <p:grpSpPr>
          <a:xfrm rot="0">
            <a:off x="1261872" y="2071116"/>
            <a:ext cx="7955280" cy="384048"/>
            <a:chOff x="0" y="0"/>
            <a:chExt cx="10607040" cy="512064"/>
          </a:xfrm>
        </p:grpSpPr>
        <p:sp>
          <p:nvSpPr>
            <p:cNvPr name="Freeform 21" id="21"/>
            <p:cNvSpPr/>
            <p:nvPr/>
          </p:nvSpPr>
          <p:spPr>
            <a:xfrm flipH="false" flipV="false" rot="0">
              <a:off x="0" y="0"/>
              <a:ext cx="10607040" cy="512064"/>
            </a:xfrm>
            <a:custGeom>
              <a:avLst/>
              <a:gdLst/>
              <a:ahLst/>
              <a:cxnLst/>
              <a:rect r="r" b="b" t="t" l="l"/>
              <a:pathLst>
                <a:path h="512064" w="10607040">
                  <a:moveTo>
                    <a:pt x="0" y="0"/>
                  </a:moveTo>
                  <a:lnTo>
                    <a:pt x="10607040" y="0"/>
                  </a:lnTo>
                  <a:lnTo>
                    <a:pt x="10607040" y="512064"/>
                  </a:lnTo>
                  <a:lnTo>
                    <a:pt x="0" y="512064"/>
                  </a:lnTo>
                  <a:close/>
                </a:path>
              </a:pathLst>
            </a:custGeom>
            <a:blipFill>
              <a:blip r:embed="rId2">
                <a:alphaModFix amt="0"/>
              </a:blip>
              <a:stretch>
                <a:fillRect l="0" t="-353618" r="0" b="-353618"/>
              </a:stretch>
            </a:blipFill>
          </p:spPr>
        </p:sp>
        <p:sp>
          <p:nvSpPr>
            <p:cNvPr name="TextBox 22" id="22"/>
            <p:cNvSpPr txBox="true"/>
            <p:nvPr/>
          </p:nvSpPr>
          <p:spPr>
            <a:xfrm>
              <a:off x="0" y="0"/>
              <a:ext cx="10607040" cy="512064"/>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Website được kiểm thử</a:t>
              </a:r>
            </a:p>
          </p:txBody>
        </p:sp>
      </p:grpSp>
      <p:grpSp>
        <p:nvGrpSpPr>
          <p:cNvPr name="Group 23" id="23"/>
          <p:cNvGrpSpPr/>
          <p:nvPr/>
        </p:nvGrpSpPr>
        <p:grpSpPr>
          <a:xfrm rot="0">
            <a:off x="1261872" y="2510028"/>
            <a:ext cx="7900416" cy="6748272"/>
            <a:chOff x="0" y="0"/>
            <a:chExt cx="10533888" cy="8997696"/>
          </a:xfrm>
        </p:grpSpPr>
        <p:sp>
          <p:nvSpPr>
            <p:cNvPr name="Freeform 24" id="24"/>
            <p:cNvSpPr/>
            <p:nvPr/>
          </p:nvSpPr>
          <p:spPr>
            <a:xfrm flipH="false" flipV="false" rot="0">
              <a:off x="0" y="0"/>
              <a:ext cx="10533888" cy="8997696"/>
            </a:xfrm>
            <a:custGeom>
              <a:avLst/>
              <a:gdLst/>
              <a:ahLst/>
              <a:cxnLst/>
              <a:rect r="r" b="b" t="t" l="l"/>
              <a:pathLst>
                <a:path h="8997696" w="10533888">
                  <a:moveTo>
                    <a:pt x="0" y="0"/>
                  </a:moveTo>
                  <a:lnTo>
                    <a:pt x="10533888" y="0"/>
                  </a:lnTo>
                  <a:lnTo>
                    <a:pt x="10533888" y="8997696"/>
                  </a:lnTo>
                  <a:lnTo>
                    <a:pt x="0" y="8997696"/>
                  </a:lnTo>
                  <a:close/>
                </a:path>
              </a:pathLst>
            </a:custGeom>
            <a:blipFill>
              <a:blip r:embed="rId2">
                <a:alphaModFix amt="0"/>
              </a:blip>
              <a:stretch>
                <a:fillRect l="-59592" t="0" r="-59592" b="0"/>
              </a:stretch>
            </a:blipFill>
          </p:spPr>
        </p:sp>
        <p:sp>
          <p:nvSpPr>
            <p:cNvPr name="TextBox 25" id="25"/>
            <p:cNvSpPr txBox="true"/>
            <p:nvPr/>
          </p:nvSpPr>
          <p:spPr>
            <a:xfrm>
              <a:off x="0" y="-9525"/>
              <a:ext cx="10533888" cy="9007221"/>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 PrestaShop Demo là website thương mại điện tử mẫu có các thành phần quan trọng như danh sách sản phẩm, giá bán, menu điều hướng, giỏ hàng và bộ chọn ngôn ngữ.</a:t>
              </a:r>
            </a:p>
            <a:p>
              <a:pPr algn="just">
                <a:lnSpc>
                  <a:spcPts val="2400"/>
                </a:lnSpc>
              </a:pPr>
            </a:p>
            <a:p>
              <a:pPr algn="just">
                <a:lnSpc>
                  <a:spcPts val="2400"/>
                </a:lnSpc>
              </a:pPr>
              <a:r>
                <a:rPr lang="en-US" sz="2000">
                  <a:solidFill>
                    <a:srgbClr val="000000"/>
                  </a:solidFill>
                  <a:latin typeface="Aptos"/>
                  <a:ea typeface="Aptos"/>
                  <a:cs typeface="Aptos"/>
                  <a:sym typeface="Aptos"/>
                </a:rPr>
                <a:t>• Đây là môi trường phù hợp để quan sát lỗi localization phát sinh trực tiếp trên giao diện người dùng.</a:t>
              </a:r>
            </a:p>
            <a:p>
              <a:pPr algn="just">
                <a:lnSpc>
                  <a:spcPts val="2400"/>
                </a:lnSpc>
              </a:pPr>
            </a:p>
            <a:p>
              <a:pPr algn="just">
                <a:lnSpc>
                  <a:spcPts val="2400"/>
                </a:lnSpc>
              </a:pPr>
              <a:r>
                <a:rPr lang="en-US" sz="2000">
                  <a:solidFill>
                    <a:srgbClr val="000000"/>
                  </a:solidFill>
                  <a:latin typeface="Aptos"/>
                  <a:ea typeface="Aptos"/>
                  <a:cs typeface="Aptos"/>
                  <a:sym typeface="Aptos"/>
                </a:rPr>
                <a:t>• Đề tài không kiểm thử backend, thanh toán thực hay cơ sở dữ liệu; phạm vi tập trung vào UI frontend trong iframe demo.</a:t>
              </a:r>
            </a:p>
          </p:txBody>
        </p:sp>
      </p:grpSp>
      <p:grpSp>
        <p:nvGrpSpPr>
          <p:cNvPr name="Group 26" id="26"/>
          <p:cNvGrpSpPr/>
          <p:nvPr/>
        </p:nvGrpSpPr>
        <p:grpSpPr>
          <a:xfrm rot="0">
            <a:off x="9591675" y="1842135"/>
            <a:ext cx="7700010" cy="7562850"/>
            <a:chOff x="0" y="0"/>
            <a:chExt cx="10266680" cy="10083800"/>
          </a:xfrm>
        </p:grpSpPr>
        <p:sp>
          <p:nvSpPr>
            <p:cNvPr name="Freeform 27" id="27"/>
            <p:cNvSpPr/>
            <p:nvPr/>
          </p:nvSpPr>
          <p:spPr>
            <a:xfrm flipH="false" flipV="false" rot="0">
              <a:off x="12700" y="12700"/>
              <a:ext cx="10241280" cy="10058400"/>
            </a:xfrm>
            <a:custGeom>
              <a:avLst/>
              <a:gdLst/>
              <a:ahLst/>
              <a:cxnLst/>
              <a:rect r="r" b="b" t="t" l="l"/>
              <a:pathLst>
                <a:path h="10058400" w="10241280">
                  <a:moveTo>
                    <a:pt x="0" y="146304"/>
                  </a:moveTo>
                  <a:cubicBezTo>
                    <a:pt x="0" y="65532"/>
                    <a:pt x="65532" y="0"/>
                    <a:pt x="146304" y="0"/>
                  </a:cubicBezTo>
                  <a:lnTo>
                    <a:pt x="10094976" y="0"/>
                  </a:lnTo>
                  <a:cubicBezTo>
                    <a:pt x="10175748" y="0"/>
                    <a:pt x="10241280" y="65532"/>
                    <a:pt x="10241280" y="146304"/>
                  </a:cubicBezTo>
                  <a:lnTo>
                    <a:pt x="10241280" y="9912096"/>
                  </a:lnTo>
                  <a:cubicBezTo>
                    <a:pt x="10241280" y="9992868"/>
                    <a:pt x="10175748" y="10058400"/>
                    <a:pt x="10094976" y="10058400"/>
                  </a:cubicBezTo>
                  <a:lnTo>
                    <a:pt x="146304" y="10058400"/>
                  </a:lnTo>
                  <a:cubicBezTo>
                    <a:pt x="65532" y="10058400"/>
                    <a:pt x="0" y="9992868"/>
                    <a:pt x="0" y="9912096"/>
                  </a:cubicBezTo>
                  <a:close/>
                </a:path>
              </a:pathLst>
            </a:custGeom>
            <a:solidFill>
              <a:srgbClr val="FFFFFF"/>
            </a:solidFill>
          </p:spPr>
        </p:sp>
        <p:sp>
          <p:nvSpPr>
            <p:cNvPr name="Freeform 28" id="28"/>
            <p:cNvSpPr/>
            <p:nvPr/>
          </p:nvSpPr>
          <p:spPr>
            <a:xfrm flipH="false" flipV="false" rot="0">
              <a:off x="0" y="0"/>
              <a:ext cx="10266680" cy="10083800"/>
            </a:xfrm>
            <a:custGeom>
              <a:avLst/>
              <a:gdLst/>
              <a:ahLst/>
              <a:cxnLst/>
              <a:rect r="r" b="b" t="t" l="l"/>
              <a:pathLst>
                <a:path h="10083800" w="10266680">
                  <a:moveTo>
                    <a:pt x="0" y="159004"/>
                  </a:moveTo>
                  <a:cubicBezTo>
                    <a:pt x="0" y="71247"/>
                    <a:pt x="71247" y="0"/>
                    <a:pt x="159004" y="0"/>
                  </a:cubicBezTo>
                  <a:lnTo>
                    <a:pt x="10107676" y="0"/>
                  </a:lnTo>
                  <a:lnTo>
                    <a:pt x="10107676" y="12700"/>
                  </a:lnTo>
                  <a:lnTo>
                    <a:pt x="10107676" y="0"/>
                  </a:lnTo>
                  <a:cubicBezTo>
                    <a:pt x="10195560" y="0"/>
                    <a:pt x="10266680" y="71247"/>
                    <a:pt x="10266680" y="159004"/>
                  </a:cubicBezTo>
                  <a:lnTo>
                    <a:pt x="10253980" y="159004"/>
                  </a:lnTo>
                  <a:lnTo>
                    <a:pt x="10266680" y="159004"/>
                  </a:lnTo>
                  <a:lnTo>
                    <a:pt x="10266680" y="9924796"/>
                  </a:lnTo>
                  <a:lnTo>
                    <a:pt x="10253980" y="9924796"/>
                  </a:lnTo>
                  <a:lnTo>
                    <a:pt x="10266680" y="9924796"/>
                  </a:lnTo>
                  <a:cubicBezTo>
                    <a:pt x="10266680" y="10012680"/>
                    <a:pt x="10195433" y="10083800"/>
                    <a:pt x="10107676" y="10083800"/>
                  </a:cubicBezTo>
                  <a:lnTo>
                    <a:pt x="10107676" y="10071100"/>
                  </a:lnTo>
                  <a:lnTo>
                    <a:pt x="10107676" y="10083800"/>
                  </a:lnTo>
                  <a:lnTo>
                    <a:pt x="159004" y="10083800"/>
                  </a:lnTo>
                  <a:lnTo>
                    <a:pt x="159004" y="10071100"/>
                  </a:lnTo>
                  <a:lnTo>
                    <a:pt x="159004" y="10083800"/>
                  </a:lnTo>
                  <a:cubicBezTo>
                    <a:pt x="71247" y="10083800"/>
                    <a:pt x="0" y="10012553"/>
                    <a:pt x="0" y="9924796"/>
                  </a:cubicBezTo>
                  <a:lnTo>
                    <a:pt x="0" y="159004"/>
                  </a:lnTo>
                  <a:lnTo>
                    <a:pt x="12700" y="159004"/>
                  </a:lnTo>
                  <a:lnTo>
                    <a:pt x="0" y="159004"/>
                  </a:lnTo>
                  <a:moveTo>
                    <a:pt x="25400" y="159004"/>
                  </a:moveTo>
                  <a:lnTo>
                    <a:pt x="25400" y="9924796"/>
                  </a:lnTo>
                  <a:lnTo>
                    <a:pt x="12700" y="9924796"/>
                  </a:lnTo>
                  <a:lnTo>
                    <a:pt x="25400" y="9924796"/>
                  </a:lnTo>
                  <a:cubicBezTo>
                    <a:pt x="25400" y="9998583"/>
                    <a:pt x="85217" y="10058400"/>
                    <a:pt x="159004" y="10058400"/>
                  </a:cubicBezTo>
                  <a:lnTo>
                    <a:pt x="10107676" y="10058400"/>
                  </a:lnTo>
                  <a:cubicBezTo>
                    <a:pt x="10181463" y="10058400"/>
                    <a:pt x="10241280" y="9998583"/>
                    <a:pt x="10241280" y="9924796"/>
                  </a:cubicBezTo>
                  <a:lnTo>
                    <a:pt x="10241280" y="159004"/>
                  </a:lnTo>
                  <a:cubicBezTo>
                    <a:pt x="10241280" y="85217"/>
                    <a:pt x="10181463" y="25400"/>
                    <a:pt x="10107676" y="25400"/>
                  </a:cubicBezTo>
                  <a:lnTo>
                    <a:pt x="159004" y="25400"/>
                  </a:lnTo>
                  <a:lnTo>
                    <a:pt x="159004" y="12700"/>
                  </a:lnTo>
                  <a:lnTo>
                    <a:pt x="159004" y="25400"/>
                  </a:lnTo>
                  <a:cubicBezTo>
                    <a:pt x="85217" y="25400"/>
                    <a:pt x="25400" y="85217"/>
                    <a:pt x="25400" y="159004"/>
                  </a:cubicBezTo>
                  <a:close/>
                </a:path>
              </a:pathLst>
            </a:custGeom>
            <a:solidFill>
              <a:srgbClr val="E2E8F0"/>
            </a:solidFill>
          </p:spPr>
        </p:sp>
      </p:grpSp>
      <p:grpSp>
        <p:nvGrpSpPr>
          <p:cNvPr name="Group 29" id="29"/>
          <p:cNvGrpSpPr/>
          <p:nvPr/>
        </p:nvGrpSpPr>
        <p:grpSpPr>
          <a:xfrm rot="0">
            <a:off x="9591675" y="1842135"/>
            <a:ext cx="183642" cy="7562850"/>
            <a:chOff x="0" y="0"/>
            <a:chExt cx="244856" cy="10083800"/>
          </a:xfrm>
        </p:grpSpPr>
        <p:sp>
          <p:nvSpPr>
            <p:cNvPr name="Freeform 30" id="30"/>
            <p:cNvSpPr/>
            <p:nvPr/>
          </p:nvSpPr>
          <p:spPr>
            <a:xfrm flipH="false" flipV="false" rot="0">
              <a:off x="12700" y="12700"/>
              <a:ext cx="219456" cy="10058400"/>
            </a:xfrm>
            <a:custGeom>
              <a:avLst/>
              <a:gdLst/>
              <a:ahLst/>
              <a:cxnLst/>
              <a:rect r="r" b="b" t="t" l="l"/>
              <a:pathLst>
                <a:path h="10058400" w="219456">
                  <a:moveTo>
                    <a:pt x="0" y="0"/>
                  </a:moveTo>
                  <a:lnTo>
                    <a:pt x="219456" y="0"/>
                  </a:lnTo>
                  <a:lnTo>
                    <a:pt x="219456" y="10058400"/>
                  </a:lnTo>
                  <a:lnTo>
                    <a:pt x="0" y="10058400"/>
                  </a:lnTo>
                  <a:close/>
                </a:path>
              </a:pathLst>
            </a:custGeom>
            <a:solidFill>
              <a:srgbClr val="10B981"/>
            </a:solidFill>
          </p:spPr>
        </p:sp>
        <p:sp>
          <p:nvSpPr>
            <p:cNvPr name="Freeform 31" id="31"/>
            <p:cNvSpPr/>
            <p:nvPr/>
          </p:nvSpPr>
          <p:spPr>
            <a:xfrm flipH="false" flipV="false" rot="0">
              <a:off x="0" y="0"/>
              <a:ext cx="244856" cy="10083800"/>
            </a:xfrm>
            <a:custGeom>
              <a:avLst/>
              <a:gdLst/>
              <a:ahLst/>
              <a:cxnLst/>
              <a:rect r="r" b="b" t="t" l="l"/>
              <a:pathLst>
                <a:path h="10083800" w="244856">
                  <a:moveTo>
                    <a:pt x="12700" y="0"/>
                  </a:moveTo>
                  <a:lnTo>
                    <a:pt x="232156" y="0"/>
                  </a:lnTo>
                  <a:cubicBezTo>
                    <a:pt x="239141" y="0"/>
                    <a:pt x="244856" y="5715"/>
                    <a:pt x="244856" y="12700"/>
                  </a:cubicBezTo>
                  <a:lnTo>
                    <a:pt x="244856" y="10071100"/>
                  </a:lnTo>
                  <a:cubicBezTo>
                    <a:pt x="244856" y="10078085"/>
                    <a:pt x="239141" y="10083800"/>
                    <a:pt x="232156" y="10083800"/>
                  </a:cubicBezTo>
                  <a:lnTo>
                    <a:pt x="12700" y="10083800"/>
                  </a:lnTo>
                  <a:cubicBezTo>
                    <a:pt x="5715" y="10083800"/>
                    <a:pt x="0" y="10078085"/>
                    <a:pt x="0" y="10071100"/>
                  </a:cubicBezTo>
                  <a:lnTo>
                    <a:pt x="0" y="12700"/>
                  </a:lnTo>
                  <a:cubicBezTo>
                    <a:pt x="0" y="5715"/>
                    <a:pt x="5715" y="0"/>
                    <a:pt x="12700" y="0"/>
                  </a:cubicBezTo>
                  <a:moveTo>
                    <a:pt x="12700" y="25400"/>
                  </a:moveTo>
                  <a:lnTo>
                    <a:pt x="12700" y="12700"/>
                  </a:lnTo>
                  <a:lnTo>
                    <a:pt x="25400" y="12700"/>
                  </a:lnTo>
                  <a:lnTo>
                    <a:pt x="25400" y="10071100"/>
                  </a:lnTo>
                  <a:lnTo>
                    <a:pt x="12700" y="10071100"/>
                  </a:lnTo>
                  <a:lnTo>
                    <a:pt x="12700" y="10058400"/>
                  </a:lnTo>
                  <a:lnTo>
                    <a:pt x="232156" y="10058400"/>
                  </a:lnTo>
                  <a:lnTo>
                    <a:pt x="232156" y="10071100"/>
                  </a:lnTo>
                  <a:lnTo>
                    <a:pt x="219456" y="10071100"/>
                  </a:lnTo>
                  <a:lnTo>
                    <a:pt x="219456" y="12700"/>
                  </a:lnTo>
                  <a:lnTo>
                    <a:pt x="232156" y="12700"/>
                  </a:lnTo>
                  <a:lnTo>
                    <a:pt x="232156" y="25400"/>
                  </a:lnTo>
                  <a:lnTo>
                    <a:pt x="12700" y="25400"/>
                  </a:lnTo>
                  <a:close/>
                </a:path>
              </a:pathLst>
            </a:custGeom>
            <a:solidFill>
              <a:srgbClr val="10B981"/>
            </a:solidFill>
          </p:spPr>
        </p:sp>
      </p:grpSp>
      <p:grpSp>
        <p:nvGrpSpPr>
          <p:cNvPr name="Group 32" id="32"/>
          <p:cNvGrpSpPr/>
          <p:nvPr/>
        </p:nvGrpSpPr>
        <p:grpSpPr>
          <a:xfrm rot="0">
            <a:off x="9902952" y="2071116"/>
            <a:ext cx="7269480" cy="450800"/>
            <a:chOff x="0" y="0"/>
            <a:chExt cx="9692640" cy="601067"/>
          </a:xfrm>
        </p:grpSpPr>
        <p:sp>
          <p:nvSpPr>
            <p:cNvPr name="Freeform 33" id="33"/>
            <p:cNvSpPr/>
            <p:nvPr/>
          </p:nvSpPr>
          <p:spPr>
            <a:xfrm flipH="false" flipV="false" rot="0">
              <a:off x="0" y="0"/>
              <a:ext cx="9692640" cy="601067"/>
            </a:xfrm>
            <a:custGeom>
              <a:avLst/>
              <a:gdLst/>
              <a:ahLst/>
              <a:cxnLst/>
              <a:rect r="r" b="b" t="t" l="l"/>
              <a:pathLst>
                <a:path h="601067" w="9692640">
                  <a:moveTo>
                    <a:pt x="0" y="0"/>
                  </a:moveTo>
                  <a:lnTo>
                    <a:pt x="9692640" y="0"/>
                  </a:lnTo>
                  <a:lnTo>
                    <a:pt x="9692640" y="601067"/>
                  </a:lnTo>
                  <a:lnTo>
                    <a:pt x="0" y="601067"/>
                  </a:lnTo>
                  <a:close/>
                </a:path>
              </a:pathLst>
            </a:custGeom>
            <a:blipFill>
              <a:blip r:embed="rId2">
                <a:alphaModFix amt="0"/>
              </a:blip>
              <a:stretch>
                <a:fillRect l="0" t="-271613" r="0" b="-256806"/>
              </a:stretch>
            </a:blipFill>
          </p:spPr>
        </p:sp>
        <p:sp>
          <p:nvSpPr>
            <p:cNvPr name="TextBox 34" id="34"/>
            <p:cNvSpPr txBox="true"/>
            <p:nvPr/>
          </p:nvSpPr>
          <p:spPr>
            <a:xfrm>
              <a:off x="0" y="0"/>
              <a:ext cx="9692640"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Mục tiêu kiểm thử</a:t>
              </a:r>
            </a:p>
          </p:txBody>
        </p:sp>
      </p:grpSp>
      <p:grpSp>
        <p:nvGrpSpPr>
          <p:cNvPr name="Group 35" id="35"/>
          <p:cNvGrpSpPr/>
          <p:nvPr/>
        </p:nvGrpSpPr>
        <p:grpSpPr>
          <a:xfrm rot="0">
            <a:off x="9834372" y="2510028"/>
            <a:ext cx="7214616" cy="6748272"/>
            <a:chOff x="0" y="0"/>
            <a:chExt cx="9619488" cy="8997696"/>
          </a:xfrm>
        </p:grpSpPr>
        <p:sp>
          <p:nvSpPr>
            <p:cNvPr name="Freeform 36" id="36"/>
            <p:cNvSpPr/>
            <p:nvPr/>
          </p:nvSpPr>
          <p:spPr>
            <a:xfrm flipH="false" flipV="false" rot="0">
              <a:off x="0" y="0"/>
              <a:ext cx="9619488" cy="8997696"/>
            </a:xfrm>
            <a:custGeom>
              <a:avLst/>
              <a:gdLst/>
              <a:ahLst/>
              <a:cxnLst/>
              <a:rect r="r" b="b" t="t" l="l"/>
              <a:pathLst>
                <a:path h="8997696" w="9619488">
                  <a:moveTo>
                    <a:pt x="0" y="0"/>
                  </a:moveTo>
                  <a:lnTo>
                    <a:pt x="9619488" y="0"/>
                  </a:lnTo>
                  <a:lnTo>
                    <a:pt x="9619488" y="8997696"/>
                  </a:lnTo>
                  <a:lnTo>
                    <a:pt x="0" y="8997696"/>
                  </a:lnTo>
                  <a:close/>
                </a:path>
              </a:pathLst>
            </a:custGeom>
            <a:blipFill>
              <a:blip r:embed="rId2">
                <a:alphaModFix amt="0"/>
              </a:blip>
              <a:stretch>
                <a:fillRect l="-70010" t="0" r="-70010" b="0"/>
              </a:stretch>
            </a:blipFill>
          </p:spPr>
        </p:sp>
        <p:sp>
          <p:nvSpPr>
            <p:cNvPr name="TextBox 37" id="37"/>
            <p:cNvSpPr txBox="true"/>
            <p:nvPr/>
          </p:nvSpPr>
          <p:spPr>
            <a:xfrm>
              <a:off x="0" y="-9525"/>
              <a:ext cx="9619488" cy="9007221"/>
            </a:xfrm>
            <a:prstGeom prst="rect">
              <a:avLst/>
            </a:prstGeom>
          </p:spPr>
          <p:txBody>
            <a:bodyPr anchor="ctr" rtlCol="false" tIns="0" lIns="0" bIns="0" rIns="0"/>
            <a:lstStyle/>
            <a:p>
              <a:pPr algn="just" marL="431801" indent="-215900" lvl="1">
                <a:lnSpc>
                  <a:spcPts val="2400"/>
                </a:lnSpc>
                <a:buFont typeface="Arial"/>
                <a:buChar char="•"/>
              </a:pPr>
              <a:r>
                <a:rPr lang="en-US" sz="2000">
                  <a:solidFill>
                    <a:srgbClr val="000000"/>
                  </a:solidFill>
                  <a:latin typeface="Aptos"/>
                  <a:ea typeface="Aptos"/>
                  <a:cs typeface="Aptos"/>
                  <a:sym typeface="Aptos"/>
                </a:rPr>
                <a:t>Xác minh tính đúng đắn và độ ổn định (L10n): Đảm bảo website hiển thị chính xác 6 module bản địa hóa cốt lõi (Tiền tệ, Ngày tháng, Dịch thuật, Bố cục RTL, Tràn văn bản, và Bảng mã ký tự) khi người dùng thay đổi ngôn ngữ.</a:t>
              </a:r>
            </a:p>
            <a:p>
              <a:pPr algn="just" marL="431801" indent="-215900" lvl="1">
                <a:lnSpc>
                  <a:spcPts val="2400"/>
                </a:lnSpc>
                <a:buFont typeface="Arial"/>
                <a:buChar char="•"/>
              </a:pPr>
              <a:r>
                <a:rPr lang="en-US" sz="2000">
                  <a:solidFill>
                    <a:srgbClr val="000000"/>
                  </a:solidFill>
                  <a:latin typeface="Aptos"/>
                  <a:ea typeface="Aptos"/>
                  <a:cs typeface="Aptos"/>
                  <a:sym typeface="Aptos"/>
                </a:rPr>
                <a:t>Đánh giá trên 4 phân vùng ngôn ngữ đại diện: Tiếng Anh (Nhóm chuẩn), Tiếng Pháp (Nhóm Châu Âu), Tiếng Việt (Nhóm ký tự mở rộng), và Tiếng Ả Rập (Nhóm đảo chiều).</a:t>
              </a:r>
            </a:p>
            <a:p>
              <a:pPr algn="just" marL="431801" indent="-215900" lvl="1">
                <a:lnSpc>
                  <a:spcPts val="2400"/>
                </a:lnSpc>
                <a:buFont typeface="Arial"/>
                <a:buChar char="•"/>
              </a:pPr>
              <a:r>
                <a:rPr lang="en-US" sz="2000">
                  <a:solidFill>
                    <a:srgbClr val="000000"/>
                  </a:solidFill>
                  <a:latin typeface="Aptos"/>
                  <a:ea typeface="Aptos"/>
                  <a:cs typeface="Aptos"/>
                  <a:sym typeface="Aptos"/>
                </a:rPr>
                <a:t>Xây dựng Automation Framework: Ứng dụng mô hình Data-Driven Testing và Strategy Pattern (bằng Java &amp; Selenium) để tự động hóa hoàn toàn các kịch bản kiểm thử, sẵn sàng cho việc kiểm thử hồi quy (Regression Test).</a:t>
              </a:r>
            </a:p>
            <a:p>
              <a:pPr algn="just">
                <a:lnSpc>
                  <a:spcPts val="2400"/>
                </a:lnSpc>
              </a:pPr>
            </a:p>
          </p:txBody>
        </p:sp>
      </p:grpSp>
      <p:sp>
        <p:nvSpPr>
          <p:cNvPr name="TextBox 38" id="38"/>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Phạm vi và đối tượng kiểm thử</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Phạm vi</a:t>
              </a:r>
            </a:p>
          </p:txBody>
        </p:sp>
      </p:grpSp>
      <p:grpSp>
        <p:nvGrpSpPr>
          <p:cNvPr name="Group 14" id="14"/>
          <p:cNvGrpSpPr/>
          <p:nvPr/>
        </p:nvGrpSpPr>
        <p:grpSpPr>
          <a:xfrm rot="0">
            <a:off x="950595" y="1910715"/>
            <a:ext cx="4133850" cy="8141497"/>
            <a:chOff x="0" y="0"/>
            <a:chExt cx="5511800" cy="10855330"/>
          </a:xfrm>
        </p:grpSpPr>
        <p:sp>
          <p:nvSpPr>
            <p:cNvPr name="Freeform 15" id="15"/>
            <p:cNvSpPr/>
            <p:nvPr/>
          </p:nvSpPr>
          <p:spPr>
            <a:xfrm flipH="false" flipV="false" rot="0">
              <a:off x="12700" y="15341"/>
              <a:ext cx="5486400" cy="10824647"/>
            </a:xfrm>
            <a:custGeom>
              <a:avLst/>
              <a:gdLst/>
              <a:ahLst/>
              <a:cxnLst/>
              <a:rect r="r" b="b" t="t" l="l"/>
              <a:pathLst>
                <a:path h="10824647" w="5486400">
                  <a:moveTo>
                    <a:pt x="0" y="177036"/>
                  </a:moveTo>
                  <a:cubicBezTo>
                    <a:pt x="0" y="79313"/>
                    <a:pt x="65532" y="0"/>
                    <a:pt x="146304" y="0"/>
                  </a:cubicBezTo>
                  <a:lnTo>
                    <a:pt x="5340096" y="0"/>
                  </a:lnTo>
                  <a:cubicBezTo>
                    <a:pt x="5420868" y="0"/>
                    <a:pt x="5486400" y="79313"/>
                    <a:pt x="5486400" y="177036"/>
                  </a:cubicBezTo>
                  <a:lnTo>
                    <a:pt x="5486400" y="10647612"/>
                  </a:lnTo>
                  <a:cubicBezTo>
                    <a:pt x="5486400" y="10745334"/>
                    <a:pt x="5420868" y="10824647"/>
                    <a:pt x="5340096" y="10824647"/>
                  </a:cubicBezTo>
                  <a:lnTo>
                    <a:pt x="146304" y="10824647"/>
                  </a:lnTo>
                  <a:cubicBezTo>
                    <a:pt x="65532" y="10824647"/>
                    <a:pt x="0" y="10745334"/>
                    <a:pt x="0" y="10647612"/>
                  </a:cubicBezTo>
                  <a:close/>
                </a:path>
              </a:pathLst>
            </a:custGeom>
            <a:solidFill>
              <a:srgbClr val="FFFFFF"/>
            </a:solidFill>
          </p:spPr>
        </p:sp>
        <p:sp>
          <p:nvSpPr>
            <p:cNvPr name="Freeform 16" id="16"/>
            <p:cNvSpPr/>
            <p:nvPr/>
          </p:nvSpPr>
          <p:spPr>
            <a:xfrm flipH="false" flipV="false" rot="0">
              <a:off x="0" y="0"/>
              <a:ext cx="5511800" cy="10855329"/>
            </a:xfrm>
            <a:custGeom>
              <a:avLst/>
              <a:gdLst/>
              <a:ahLst/>
              <a:cxnLst/>
              <a:rect r="r" b="b" t="t" l="l"/>
              <a:pathLst>
                <a:path h="10855329" w="5511800">
                  <a:moveTo>
                    <a:pt x="0" y="192377"/>
                  </a:moveTo>
                  <a:cubicBezTo>
                    <a:pt x="0" y="86217"/>
                    <a:pt x="71120" y="0"/>
                    <a:pt x="159004" y="0"/>
                  </a:cubicBezTo>
                  <a:lnTo>
                    <a:pt x="5352796" y="0"/>
                  </a:lnTo>
                  <a:lnTo>
                    <a:pt x="5352796" y="15341"/>
                  </a:lnTo>
                  <a:lnTo>
                    <a:pt x="5352796" y="0"/>
                  </a:lnTo>
                  <a:cubicBezTo>
                    <a:pt x="5440680" y="0"/>
                    <a:pt x="5511800" y="86217"/>
                    <a:pt x="5511800" y="192377"/>
                  </a:cubicBezTo>
                  <a:lnTo>
                    <a:pt x="5499100" y="192377"/>
                  </a:lnTo>
                  <a:lnTo>
                    <a:pt x="5511800" y="192377"/>
                  </a:lnTo>
                  <a:lnTo>
                    <a:pt x="5511800" y="10662953"/>
                  </a:lnTo>
                  <a:lnTo>
                    <a:pt x="5499100" y="10662953"/>
                  </a:lnTo>
                  <a:lnTo>
                    <a:pt x="5511800" y="10662953"/>
                  </a:lnTo>
                  <a:cubicBezTo>
                    <a:pt x="5511800" y="10769266"/>
                    <a:pt x="5440680" y="10855329"/>
                    <a:pt x="5352796" y="10855329"/>
                  </a:cubicBezTo>
                  <a:lnTo>
                    <a:pt x="5352796" y="10839988"/>
                  </a:lnTo>
                  <a:lnTo>
                    <a:pt x="5352796" y="10855329"/>
                  </a:lnTo>
                  <a:lnTo>
                    <a:pt x="159004" y="10855329"/>
                  </a:lnTo>
                  <a:lnTo>
                    <a:pt x="159004" y="10839988"/>
                  </a:lnTo>
                  <a:lnTo>
                    <a:pt x="159004" y="10855329"/>
                  </a:lnTo>
                  <a:cubicBezTo>
                    <a:pt x="71120" y="10855329"/>
                    <a:pt x="0" y="10769112"/>
                    <a:pt x="0" y="10662953"/>
                  </a:cubicBezTo>
                  <a:lnTo>
                    <a:pt x="0" y="192377"/>
                  </a:lnTo>
                  <a:lnTo>
                    <a:pt x="12700" y="192377"/>
                  </a:lnTo>
                  <a:lnTo>
                    <a:pt x="0" y="192377"/>
                  </a:lnTo>
                  <a:moveTo>
                    <a:pt x="25400" y="192377"/>
                  </a:moveTo>
                  <a:lnTo>
                    <a:pt x="25400" y="10662953"/>
                  </a:lnTo>
                  <a:lnTo>
                    <a:pt x="12700" y="10662953"/>
                  </a:lnTo>
                  <a:lnTo>
                    <a:pt x="25400" y="10662953"/>
                  </a:lnTo>
                  <a:cubicBezTo>
                    <a:pt x="25400" y="10752237"/>
                    <a:pt x="85217" y="10824647"/>
                    <a:pt x="159004" y="10824647"/>
                  </a:cubicBezTo>
                  <a:lnTo>
                    <a:pt x="5352796" y="10824647"/>
                  </a:lnTo>
                  <a:cubicBezTo>
                    <a:pt x="5426583" y="10824647"/>
                    <a:pt x="5486400" y="10752237"/>
                    <a:pt x="5486400" y="10662953"/>
                  </a:cubicBezTo>
                  <a:lnTo>
                    <a:pt x="5486400" y="192377"/>
                  </a:lnTo>
                  <a:cubicBezTo>
                    <a:pt x="5486400" y="103092"/>
                    <a:pt x="5426583" y="30682"/>
                    <a:pt x="5352796" y="30682"/>
                  </a:cubicBezTo>
                  <a:lnTo>
                    <a:pt x="159004" y="30682"/>
                  </a:lnTo>
                  <a:lnTo>
                    <a:pt x="159004" y="15341"/>
                  </a:lnTo>
                  <a:lnTo>
                    <a:pt x="159004" y="30682"/>
                  </a:lnTo>
                  <a:cubicBezTo>
                    <a:pt x="85217" y="30682"/>
                    <a:pt x="25400" y="103092"/>
                    <a:pt x="25400" y="192377"/>
                  </a:cubicBezTo>
                  <a:close/>
                </a:path>
              </a:pathLst>
            </a:custGeom>
            <a:solidFill>
              <a:srgbClr val="E2E8F0"/>
            </a:solidFill>
          </p:spPr>
        </p:sp>
      </p:grpSp>
      <p:grpSp>
        <p:nvGrpSpPr>
          <p:cNvPr name="Group 17" id="17"/>
          <p:cNvGrpSpPr/>
          <p:nvPr/>
        </p:nvGrpSpPr>
        <p:grpSpPr>
          <a:xfrm rot="0">
            <a:off x="912405" y="1910715"/>
            <a:ext cx="221832" cy="8141497"/>
            <a:chOff x="0" y="0"/>
            <a:chExt cx="244856" cy="8986520"/>
          </a:xfrm>
        </p:grpSpPr>
        <p:sp>
          <p:nvSpPr>
            <p:cNvPr name="Freeform 18" id="18"/>
            <p:cNvSpPr/>
            <p:nvPr/>
          </p:nvSpPr>
          <p:spPr>
            <a:xfrm flipH="false" flipV="false" rot="0">
              <a:off x="12700" y="12700"/>
              <a:ext cx="219456" cy="8961120"/>
            </a:xfrm>
            <a:custGeom>
              <a:avLst/>
              <a:gdLst/>
              <a:ahLst/>
              <a:cxnLst/>
              <a:rect r="r" b="b" t="t" l="l"/>
              <a:pathLst>
                <a:path h="8961120" w="219456">
                  <a:moveTo>
                    <a:pt x="0" y="0"/>
                  </a:moveTo>
                  <a:lnTo>
                    <a:pt x="219456" y="0"/>
                  </a:lnTo>
                  <a:lnTo>
                    <a:pt x="219456" y="8961120"/>
                  </a:lnTo>
                  <a:lnTo>
                    <a:pt x="0" y="8961120"/>
                  </a:lnTo>
                  <a:close/>
                </a:path>
              </a:pathLst>
            </a:custGeom>
            <a:solidFill>
              <a:srgbClr val="7C3AED"/>
            </a:solidFill>
          </p:spPr>
        </p:sp>
        <p:sp>
          <p:nvSpPr>
            <p:cNvPr name="Freeform 19" id="19"/>
            <p:cNvSpPr/>
            <p:nvPr/>
          </p:nvSpPr>
          <p:spPr>
            <a:xfrm flipH="false" flipV="false" rot="0">
              <a:off x="0" y="0"/>
              <a:ext cx="244856" cy="8986520"/>
            </a:xfrm>
            <a:custGeom>
              <a:avLst/>
              <a:gdLst/>
              <a:ahLst/>
              <a:cxnLst/>
              <a:rect r="r" b="b" t="t" l="l"/>
              <a:pathLst>
                <a:path h="8986520" w="244856">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7C3AED"/>
            </a:solidFill>
          </p:spPr>
        </p:sp>
      </p:grpSp>
      <p:grpSp>
        <p:nvGrpSpPr>
          <p:cNvPr name="Group 20" id="20"/>
          <p:cNvGrpSpPr/>
          <p:nvPr/>
        </p:nvGrpSpPr>
        <p:grpSpPr>
          <a:xfrm rot="0">
            <a:off x="1261872" y="2139696"/>
            <a:ext cx="3703320" cy="450800"/>
            <a:chOff x="0" y="0"/>
            <a:chExt cx="4937760" cy="601067"/>
          </a:xfrm>
        </p:grpSpPr>
        <p:sp>
          <p:nvSpPr>
            <p:cNvPr name="Freeform 21" id="21"/>
            <p:cNvSpPr/>
            <p:nvPr/>
          </p:nvSpPr>
          <p:spPr>
            <a:xfrm flipH="false" flipV="false" rot="0">
              <a:off x="0" y="0"/>
              <a:ext cx="4937760" cy="601067"/>
            </a:xfrm>
            <a:custGeom>
              <a:avLst/>
              <a:gdLst/>
              <a:ahLst/>
              <a:cxnLst/>
              <a:rect r="r" b="b" t="t" l="l"/>
              <a:pathLst>
                <a:path h="601067" w="4937760">
                  <a:moveTo>
                    <a:pt x="0" y="0"/>
                  </a:moveTo>
                  <a:lnTo>
                    <a:pt x="4937760" y="0"/>
                  </a:lnTo>
                  <a:lnTo>
                    <a:pt x="4937760" y="601067"/>
                  </a:lnTo>
                  <a:lnTo>
                    <a:pt x="0" y="601067"/>
                  </a:lnTo>
                  <a:close/>
                </a:path>
              </a:pathLst>
            </a:custGeom>
            <a:blipFill>
              <a:blip r:embed="rId2">
                <a:alphaModFix amt="0"/>
              </a:blip>
              <a:stretch>
                <a:fillRect l="0" t="-117473" r="0" b="-102665"/>
              </a:stretch>
            </a:blipFill>
          </p:spPr>
        </p:sp>
        <p:sp>
          <p:nvSpPr>
            <p:cNvPr name="TextBox 22" id="22"/>
            <p:cNvSpPr txBox="true"/>
            <p:nvPr/>
          </p:nvSpPr>
          <p:spPr>
            <a:xfrm>
              <a:off x="0" y="0"/>
              <a:ext cx="4937760"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Phạm vi ngôn ngữ </a:t>
              </a:r>
            </a:p>
          </p:txBody>
        </p:sp>
      </p:grpSp>
      <p:grpSp>
        <p:nvGrpSpPr>
          <p:cNvPr name="Group 23" id="23"/>
          <p:cNvGrpSpPr/>
          <p:nvPr/>
        </p:nvGrpSpPr>
        <p:grpSpPr>
          <a:xfrm rot="0">
            <a:off x="1316736" y="4728858"/>
            <a:ext cx="3648456" cy="4950842"/>
            <a:chOff x="0" y="0"/>
            <a:chExt cx="4864608" cy="6601123"/>
          </a:xfrm>
        </p:grpSpPr>
        <p:sp>
          <p:nvSpPr>
            <p:cNvPr name="Freeform 24" id="24"/>
            <p:cNvSpPr/>
            <p:nvPr/>
          </p:nvSpPr>
          <p:spPr>
            <a:xfrm flipH="false" flipV="false" rot="0">
              <a:off x="0" y="0"/>
              <a:ext cx="4864608" cy="6601123"/>
            </a:xfrm>
            <a:custGeom>
              <a:avLst/>
              <a:gdLst/>
              <a:ahLst/>
              <a:cxnLst/>
              <a:rect r="r" b="b" t="t" l="l"/>
              <a:pathLst>
                <a:path h="6601123" w="4864608">
                  <a:moveTo>
                    <a:pt x="0" y="0"/>
                  </a:moveTo>
                  <a:lnTo>
                    <a:pt x="4864608" y="0"/>
                  </a:lnTo>
                  <a:lnTo>
                    <a:pt x="4864608" y="6601123"/>
                  </a:lnTo>
                  <a:lnTo>
                    <a:pt x="0" y="6601123"/>
                  </a:lnTo>
                  <a:close/>
                </a:path>
              </a:pathLst>
            </a:custGeom>
            <a:blipFill>
              <a:blip r:embed="rId2">
                <a:alphaModFix amt="0"/>
              </a:blip>
              <a:stretch>
                <a:fillRect l="-158372" t="0" r="-158372" b="-19682"/>
              </a:stretch>
            </a:blipFill>
          </p:spPr>
        </p:sp>
        <p:sp>
          <p:nvSpPr>
            <p:cNvPr name="TextBox 25" id="25"/>
            <p:cNvSpPr txBox="true"/>
            <p:nvPr/>
          </p:nvSpPr>
          <p:spPr>
            <a:xfrm>
              <a:off x="0" y="-9525"/>
              <a:ext cx="4864608" cy="66106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 English (en)</a:t>
              </a:r>
            </a:p>
            <a:p>
              <a:pPr algn="just">
                <a:lnSpc>
                  <a:spcPts val="2400"/>
                </a:lnSpc>
              </a:pPr>
              <a:r>
                <a:rPr lang="en-US" sz="2000">
                  <a:solidFill>
                    <a:srgbClr val="000000"/>
                  </a:solidFill>
                  <a:latin typeface="Aptos"/>
                  <a:ea typeface="Aptos"/>
                  <a:cs typeface="Aptos"/>
                  <a:sym typeface="Aptos"/>
                </a:rPr>
                <a:t>Nhóm Chuẩn (Ký tự Latin, dấu chấm thập phân, tiền tệ Prefix).</a:t>
              </a:r>
            </a:p>
            <a:p>
              <a:pPr algn="just">
                <a:lnSpc>
                  <a:spcPts val="2400"/>
                </a:lnSpc>
              </a:pPr>
            </a:p>
            <a:p>
              <a:pPr algn="just">
                <a:lnSpc>
                  <a:spcPts val="2400"/>
                </a:lnSpc>
              </a:pPr>
              <a:r>
                <a:rPr lang="en-US" sz="2000">
                  <a:solidFill>
                    <a:srgbClr val="000000"/>
                  </a:solidFill>
                  <a:latin typeface="Aptos"/>
                  <a:ea typeface="Aptos"/>
                  <a:cs typeface="Aptos"/>
                  <a:sym typeface="Aptos"/>
                </a:rPr>
                <a:t>• Français (fr)</a:t>
              </a:r>
            </a:p>
            <a:p>
              <a:pPr algn="just">
                <a:lnSpc>
                  <a:spcPts val="2400"/>
                </a:lnSpc>
              </a:pPr>
              <a:r>
                <a:rPr lang="en-US" sz="2000">
                  <a:solidFill>
                    <a:srgbClr val="000000"/>
                  </a:solidFill>
                  <a:latin typeface="Aptos"/>
                  <a:ea typeface="Aptos"/>
                  <a:cs typeface="Aptos"/>
                  <a:sym typeface="Aptos"/>
                </a:rPr>
                <a:t>Nhóm Châu Âu (Dấu phẩy thập phân, tiền tệ Suffix).</a:t>
              </a:r>
            </a:p>
            <a:p>
              <a:pPr algn="just">
                <a:lnSpc>
                  <a:spcPts val="2400"/>
                </a:lnSpc>
              </a:pPr>
            </a:p>
            <a:p>
              <a:pPr algn="just">
                <a:lnSpc>
                  <a:spcPts val="2400"/>
                </a:lnSpc>
              </a:pPr>
              <a:r>
                <a:rPr lang="en-US" sz="2000">
                  <a:solidFill>
                    <a:srgbClr val="000000"/>
                  </a:solidFill>
                  <a:latin typeface="Aptos"/>
                  <a:ea typeface="Aptos"/>
                  <a:cs typeface="Aptos"/>
                  <a:sym typeface="Aptos"/>
                </a:rPr>
                <a:t>• Vietnamese (vi)</a:t>
              </a:r>
            </a:p>
            <a:p>
              <a:pPr algn="just">
                <a:lnSpc>
                  <a:spcPts val="2400"/>
                </a:lnSpc>
              </a:pPr>
              <a:r>
                <a:rPr lang="en-US" sz="2000">
                  <a:solidFill>
                    <a:srgbClr val="000000"/>
                  </a:solidFill>
                  <a:latin typeface="Aptos"/>
                  <a:ea typeface="Aptos"/>
                  <a:cs typeface="Aptos"/>
                  <a:sym typeface="Aptos"/>
                </a:rPr>
                <a:t>Nhóm Ký tự mở rộng (Có dấu phức tạp, dễ lỗi font, câu văn dài dễ gây tràn giao diện).</a:t>
              </a:r>
            </a:p>
            <a:p>
              <a:pPr algn="just">
                <a:lnSpc>
                  <a:spcPts val="2400"/>
                </a:lnSpc>
              </a:pPr>
            </a:p>
            <a:p>
              <a:pPr algn="just">
                <a:lnSpc>
                  <a:spcPts val="2400"/>
                </a:lnSpc>
              </a:pPr>
              <a:r>
                <a:rPr lang="en-US" sz="2000">
                  <a:solidFill>
                    <a:srgbClr val="000000"/>
                  </a:solidFill>
                  <a:latin typeface="Aptos"/>
                  <a:ea typeface="Aptos"/>
                  <a:cs typeface="Aptos"/>
                  <a:sym typeface="Aptos"/>
                </a:rPr>
                <a:t>• Arabic (ar)</a:t>
              </a:r>
            </a:p>
            <a:p>
              <a:pPr algn="just">
                <a:lnSpc>
                  <a:spcPts val="2400"/>
                </a:lnSpc>
              </a:pPr>
              <a:r>
                <a:rPr lang="en-US" sz="2000">
                  <a:solidFill>
                    <a:srgbClr val="000000"/>
                  </a:solidFill>
                  <a:latin typeface="Aptos"/>
                  <a:ea typeface="Aptos"/>
                  <a:cs typeface="Aptos"/>
                  <a:sym typeface="Aptos"/>
                </a:rPr>
                <a:t>Nhóm Đảo chiều (Đọc/viết từ Phải sang Trái - RTL).</a:t>
              </a:r>
            </a:p>
          </p:txBody>
        </p:sp>
      </p:grpSp>
      <p:graphicFrame>
        <p:nvGraphicFramePr>
          <p:cNvPr name="Table 26" id="26"/>
          <p:cNvGraphicFramePr>
            <a:graphicFrameLocks noGrp="true"/>
          </p:cNvGraphicFramePr>
          <p:nvPr/>
        </p:nvGraphicFramePr>
        <p:xfrm>
          <a:off x="5602129" y="3913519"/>
          <a:ext cx="11506200" cy="5217143"/>
        </p:xfrm>
        <a:graphic>
          <a:graphicData uri="http://schemas.openxmlformats.org/drawingml/2006/table">
            <a:tbl>
              <a:tblPr/>
              <a:tblGrid>
                <a:gridCol w="2487214"/>
                <a:gridCol w="9018986"/>
              </a:tblGrid>
              <a:tr h="681714">
                <a:tc>
                  <a:txBody>
                    <a:bodyPr anchor="t" rtlCol="false"/>
                    <a:lstStyle/>
                    <a:p>
                      <a:pPr algn="ctr">
                        <a:lnSpc>
                          <a:spcPts val="2400"/>
                        </a:lnSpc>
                        <a:defRPr/>
                      </a:pPr>
                      <a:r>
                        <a:rPr lang="en-US" sz="2000">
                          <a:solidFill>
                            <a:srgbClr val="000000"/>
                          </a:solidFill>
                          <a:latin typeface="Aptos"/>
                          <a:ea typeface="Aptos"/>
                          <a:cs typeface="Aptos"/>
                          <a:sym typeface="Aptos"/>
                        </a:rPr>
                        <a:t>Module</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Mục tiêu kiểm tra</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92504">
                <a:tc>
                  <a:txBody>
                    <a:bodyPr anchor="t" rtlCol="false"/>
                    <a:lstStyle/>
                    <a:p>
                      <a:pPr algn="ctr">
                        <a:lnSpc>
                          <a:spcPts val="2400"/>
                        </a:lnSpc>
                        <a:defRPr/>
                      </a:pPr>
                      <a:r>
                        <a:rPr lang="en-US" sz="2000">
                          <a:solidFill>
                            <a:srgbClr val="000000"/>
                          </a:solidFill>
                          <a:latin typeface="Aptos"/>
                          <a:ea typeface="Aptos"/>
                          <a:cs typeface="Aptos"/>
                          <a:sym typeface="Aptos"/>
                        </a:rPr>
                        <a:t>Currency Format</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Xác minh đúng ký hiệu ($, €, ₫, </a:t>
                      </a:r>
                      <a:r>
                        <a:rPr lang="ar-EG" sz="2000">
                          <a:solidFill>
                            <a:srgbClr val="000000"/>
                          </a:solidFill>
                          <a:latin typeface="Aptos"/>
                          <a:ea typeface="Aptos"/>
                          <a:cs typeface="Aptos"/>
                          <a:sym typeface="Aptos"/>
                          <a:rtl val="true"/>
                        </a:rPr>
                        <a:t>ر.س</a:t>
                      </a:r>
                      <a:r>
                        <a:rPr lang="en-US" sz="2000">
                          <a:solidFill>
                            <a:srgbClr val="000000"/>
                          </a:solidFill>
                          <a:latin typeface="Aptos"/>
                          <a:ea typeface="Aptos"/>
                          <a:cs typeface="Aptos"/>
                          <a:sym typeface="Aptos"/>
                        </a:rPr>
                        <a:t>), vị trí (Prefix/Suffix) và dấu thập phân/hàng nghìn.</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48585">
                <a:tc>
                  <a:txBody>
                    <a:bodyPr anchor="t" rtlCol="false"/>
                    <a:lstStyle/>
                    <a:p>
                      <a:pPr algn="ctr">
                        <a:lnSpc>
                          <a:spcPts val="2400"/>
                        </a:lnSpc>
                        <a:defRPr/>
                      </a:pPr>
                      <a:r>
                        <a:rPr lang="en-US" sz="2000">
                          <a:solidFill>
                            <a:srgbClr val="000000"/>
                          </a:solidFill>
                          <a:latin typeface="Aptos"/>
                          <a:ea typeface="Aptos"/>
                          <a:cs typeface="Aptos"/>
                          <a:sym typeface="Aptos"/>
                        </a:rPr>
                        <a:t>Untranslated Text</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Phát hiện các từ khóa tiếng Anh bị "hardcode" chưa được dịch.</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48585">
                <a:tc>
                  <a:txBody>
                    <a:bodyPr anchor="t" rtlCol="false"/>
                    <a:lstStyle/>
                    <a:p>
                      <a:pPr algn="ctr">
                        <a:lnSpc>
                          <a:spcPts val="2400"/>
                        </a:lnSpc>
                        <a:defRPr/>
                      </a:pPr>
                      <a:r>
                        <a:rPr lang="en-US" sz="2000">
                          <a:solidFill>
                            <a:srgbClr val="000000"/>
                          </a:solidFill>
                          <a:latin typeface="Aptos"/>
                          <a:ea typeface="Aptos"/>
                          <a:cs typeface="Aptos"/>
                          <a:sym typeface="Aptos"/>
                        </a:rPr>
                        <a:t>Date Format</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Kiểm tra định dạng ngày (MM/dd/yyyy và dd/MM/yyyy).</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48585">
                <a:tc>
                  <a:txBody>
                    <a:bodyPr anchor="t" rtlCol="false"/>
                    <a:lstStyle/>
                    <a:p>
                      <a:pPr algn="ctr">
                        <a:lnSpc>
                          <a:spcPts val="2400"/>
                        </a:lnSpc>
                        <a:defRPr/>
                      </a:pPr>
                      <a:r>
                        <a:rPr lang="en-US" sz="2000">
                          <a:solidFill>
                            <a:srgbClr val="000000"/>
                          </a:solidFill>
                          <a:latin typeface="Aptos"/>
                          <a:ea typeface="Aptos"/>
                          <a:cs typeface="Aptos"/>
                          <a:sym typeface="Aptos"/>
                        </a:rPr>
                        <a:t>Layout Direction</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Đảm bảo giao diện lật ngược sang phải khi dùng tiếng Ả Rập.</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48585">
                <a:tc>
                  <a:txBody>
                    <a:bodyPr anchor="t" rtlCol="false"/>
                    <a:lstStyle/>
                    <a:p>
                      <a:pPr algn="ctr">
                        <a:lnSpc>
                          <a:spcPts val="2400"/>
                        </a:lnSpc>
                        <a:defRPr/>
                      </a:pPr>
                      <a:r>
                        <a:rPr lang="en-US" sz="2000">
                          <a:solidFill>
                            <a:srgbClr val="000000"/>
                          </a:solidFill>
                          <a:latin typeface="Aptos"/>
                          <a:ea typeface="Aptos"/>
                          <a:cs typeface="Aptos"/>
                          <a:sym typeface="Aptos"/>
                        </a:rPr>
                        <a:t>Text Overflow</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Kiểm tra độ co giãn khung chứa UI khi bản dịch dài hơn bản gốc tiếng Anh.</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748585">
                <a:tc>
                  <a:txBody>
                    <a:bodyPr anchor="t" rtlCol="false"/>
                    <a:lstStyle/>
                    <a:p>
                      <a:pPr algn="ctr">
                        <a:lnSpc>
                          <a:spcPts val="2400"/>
                        </a:lnSpc>
                        <a:defRPr/>
                      </a:pPr>
                      <a:r>
                        <a:rPr lang="en-US" sz="2000">
                          <a:solidFill>
                            <a:srgbClr val="000000"/>
                          </a:solidFill>
                          <a:latin typeface="Aptos"/>
                          <a:ea typeface="Aptos"/>
                          <a:cs typeface="Aptos"/>
                          <a:sym typeface="Aptos"/>
                        </a:rPr>
                        <a:t>Character Encoding</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00000"/>
                          </a:solidFill>
                          <a:latin typeface="Aptos"/>
                          <a:ea typeface="Aptos"/>
                          <a:cs typeface="Aptos"/>
                          <a:sym typeface="Aptos"/>
                        </a:rPr>
                        <a:t>Đảm bảo font chữ hiển thị rõ nét, không lỗi ký tự rác đối với tiếng Việt và Ả Rập.</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bl>
          </a:graphicData>
        </a:graphic>
      </p:graphicFrame>
      <p:sp>
        <p:nvSpPr>
          <p:cNvPr name="TextBox 27" id="27"/>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3</a:t>
            </a:r>
          </a:p>
        </p:txBody>
      </p:sp>
      <p:grpSp>
        <p:nvGrpSpPr>
          <p:cNvPr name="Group 28" id="28"/>
          <p:cNvGrpSpPr/>
          <p:nvPr/>
        </p:nvGrpSpPr>
        <p:grpSpPr>
          <a:xfrm rot="0">
            <a:off x="1261872" y="2600148"/>
            <a:ext cx="3648456" cy="1902842"/>
            <a:chOff x="0" y="0"/>
            <a:chExt cx="4864608" cy="2537123"/>
          </a:xfrm>
        </p:grpSpPr>
        <p:sp>
          <p:nvSpPr>
            <p:cNvPr name="Freeform 29" id="29"/>
            <p:cNvSpPr/>
            <p:nvPr/>
          </p:nvSpPr>
          <p:spPr>
            <a:xfrm flipH="false" flipV="false" rot="0">
              <a:off x="0" y="0"/>
              <a:ext cx="4864608" cy="2537123"/>
            </a:xfrm>
            <a:custGeom>
              <a:avLst/>
              <a:gdLst/>
              <a:ahLst/>
              <a:cxnLst/>
              <a:rect r="r" b="b" t="t" l="l"/>
              <a:pathLst>
                <a:path h="2537123" w="4864608">
                  <a:moveTo>
                    <a:pt x="0" y="0"/>
                  </a:moveTo>
                  <a:lnTo>
                    <a:pt x="4864608" y="0"/>
                  </a:lnTo>
                  <a:lnTo>
                    <a:pt x="4864608" y="2537123"/>
                  </a:lnTo>
                  <a:lnTo>
                    <a:pt x="0" y="2537123"/>
                  </a:lnTo>
                  <a:close/>
                </a:path>
              </a:pathLst>
            </a:custGeom>
            <a:blipFill>
              <a:blip r:embed="rId2">
                <a:alphaModFix amt="0"/>
              </a:blip>
              <a:stretch>
                <a:fillRect l="-158372" t="0" r="-158372" b="-211392"/>
              </a:stretch>
            </a:blipFill>
          </p:spPr>
        </p:sp>
        <p:sp>
          <p:nvSpPr>
            <p:cNvPr name="TextBox 30" id="30"/>
            <p:cNvSpPr txBox="true"/>
            <p:nvPr/>
          </p:nvSpPr>
          <p:spPr>
            <a:xfrm>
              <a:off x="0" y="-9525"/>
              <a:ext cx="4864608" cy="25466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Thay vì kiểm thử toàn bộ &gt;60 ngôn ngữ, dự án áp dụng kỹ thuật Phân vùng tương đương (EP) để thu hẹp phạm vi xuống 4 nhóm mang đặc tính kỹ thuật định dạng khác biệt:</a:t>
              </a:r>
            </a:p>
          </p:txBody>
        </p:sp>
      </p:grpSp>
      <p:grpSp>
        <p:nvGrpSpPr>
          <p:cNvPr name="Group 31" id="31"/>
          <p:cNvGrpSpPr/>
          <p:nvPr/>
        </p:nvGrpSpPr>
        <p:grpSpPr>
          <a:xfrm rot="0">
            <a:off x="5760540" y="2139696"/>
            <a:ext cx="3703320" cy="450800"/>
            <a:chOff x="0" y="0"/>
            <a:chExt cx="4937760" cy="601067"/>
          </a:xfrm>
        </p:grpSpPr>
        <p:sp>
          <p:nvSpPr>
            <p:cNvPr name="Freeform 32" id="32"/>
            <p:cNvSpPr/>
            <p:nvPr/>
          </p:nvSpPr>
          <p:spPr>
            <a:xfrm flipH="false" flipV="false" rot="0">
              <a:off x="0" y="0"/>
              <a:ext cx="4937760" cy="601067"/>
            </a:xfrm>
            <a:custGeom>
              <a:avLst/>
              <a:gdLst/>
              <a:ahLst/>
              <a:cxnLst/>
              <a:rect r="r" b="b" t="t" l="l"/>
              <a:pathLst>
                <a:path h="601067" w="4937760">
                  <a:moveTo>
                    <a:pt x="0" y="0"/>
                  </a:moveTo>
                  <a:lnTo>
                    <a:pt x="4937760" y="0"/>
                  </a:lnTo>
                  <a:lnTo>
                    <a:pt x="4937760" y="601067"/>
                  </a:lnTo>
                  <a:lnTo>
                    <a:pt x="0" y="601067"/>
                  </a:lnTo>
                  <a:close/>
                </a:path>
              </a:pathLst>
            </a:custGeom>
            <a:blipFill>
              <a:blip r:embed="rId2">
                <a:alphaModFix amt="0"/>
              </a:blip>
              <a:stretch>
                <a:fillRect l="0" t="-117473" r="0" b="-102665"/>
              </a:stretch>
            </a:blipFill>
          </p:spPr>
        </p:sp>
        <p:sp>
          <p:nvSpPr>
            <p:cNvPr name="TextBox 33" id="33"/>
            <p:cNvSpPr txBox="true"/>
            <p:nvPr/>
          </p:nvSpPr>
          <p:spPr>
            <a:xfrm>
              <a:off x="0" y="0"/>
              <a:ext cx="4937760"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Đối tượng</a:t>
              </a:r>
              <a:r>
                <a:rPr lang="en-US" sz="2400" b="true">
                  <a:solidFill>
                    <a:srgbClr val="0F172A"/>
                  </a:solidFill>
                  <a:latin typeface="Aptos Bold"/>
                  <a:ea typeface="Aptos Bold"/>
                  <a:cs typeface="Aptos Bold"/>
                  <a:sym typeface="Aptos Bold"/>
                </a:rPr>
                <a:t> kiểm thử </a:t>
              </a:r>
            </a:p>
          </p:txBody>
        </p:sp>
      </p:grpSp>
      <p:grpSp>
        <p:nvGrpSpPr>
          <p:cNvPr name="Group 34" id="34"/>
          <p:cNvGrpSpPr/>
          <p:nvPr/>
        </p:nvGrpSpPr>
        <p:grpSpPr>
          <a:xfrm rot="0">
            <a:off x="5760540" y="2733371"/>
            <a:ext cx="10013553" cy="818198"/>
            <a:chOff x="0" y="0"/>
            <a:chExt cx="13351404" cy="1090930"/>
          </a:xfrm>
        </p:grpSpPr>
        <p:sp>
          <p:nvSpPr>
            <p:cNvPr name="Freeform 35" id="35"/>
            <p:cNvSpPr/>
            <p:nvPr/>
          </p:nvSpPr>
          <p:spPr>
            <a:xfrm flipH="false" flipV="false" rot="0">
              <a:off x="0" y="0"/>
              <a:ext cx="13351404" cy="1090930"/>
            </a:xfrm>
            <a:custGeom>
              <a:avLst/>
              <a:gdLst/>
              <a:ahLst/>
              <a:cxnLst/>
              <a:rect r="r" b="b" t="t" l="l"/>
              <a:pathLst>
                <a:path h="1090930" w="13351404">
                  <a:moveTo>
                    <a:pt x="0" y="0"/>
                  </a:moveTo>
                  <a:lnTo>
                    <a:pt x="13351404" y="0"/>
                  </a:lnTo>
                  <a:lnTo>
                    <a:pt x="13351404" y="1090930"/>
                  </a:lnTo>
                  <a:lnTo>
                    <a:pt x="0" y="1090930"/>
                  </a:lnTo>
                  <a:close/>
                </a:path>
              </a:pathLst>
            </a:custGeom>
            <a:blipFill>
              <a:blip r:embed="rId2">
                <a:alphaModFix amt="0"/>
              </a:blip>
              <a:stretch>
                <a:fillRect l="-57703" t="0" r="5861" b="-624190"/>
              </a:stretch>
            </a:blipFill>
          </p:spPr>
        </p:sp>
        <p:sp>
          <p:nvSpPr>
            <p:cNvPr name="TextBox 36" id="36"/>
            <p:cNvSpPr txBox="true"/>
            <p:nvPr/>
          </p:nvSpPr>
          <p:spPr>
            <a:xfrm>
              <a:off x="0" y="-9525"/>
              <a:ext cx="13351404" cy="1100455"/>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Dự án tập trung xác minh tính toàn vẹn của giao diện (Frontend UI) trên trang Demo thông qua 6 chức năng bản địa hóa: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Phương pháp kiểm thử được áp dụng</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Phương pháp</a:t>
              </a:r>
            </a:p>
          </p:txBody>
        </p:sp>
      </p:grpSp>
      <p:grpSp>
        <p:nvGrpSpPr>
          <p:cNvPr name="Group 14" id="14"/>
          <p:cNvGrpSpPr/>
          <p:nvPr/>
        </p:nvGrpSpPr>
        <p:grpSpPr>
          <a:xfrm rot="0">
            <a:off x="1019175" y="1979295"/>
            <a:ext cx="4326722" cy="7695057"/>
            <a:chOff x="0" y="0"/>
            <a:chExt cx="5768962" cy="10260076"/>
          </a:xfrm>
        </p:grpSpPr>
        <p:sp>
          <p:nvSpPr>
            <p:cNvPr name="Freeform 15" id="15"/>
            <p:cNvSpPr/>
            <p:nvPr/>
          </p:nvSpPr>
          <p:spPr>
            <a:xfrm flipH="false" flipV="false" rot="0">
              <a:off x="6662" y="14500"/>
              <a:ext cx="5755639" cy="10231077"/>
            </a:xfrm>
            <a:custGeom>
              <a:avLst/>
              <a:gdLst/>
              <a:ahLst/>
              <a:cxnLst/>
              <a:rect r="r" b="b" t="t" l="l"/>
              <a:pathLst>
                <a:path h="10231077" w="5755639">
                  <a:moveTo>
                    <a:pt x="0" y="167038"/>
                  </a:moveTo>
                  <a:cubicBezTo>
                    <a:pt x="0" y="74819"/>
                    <a:pt x="34374" y="0"/>
                    <a:pt x="76808" y="0"/>
                  </a:cubicBezTo>
                  <a:lnTo>
                    <a:pt x="5678830" y="0"/>
                  </a:lnTo>
                  <a:cubicBezTo>
                    <a:pt x="5721265" y="0"/>
                    <a:pt x="5755639" y="74819"/>
                    <a:pt x="5755639" y="167038"/>
                  </a:cubicBezTo>
                  <a:lnTo>
                    <a:pt x="5755639" y="10064038"/>
                  </a:lnTo>
                  <a:cubicBezTo>
                    <a:pt x="5755639" y="10156257"/>
                    <a:pt x="5721265" y="10231077"/>
                    <a:pt x="5678830" y="10231077"/>
                  </a:cubicBezTo>
                  <a:lnTo>
                    <a:pt x="76808" y="10231077"/>
                  </a:lnTo>
                  <a:cubicBezTo>
                    <a:pt x="34374" y="10231076"/>
                    <a:pt x="0" y="10156257"/>
                    <a:pt x="0" y="10064038"/>
                  </a:cubicBezTo>
                  <a:close/>
                </a:path>
              </a:pathLst>
            </a:custGeom>
            <a:solidFill>
              <a:srgbClr val="FFFFFF"/>
            </a:solidFill>
          </p:spPr>
        </p:sp>
        <p:sp>
          <p:nvSpPr>
            <p:cNvPr name="Freeform 16" id="16"/>
            <p:cNvSpPr/>
            <p:nvPr/>
          </p:nvSpPr>
          <p:spPr>
            <a:xfrm flipH="false" flipV="false" rot="0">
              <a:off x="0" y="0"/>
              <a:ext cx="5768962" cy="10260077"/>
            </a:xfrm>
            <a:custGeom>
              <a:avLst/>
              <a:gdLst/>
              <a:ahLst/>
              <a:cxnLst/>
              <a:rect r="r" b="b" t="t" l="l"/>
              <a:pathLst>
                <a:path h="10260077" w="5768962">
                  <a:moveTo>
                    <a:pt x="0" y="181538"/>
                  </a:moveTo>
                  <a:cubicBezTo>
                    <a:pt x="0" y="81344"/>
                    <a:pt x="37372" y="0"/>
                    <a:pt x="83470" y="0"/>
                  </a:cubicBezTo>
                  <a:lnTo>
                    <a:pt x="5685492" y="0"/>
                  </a:lnTo>
                  <a:lnTo>
                    <a:pt x="5685492" y="14500"/>
                  </a:lnTo>
                  <a:lnTo>
                    <a:pt x="5685492" y="0"/>
                  </a:lnTo>
                  <a:cubicBezTo>
                    <a:pt x="5731591" y="0"/>
                    <a:pt x="5768962" y="81344"/>
                    <a:pt x="5768962" y="181538"/>
                  </a:cubicBezTo>
                  <a:lnTo>
                    <a:pt x="5762301" y="181538"/>
                  </a:lnTo>
                  <a:lnTo>
                    <a:pt x="5768962" y="181538"/>
                  </a:lnTo>
                  <a:lnTo>
                    <a:pt x="5768962" y="10078538"/>
                  </a:lnTo>
                  <a:lnTo>
                    <a:pt x="5762301" y="10078538"/>
                  </a:lnTo>
                  <a:lnTo>
                    <a:pt x="5768962" y="10078538"/>
                  </a:lnTo>
                  <a:cubicBezTo>
                    <a:pt x="5768962" y="10178877"/>
                    <a:pt x="5731591" y="10260077"/>
                    <a:pt x="5685492" y="10260077"/>
                  </a:cubicBezTo>
                  <a:lnTo>
                    <a:pt x="5685492" y="10245577"/>
                  </a:lnTo>
                  <a:lnTo>
                    <a:pt x="5685492" y="10260077"/>
                  </a:lnTo>
                  <a:lnTo>
                    <a:pt x="83470" y="10260077"/>
                  </a:lnTo>
                  <a:lnTo>
                    <a:pt x="83470" y="10245577"/>
                  </a:lnTo>
                  <a:lnTo>
                    <a:pt x="83470" y="10260077"/>
                  </a:lnTo>
                  <a:cubicBezTo>
                    <a:pt x="37372" y="10260075"/>
                    <a:pt x="0" y="10178732"/>
                    <a:pt x="0" y="10078538"/>
                  </a:cubicBezTo>
                  <a:lnTo>
                    <a:pt x="0" y="181538"/>
                  </a:lnTo>
                  <a:lnTo>
                    <a:pt x="6662" y="181538"/>
                  </a:lnTo>
                  <a:lnTo>
                    <a:pt x="0" y="181538"/>
                  </a:lnTo>
                  <a:moveTo>
                    <a:pt x="13323" y="181538"/>
                  </a:moveTo>
                  <a:lnTo>
                    <a:pt x="13323" y="10078538"/>
                  </a:lnTo>
                  <a:lnTo>
                    <a:pt x="6662" y="10078538"/>
                  </a:lnTo>
                  <a:lnTo>
                    <a:pt x="13323" y="10078538"/>
                  </a:lnTo>
                  <a:cubicBezTo>
                    <a:pt x="13323" y="10162783"/>
                    <a:pt x="44699" y="10231077"/>
                    <a:pt x="83470" y="10231077"/>
                  </a:cubicBezTo>
                  <a:lnTo>
                    <a:pt x="5685492" y="10231077"/>
                  </a:lnTo>
                  <a:cubicBezTo>
                    <a:pt x="5724263" y="10231077"/>
                    <a:pt x="5755639" y="10162783"/>
                    <a:pt x="5755639" y="10078538"/>
                  </a:cubicBezTo>
                  <a:lnTo>
                    <a:pt x="5755639" y="181538"/>
                  </a:lnTo>
                  <a:cubicBezTo>
                    <a:pt x="5755639" y="97294"/>
                    <a:pt x="5724263" y="29000"/>
                    <a:pt x="5685492" y="29000"/>
                  </a:cubicBezTo>
                  <a:lnTo>
                    <a:pt x="83470" y="29000"/>
                  </a:lnTo>
                  <a:lnTo>
                    <a:pt x="83470" y="14500"/>
                  </a:lnTo>
                  <a:lnTo>
                    <a:pt x="83470" y="29000"/>
                  </a:lnTo>
                  <a:cubicBezTo>
                    <a:pt x="44699" y="29000"/>
                    <a:pt x="13323" y="97294"/>
                    <a:pt x="13323" y="181538"/>
                  </a:cubicBezTo>
                  <a:close/>
                </a:path>
              </a:pathLst>
            </a:custGeom>
            <a:solidFill>
              <a:srgbClr val="E2E8F0"/>
            </a:solidFill>
          </p:spPr>
        </p:sp>
      </p:grpSp>
      <p:grpSp>
        <p:nvGrpSpPr>
          <p:cNvPr name="Group 17" id="17"/>
          <p:cNvGrpSpPr/>
          <p:nvPr/>
        </p:nvGrpSpPr>
        <p:grpSpPr>
          <a:xfrm rot="0">
            <a:off x="993150" y="1979295"/>
            <a:ext cx="209667" cy="7695057"/>
            <a:chOff x="0" y="0"/>
            <a:chExt cx="244856" cy="8986520"/>
          </a:xfrm>
        </p:grpSpPr>
        <p:sp>
          <p:nvSpPr>
            <p:cNvPr name="Freeform 18" id="18"/>
            <p:cNvSpPr/>
            <p:nvPr/>
          </p:nvSpPr>
          <p:spPr>
            <a:xfrm flipH="false" flipV="false" rot="0">
              <a:off x="12700" y="12700"/>
              <a:ext cx="219456" cy="8961120"/>
            </a:xfrm>
            <a:custGeom>
              <a:avLst/>
              <a:gdLst/>
              <a:ahLst/>
              <a:cxnLst/>
              <a:rect r="r" b="b" t="t" l="l"/>
              <a:pathLst>
                <a:path h="8961120" w="219456">
                  <a:moveTo>
                    <a:pt x="0" y="0"/>
                  </a:moveTo>
                  <a:lnTo>
                    <a:pt x="219456" y="0"/>
                  </a:lnTo>
                  <a:lnTo>
                    <a:pt x="219456" y="8961120"/>
                  </a:lnTo>
                  <a:lnTo>
                    <a:pt x="0" y="8961120"/>
                  </a:lnTo>
                  <a:close/>
                </a:path>
              </a:pathLst>
            </a:custGeom>
            <a:solidFill>
              <a:srgbClr val="2563EB"/>
            </a:solidFill>
          </p:spPr>
        </p:sp>
        <p:sp>
          <p:nvSpPr>
            <p:cNvPr name="Freeform 19" id="19"/>
            <p:cNvSpPr/>
            <p:nvPr/>
          </p:nvSpPr>
          <p:spPr>
            <a:xfrm flipH="false" flipV="false" rot="0">
              <a:off x="0" y="0"/>
              <a:ext cx="244856" cy="8986520"/>
            </a:xfrm>
            <a:custGeom>
              <a:avLst/>
              <a:gdLst/>
              <a:ahLst/>
              <a:cxnLst/>
              <a:rect r="r" b="b" t="t" l="l"/>
              <a:pathLst>
                <a:path h="8986520" w="244856">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2563EB"/>
            </a:solidFill>
          </p:spPr>
        </p:sp>
      </p:grpSp>
      <p:grpSp>
        <p:nvGrpSpPr>
          <p:cNvPr name="Group 20" id="20"/>
          <p:cNvGrpSpPr/>
          <p:nvPr/>
        </p:nvGrpSpPr>
        <p:grpSpPr>
          <a:xfrm rot="0">
            <a:off x="1330452" y="2208276"/>
            <a:ext cx="2623172" cy="450800"/>
            <a:chOff x="0" y="0"/>
            <a:chExt cx="3497563" cy="601067"/>
          </a:xfrm>
        </p:grpSpPr>
        <p:sp>
          <p:nvSpPr>
            <p:cNvPr name="Freeform 21" id="21"/>
            <p:cNvSpPr/>
            <p:nvPr/>
          </p:nvSpPr>
          <p:spPr>
            <a:xfrm flipH="false" flipV="false" rot="0">
              <a:off x="0" y="0"/>
              <a:ext cx="3497563" cy="601067"/>
            </a:xfrm>
            <a:custGeom>
              <a:avLst/>
              <a:gdLst/>
              <a:ahLst/>
              <a:cxnLst/>
              <a:rect r="r" b="b" t="t" l="l"/>
              <a:pathLst>
                <a:path h="601067" w="3497563">
                  <a:moveTo>
                    <a:pt x="0" y="0"/>
                  </a:moveTo>
                  <a:lnTo>
                    <a:pt x="3497563" y="0"/>
                  </a:lnTo>
                  <a:lnTo>
                    <a:pt x="3497563" y="601067"/>
                  </a:lnTo>
                  <a:lnTo>
                    <a:pt x="0" y="601067"/>
                  </a:lnTo>
                  <a:close/>
                </a:path>
              </a:pathLst>
            </a:custGeom>
            <a:blipFill>
              <a:blip r:embed="rId2">
                <a:alphaModFix amt="0"/>
              </a:blip>
              <a:stretch>
                <a:fillRect l="0" t="-295327" r="-198040" b="-280520"/>
              </a:stretch>
            </a:blipFill>
          </p:spPr>
        </p:sp>
        <p:sp>
          <p:nvSpPr>
            <p:cNvPr name="TextBox 22" id="22"/>
            <p:cNvSpPr txBox="true"/>
            <p:nvPr/>
          </p:nvSpPr>
          <p:spPr>
            <a:xfrm>
              <a:off x="0" y="0"/>
              <a:ext cx="3497563"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Kiể</a:t>
              </a:r>
              <a:r>
                <a:rPr lang="en-US" sz="2400" b="true">
                  <a:solidFill>
                    <a:srgbClr val="0F172A"/>
                  </a:solidFill>
                  <a:latin typeface="Aptos Bold"/>
                  <a:ea typeface="Aptos Bold"/>
                  <a:cs typeface="Aptos Bold"/>
                  <a:sym typeface="Aptos Bold"/>
                </a:rPr>
                <a:t>m thử Hộp đen</a:t>
              </a:r>
            </a:p>
          </p:txBody>
        </p:sp>
      </p:grpSp>
      <p:grpSp>
        <p:nvGrpSpPr>
          <p:cNvPr name="Group 23" id="23"/>
          <p:cNvGrpSpPr/>
          <p:nvPr/>
        </p:nvGrpSpPr>
        <p:grpSpPr>
          <a:xfrm rot="0">
            <a:off x="1330452" y="3563951"/>
            <a:ext cx="3519858" cy="5925312"/>
            <a:chOff x="0" y="0"/>
            <a:chExt cx="4693144" cy="7900416"/>
          </a:xfrm>
        </p:grpSpPr>
        <p:sp>
          <p:nvSpPr>
            <p:cNvPr name="Freeform 24" id="24"/>
            <p:cNvSpPr/>
            <p:nvPr/>
          </p:nvSpPr>
          <p:spPr>
            <a:xfrm flipH="false" flipV="false" rot="0">
              <a:off x="0" y="0"/>
              <a:ext cx="4693144" cy="7900416"/>
            </a:xfrm>
            <a:custGeom>
              <a:avLst/>
              <a:gdLst/>
              <a:ahLst/>
              <a:cxnLst/>
              <a:rect r="r" b="b" t="t" l="l"/>
              <a:pathLst>
                <a:path h="7900416" w="4693144">
                  <a:moveTo>
                    <a:pt x="0" y="0"/>
                  </a:moveTo>
                  <a:lnTo>
                    <a:pt x="4693144" y="0"/>
                  </a:lnTo>
                  <a:lnTo>
                    <a:pt x="4693144" y="7900416"/>
                  </a:lnTo>
                  <a:lnTo>
                    <a:pt x="0" y="7900416"/>
                  </a:lnTo>
                  <a:close/>
                </a:path>
              </a:pathLst>
            </a:custGeom>
            <a:blipFill>
              <a:blip r:embed="rId2">
                <a:alphaModFix amt="0"/>
              </a:blip>
              <a:stretch>
                <a:fillRect l="-105707" t="0" r="-226263" b="0"/>
              </a:stretch>
            </a:blipFill>
          </p:spPr>
        </p:sp>
        <p:sp>
          <p:nvSpPr>
            <p:cNvPr name="TextBox 25" id="25"/>
            <p:cNvSpPr txBox="true"/>
            <p:nvPr/>
          </p:nvSpPr>
          <p:spPr>
            <a:xfrm>
              <a:off x="0" y="-9525"/>
              <a:ext cx="4693144" cy="7909941"/>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 Phân vùng tương đương (EP): Chia ngôn ngữ thành 4 nhóm đại diện (Chuẩn, Châu Âu, Mở rộng, Đảo chiều) để tối ưu hóa số lượng Test Case.</a:t>
              </a:r>
            </a:p>
            <a:p>
              <a:pPr algn="just">
                <a:lnSpc>
                  <a:spcPts val="2400"/>
                </a:lnSpc>
              </a:pPr>
            </a:p>
            <a:p>
              <a:pPr algn="just">
                <a:lnSpc>
                  <a:spcPts val="2400"/>
                </a:lnSpc>
              </a:pPr>
              <a:r>
                <a:rPr lang="en-US" sz="2000">
                  <a:solidFill>
                    <a:srgbClr val="000000"/>
                  </a:solidFill>
                  <a:latin typeface="Aptos"/>
                  <a:ea typeface="Aptos"/>
                  <a:cs typeface="Aptos"/>
                  <a:sym typeface="Aptos"/>
                </a:rPr>
                <a:t>• Phân tích giá trị biên (BVA): Kiểm tra lỗi tràn văn bản bằng cách so sánh chiều rộng chuỗi (scrollWidth) với chiều rộng khung chứa (clientWidth).</a:t>
              </a:r>
            </a:p>
            <a:p>
              <a:pPr algn="just">
                <a:lnSpc>
                  <a:spcPts val="2400"/>
                </a:lnSpc>
              </a:pPr>
            </a:p>
            <a:p>
              <a:pPr algn="just">
                <a:lnSpc>
                  <a:spcPts val="2400"/>
                </a:lnSpc>
              </a:pPr>
              <a:r>
                <a:rPr lang="en-US" sz="2000">
                  <a:solidFill>
                    <a:srgbClr val="000000"/>
                  </a:solidFill>
                  <a:latin typeface="Aptos"/>
                  <a:ea typeface="Aptos"/>
                  <a:cs typeface="Aptos"/>
                  <a:sym typeface="Aptos"/>
                </a:rPr>
                <a:t>• Bảng quyết định (Decision Table): Áp dụng để xử lý logic đan chéo của tiền tệ (Ký hiệu + Dấu thập phân + Vị trí).</a:t>
              </a:r>
            </a:p>
          </p:txBody>
        </p:sp>
      </p:grpSp>
      <p:grpSp>
        <p:nvGrpSpPr>
          <p:cNvPr name="Group 26" id="26"/>
          <p:cNvGrpSpPr/>
          <p:nvPr/>
        </p:nvGrpSpPr>
        <p:grpSpPr>
          <a:xfrm rot="0">
            <a:off x="6115518" y="1991868"/>
            <a:ext cx="4556485" cy="7682484"/>
            <a:chOff x="0" y="0"/>
            <a:chExt cx="7546817" cy="12724349"/>
          </a:xfrm>
        </p:grpSpPr>
        <p:sp>
          <p:nvSpPr>
            <p:cNvPr name="Freeform 27" id="27"/>
            <p:cNvSpPr/>
            <p:nvPr/>
          </p:nvSpPr>
          <p:spPr>
            <a:xfrm flipH="false" flipV="false" rot="0">
              <a:off x="9253" y="17982"/>
              <a:ext cx="7528311" cy="12688385"/>
            </a:xfrm>
            <a:custGeom>
              <a:avLst/>
              <a:gdLst/>
              <a:ahLst/>
              <a:cxnLst/>
              <a:rect r="r" b="b" t="t" l="l"/>
              <a:pathLst>
                <a:path h="12688385" w="7528311">
                  <a:moveTo>
                    <a:pt x="0" y="207158"/>
                  </a:moveTo>
                  <a:cubicBezTo>
                    <a:pt x="0" y="92790"/>
                    <a:pt x="47746" y="0"/>
                    <a:pt x="106688" y="0"/>
                  </a:cubicBezTo>
                  <a:lnTo>
                    <a:pt x="7421623" y="0"/>
                  </a:lnTo>
                  <a:cubicBezTo>
                    <a:pt x="7480565" y="0"/>
                    <a:pt x="7528311" y="92790"/>
                    <a:pt x="7528311" y="207158"/>
                  </a:cubicBezTo>
                  <a:lnTo>
                    <a:pt x="7528311" y="12481228"/>
                  </a:lnTo>
                  <a:cubicBezTo>
                    <a:pt x="7528311" y="12595595"/>
                    <a:pt x="7480565" y="12688385"/>
                    <a:pt x="7421623" y="12688385"/>
                  </a:cubicBezTo>
                  <a:lnTo>
                    <a:pt x="106688" y="12688385"/>
                  </a:lnTo>
                  <a:cubicBezTo>
                    <a:pt x="47746" y="12688384"/>
                    <a:pt x="0" y="12595595"/>
                    <a:pt x="0" y="12481228"/>
                  </a:cubicBezTo>
                  <a:close/>
                </a:path>
              </a:pathLst>
            </a:custGeom>
            <a:solidFill>
              <a:srgbClr val="FFFFFF"/>
            </a:solidFill>
          </p:spPr>
        </p:sp>
        <p:sp>
          <p:nvSpPr>
            <p:cNvPr name="Freeform 28" id="28"/>
            <p:cNvSpPr/>
            <p:nvPr/>
          </p:nvSpPr>
          <p:spPr>
            <a:xfrm flipH="false" flipV="false" rot="0">
              <a:off x="0" y="0"/>
              <a:ext cx="7546818" cy="12724350"/>
            </a:xfrm>
            <a:custGeom>
              <a:avLst/>
              <a:gdLst/>
              <a:ahLst/>
              <a:cxnLst/>
              <a:rect r="r" b="b" t="t" l="l"/>
              <a:pathLst>
                <a:path h="12724350" w="7546818">
                  <a:moveTo>
                    <a:pt x="0" y="225140"/>
                  </a:moveTo>
                  <a:cubicBezTo>
                    <a:pt x="0" y="100881"/>
                    <a:pt x="51910" y="0"/>
                    <a:pt x="115941" y="0"/>
                  </a:cubicBezTo>
                  <a:lnTo>
                    <a:pt x="7430876" y="0"/>
                  </a:lnTo>
                  <a:lnTo>
                    <a:pt x="7430876" y="17982"/>
                  </a:lnTo>
                  <a:lnTo>
                    <a:pt x="7430876" y="0"/>
                  </a:lnTo>
                  <a:cubicBezTo>
                    <a:pt x="7494907" y="0"/>
                    <a:pt x="7546818" y="100881"/>
                    <a:pt x="7546818" y="225140"/>
                  </a:cubicBezTo>
                  <a:lnTo>
                    <a:pt x="7537564" y="225140"/>
                  </a:lnTo>
                  <a:lnTo>
                    <a:pt x="7546818" y="225140"/>
                  </a:lnTo>
                  <a:lnTo>
                    <a:pt x="7546818" y="12499210"/>
                  </a:lnTo>
                  <a:lnTo>
                    <a:pt x="7537564" y="12499210"/>
                  </a:lnTo>
                  <a:lnTo>
                    <a:pt x="7546818" y="12499210"/>
                  </a:lnTo>
                  <a:cubicBezTo>
                    <a:pt x="7546818" y="12623647"/>
                    <a:pt x="7494907" y="12724350"/>
                    <a:pt x="7430876" y="12724350"/>
                  </a:cubicBezTo>
                  <a:lnTo>
                    <a:pt x="7430876" y="12706367"/>
                  </a:lnTo>
                  <a:lnTo>
                    <a:pt x="7430876" y="12724350"/>
                  </a:lnTo>
                  <a:lnTo>
                    <a:pt x="115941" y="12724350"/>
                  </a:lnTo>
                  <a:lnTo>
                    <a:pt x="115941" y="12706367"/>
                  </a:lnTo>
                  <a:lnTo>
                    <a:pt x="115941" y="12724350"/>
                  </a:lnTo>
                  <a:cubicBezTo>
                    <a:pt x="51910" y="12724349"/>
                    <a:pt x="0" y="12623467"/>
                    <a:pt x="0" y="12499210"/>
                  </a:cubicBezTo>
                  <a:lnTo>
                    <a:pt x="0" y="225140"/>
                  </a:lnTo>
                  <a:lnTo>
                    <a:pt x="9253" y="225140"/>
                  </a:lnTo>
                  <a:lnTo>
                    <a:pt x="0" y="225140"/>
                  </a:lnTo>
                  <a:moveTo>
                    <a:pt x="18506" y="225140"/>
                  </a:moveTo>
                  <a:lnTo>
                    <a:pt x="18506" y="12499210"/>
                  </a:lnTo>
                  <a:lnTo>
                    <a:pt x="9253" y="12499210"/>
                  </a:lnTo>
                  <a:lnTo>
                    <a:pt x="18506" y="12499210"/>
                  </a:lnTo>
                  <a:cubicBezTo>
                    <a:pt x="18506" y="12603687"/>
                    <a:pt x="62088" y="12688384"/>
                    <a:pt x="115941" y="12688384"/>
                  </a:cubicBezTo>
                  <a:lnTo>
                    <a:pt x="7430876" y="12688384"/>
                  </a:lnTo>
                  <a:cubicBezTo>
                    <a:pt x="7484636" y="12688384"/>
                    <a:pt x="7528311" y="12603687"/>
                    <a:pt x="7528311" y="12499210"/>
                  </a:cubicBezTo>
                  <a:lnTo>
                    <a:pt x="7528311" y="225140"/>
                  </a:lnTo>
                  <a:cubicBezTo>
                    <a:pt x="7528311" y="120662"/>
                    <a:pt x="7484729" y="35965"/>
                    <a:pt x="7430876" y="35965"/>
                  </a:cubicBezTo>
                  <a:lnTo>
                    <a:pt x="115941" y="35965"/>
                  </a:lnTo>
                  <a:lnTo>
                    <a:pt x="115941" y="17982"/>
                  </a:lnTo>
                  <a:lnTo>
                    <a:pt x="115941" y="35965"/>
                  </a:lnTo>
                  <a:cubicBezTo>
                    <a:pt x="62088" y="35965"/>
                    <a:pt x="18506" y="120662"/>
                    <a:pt x="18506" y="225140"/>
                  </a:cubicBezTo>
                  <a:close/>
                </a:path>
              </a:pathLst>
            </a:custGeom>
            <a:solidFill>
              <a:srgbClr val="E2E8F0"/>
            </a:solidFill>
          </p:spPr>
        </p:sp>
      </p:grpSp>
      <p:grpSp>
        <p:nvGrpSpPr>
          <p:cNvPr name="Group 29" id="29"/>
          <p:cNvGrpSpPr/>
          <p:nvPr/>
        </p:nvGrpSpPr>
        <p:grpSpPr>
          <a:xfrm rot="0">
            <a:off x="6089835" y="1991868"/>
            <a:ext cx="209325" cy="7682484"/>
            <a:chOff x="0" y="0"/>
            <a:chExt cx="244856" cy="8986520"/>
          </a:xfrm>
        </p:grpSpPr>
        <p:sp>
          <p:nvSpPr>
            <p:cNvPr name="Freeform 30" id="30"/>
            <p:cNvSpPr/>
            <p:nvPr/>
          </p:nvSpPr>
          <p:spPr>
            <a:xfrm flipH="false" flipV="false" rot="0">
              <a:off x="12700" y="12700"/>
              <a:ext cx="219456" cy="8961120"/>
            </a:xfrm>
            <a:custGeom>
              <a:avLst/>
              <a:gdLst/>
              <a:ahLst/>
              <a:cxnLst/>
              <a:rect r="r" b="b" t="t" l="l"/>
              <a:pathLst>
                <a:path h="8961120" w="219456">
                  <a:moveTo>
                    <a:pt x="0" y="0"/>
                  </a:moveTo>
                  <a:lnTo>
                    <a:pt x="219456" y="0"/>
                  </a:lnTo>
                  <a:lnTo>
                    <a:pt x="219456" y="8961120"/>
                  </a:lnTo>
                  <a:lnTo>
                    <a:pt x="0" y="8961120"/>
                  </a:lnTo>
                  <a:close/>
                </a:path>
              </a:pathLst>
            </a:custGeom>
            <a:solidFill>
              <a:srgbClr val="F59E0B"/>
            </a:solidFill>
          </p:spPr>
        </p:sp>
        <p:sp>
          <p:nvSpPr>
            <p:cNvPr name="Freeform 31" id="31"/>
            <p:cNvSpPr/>
            <p:nvPr/>
          </p:nvSpPr>
          <p:spPr>
            <a:xfrm flipH="false" flipV="false" rot="0">
              <a:off x="0" y="0"/>
              <a:ext cx="244856" cy="8986520"/>
            </a:xfrm>
            <a:custGeom>
              <a:avLst/>
              <a:gdLst/>
              <a:ahLst/>
              <a:cxnLst/>
              <a:rect r="r" b="b" t="t" l="l"/>
              <a:pathLst>
                <a:path h="8986520" w="244856">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F59E0B"/>
            </a:solidFill>
          </p:spPr>
        </p:sp>
      </p:grpSp>
      <p:grpSp>
        <p:nvGrpSpPr>
          <p:cNvPr name="Group 32" id="32"/>
          <p:cNvGrpSpPr/>
          <p:nvPr/>
        </p:nvGrpSpPr>
        <p:grpSpPr>
          <a:xfrm rot="0">
            <a:off x="6546048" y="2263140"/>
            <a:ext cx="2888922" cy="450800"/>
            <a:chOff x="0" y="0"/>
            <a:chExt cx="3851896" cy="601067"/>
          </a:xfrm>
        </p:grpSpPr>
        <p:sp>
          <p:nvSpPr>
            <p:cNvPr name="Freeform 33" id="33"/>
            <p:cNvSpPr/>
            <p:nvPr/>
          </p:nvSpPr>
          <p:spPr>
            <a:xfrm flipH="false" flipV="false" rot="0">
              <a:off x="0" y="0"/>
              <a:ext cx="3851896" cy="601067"/>
            </a:xfrm>
            <a:custGeom>
              <a:avLst/>
              <a:gdLst/>
              <a:ahLst/>
              <a:cxnLst/>
              <a:rect r="r" b="b" t="t" l="l"/>
              <a:pathLst>
                <a:path h="601067" w="3851896">
                  <a:moveTo>
                    <a:pt x="0" y="0"/>
                  </a:moveTo>
                  <a:lnTo>
                    <a:pt x="3851896" y="0"/>
                  </a:lnTo>
                  <a:lnTo>
                    <a:pt x="3851896" y="601067"/>
                  </a:lnTo>
                  <a:lnTo>
                    <a:pt x="0" y="601067"/>
                  </a:lnTo>
                  <a:close/>
                </a:path>
              </a:pathLst>
            </a:custGeom>
            <a:blipFill>
              <a:blip r:embed="rId2">
                <a:alphaModFix amt="0"/>
              </a:blip>
              <a:stretch>
                <a:fillRect l="0" t="-274578" r="-154006" b="-259770"/>
              </a:stretch>
            </a:blipFill>
          </p:spPr>
        </p:sp>
        <p:sp>
          <p:nvSpPr>
            <p:cNvPr name="TextBox 34" id="34"/>
            <p:cNvSpPr txBox="true"/>
            <p:nvPr/>
          </p:nvSpPr>
          <p:spPr>
            <a:xfrm>
              <a:off x="0" y="0"/>
              <a:ext cx="3851896"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Kiể</a:t>
              </a:r>
              <a:r>
                <a:rPr lang="en-US" sz="2400" b="true">
                  <a:solidFill>
                    <a:srgbClr val="0F172A"/>
                  </a:solidFill>
                  <a:latin typeface="Aptos Bold"/>
                  <a:ea typeface="Aptos Bold"/>
                  <a:cs typeface="Aptos Bold"/>
                  <a:sym typeface="Aptos Bold"/>
                </a:rPr>
                <a:t>m thử Hộp trắng</a:t>
              </a:r>
            </a:p>
          </p:txBody>
        </p:sp>
      </p:grpSp>
      <p:grpSp>
        <p:nvGrpSpPr>
          <p:cNvPr name="Group 35" id="35"/>
          <p:cNvGrpSpPr/>
          <p:nvPr/>
        </p:nvGrpSpPr>
        <p:grpSpPr>
          <a:xfrm rot="0">
            <a:off x="6546048" y="4315971"/>
            <a:ext cx="3144707" cy="4786680"/>
            <a:chOff x="0" y="0"/>
            <a:chExt cx="5190339" cy="7900416"/>
          </a:xfrm>
        </p:grpSpPr>
        <p:sp>
          <p:nvSpPr>
            <p:cNvPr name="Freeform 36" id="36"/>
            <p:cNvSpPr/>
            <p:nvPr/>
          </p:nvSpPr>
          <p:spPr>
            <a:xfrm flipH="false" flipV="false" rot="0">
              <a:off x="0" y="0"/>
              <a:ext cx="5190339" cy="7900416"/>
            </a:xfrm>
            <a:custGeom>
              <a:avLst/>
              <a:gdLst/>
              <a:ahLst/>
              <a:cxnLst/>
              <a:rect r="r" b="b" t="t" l="l"/>
              <a:pathLst>
                <a:path h="7900416" w="5190339">
                  <a:moveTo>
                    <a:pt x="0" y="0"/>
                  </a:moveTo>
                  <a:lnTo>
                    <a:pt x="5190339" y="0"/>
                  </a:lnTo>
                  <a:lnTo>
                    <a:pt x="5190339" y="7900416"/>
                  </a:lnTo>
                  <a:lnTo>
                    <a:pt x="0" y="7900416"/>
                  </a:lnTo>
                  <a:close/>
                </a:path>
              </a:pathLst>
            </a:custGeom>
            <a:blipFill>
              <a:blip r:embed="rId2">
                <a:alphaModFix amt="0"/>
              </a:blip>
              <a:stretch>
                <a:fillRect l="-101747" t="0" r="-188843" b="0"/>
              </a:stretch>
            </a:blipFill>
          </p:spPr>
        </p:sp>
        <p:sp>
          <p:nvSpPr>
            <p:cNvPr name="TextBox 37" id="37"/>
            <p:cNvSpPr txBox="true"/>
            <p:nvPr/>
          </p:nvSpPr>
          <p:spPr>
            <a:xfrm>
              <a:off x="0" y="-9525"/>
              <a:ext cx="5190339" cy="7909941"/>
            </a:xfrm>
            <a:prstGeom prst="rect">
              <a:avLst/>
            </a:prstGeom>
          </p:spPr>
          <p:txBody>
            <a:bodyPr anchor="ctr" rtlCol="false" tIns="0" lIns="0" bIns="0" rIns="0"/>
            <a:lstStyle/>
            <a:p>
              <a:pPr algn="l">
                <a:lnSpc>
                  <a:spcPts val="2400"/>
                </a:lnSpc>
              </a:pPr>
              <a:r>
                <a:rPr lang="en-US" sz="2000">
                  <a:solidFill>
                    <a:srgbClr val="000000"/>
                  </a:solidFill>
                  <a:latin typeface="Aptos"/>
                  <a:ea typeface="Aptos"/>
                  <a:cs typeface="Aptos"/>
                  <a:sym typeface="Aptos"/>
                </a:rPr>
                <a:t>• Đồ thị luồng điều khiển (CFG): Vẽ sơ đồ thuật toán cho hàm xử lý tiền tệ.</a:t>
              </a:r>
            </a:p>
            <a:p>
              <a:pPr algn="l">
                <a:lnSpc>
                  <a:spcPts val="2400"/>
                </a:lnSpc>
              </a:pPr>
            </a:p>
            <a:p>
              <a:pPr algn="l">
                <a:lnSpc>
                  <a:spcPts val="2400"/>
                </a:lnSpc>
              </a:pPr>
              <a:r>
                <a:rPr lang="en-US" sz="2000">
                  <a:solidFill>
                    <a:srgbClr val="000000"/>
                  </a:solidFill>
                  <a:latin typeface="Aptos"/>
                  <a:ea typeface="Aptos"/>
                  <a:cs typeface="Aptos"/>
                  <a:sym typeface="Aptos"/>
                </a:rPr>
                <a:t>• Độ phức tạp thuật toán (Cyclomatic Complexity): Tính toán V(G) = E - N + 2 = 15 - 13 + 2 = 4.</a:t>
              </a:r>
            </a:p>
            <a:p>
              <a:pPr algn="l">
                <a:lnSpc>
                  <a:spcPts val="2400"/>
                </a:lnSpc>
              </a:pPr>
            </a:p>
            <a:p>
              <a:pPr algn="l">
                <a:lnSpc>
                  <a:spcPts val="2400"/>
                </a:lnSpc>
              </a:pPr>
              <a:r>
                <a:rPr lang="en-US" sz="2000">
                  <a:solidFill>
                    <a:srgbClr val="000000"/>
                  </a:solidFill>
                  <a:latin typeface="Aptos"/>
                  <a:ea typeface="Aptos"/>
                  <a:cs typeface="Aptos"/>
                  <a:sym typeface="Aptos"/>
                </a:rPr>
                <a:t>• Mục đích: đảm bảo không chỉ đúng ở mức đầu vào/đầu ra mà còn xem xét độ bao phủ nhánh xử lý trong bộ kiểm thử tự động.</a:t>
              </a:r>
            </a:p>
          </p:txBody>
        </p:sp>
      </p:grpSp>
      <p:grpSp>
        <p:nvGrpSpPr>
          <p:cNvPr name="Group 38" id="38"/>
          <p:cNvGrpSpPr/>
          <p:nvPr/>
        </p:nvGrpSpPr>
        <p:grpSpPr>
          <a:xfrm rot="0">
            <a:off x="6546048" y="2878151"/>
            <a:ext cx="3661238" cy="1293242"/>
            <a:chOff x="0" y="0"/>
            <a:chExt cx="4881651" cy="1724323"/>
          </a:xfrm>
        </p:grpSpPr>
        <p:sp>
          <p:nvSpPr>
            <p:cNvPr name="Freeform 39" id="39"/>
            <p:cNvSpPr/>
            <p:nvPr/>
          </p:nvSpPr>
          <p:spPr>
            <a:xfrm flipH="false" flipV="false" rot="0">
              <a:off x="0" y="0"/>
              <a:ext cx="4881651" cy="1724323"/>
            </a:xfrm>
            <a:custGeom>
              <a:avLst/>
              <a:gdLst/>
              <a:ahLst/>
              <a:cxnLst/>
              <a:rect r="r" b="b" t="t" l="l"/>
              <a:pathLst>
                <a:path h="1724323" w="4881651">
                  <a:moveTo>
                    <a:pt x="0" y="0"/>
                  </a:moveTo>
                  <a:lnTo>
                    <a:pt x="4881651" y="0"/>
                  </a:lnTo>
                  <a:lnTo>
                    <a:pt x="4881651" y="1724323"/>
                  </a:lnTo>
                  <a:lnTo>
                    <a:pt x="0" y="1724323"/>
                  </a:lnTo>
                  <a:close/>
                </a:path>
              </a:pathLst>
            </a:custGeom>
            <a:blipFill>
              <a:blip r:embed="rId2">
                <a:alphaModFix amt="0"/>
              </a:blip>
              <a:stretch>
                <a:fillRect l="0" t="-208340" r="-304597" b="-138037"/>
              </a:stretch>
            </a:blipFill>
          </p:spPr>
        </p:sp>
        <p:sp>
          <p:nvSpPr>
            <p:cNvPr name="TextBox 40" id="40"/>
            <p:cNvSpPr txBox="true"/>
            <p:nvPr/>
          </p:nvSpPr>
          <p:spPr>
            <a:xfrm>
              <a:off x="0" y="-9525"/>
              <a:ext cx="4881651" cy="17338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Trích xuất và kiểm chứng mã nguồn logic cốt lõi của Automation Framework (hàm checkSymbolPosition):</a:t>
              </a:r>
            </a:p>
          </p:txBody>
        </p:sp>
      </p:grpSp>
      <p:grpSp>
        <p:nvGrpSpPr>
          <p:cNvPr name="Group 41" id="41"/>
          <p:cNvGrpSpPr/>
          <p:nvPr/>
        </p:nvGrpSpPr>
        <p:grpSpPr>
          <a:xfrm rot="0">
            <a:off x="1330452" y="2878151"/>
            <a:ext cx="3519858" cy="988442"/>
            <a:chOff x="0" y="0"/>
            <a:chExt cx="4693144" cy="1317923"/>
          </a:xfrm>
        </p:grpSpPr>
        <p:sp>
          <p:nvSpPr>
            <p:cNvPr name="Freeform 42" id="42"/>
            <p:cNvSpPr/>
            <p:nvPr/>
          </p:nvSpPr>
          <p:spPr>
            <a:xfrm flipH="false" flipV="false" rot="0">
              <a:off x="0" y="0"/>
              <a:ext cx="4693144" cy="1317923"/>
            </a:xfrm>
            <a:custGeom>
              <a:avLst/>
              <a:gdLst/>
              <a:ahLst/>
              <a:cxnLst/>
              <a:rect r="r" b="b" t="t" l="l"/>
              <a:pathLst>
                <a:path h="1317923" w="4693144">
                  <a:moveTo>
                    <a:pt x="0" y="0"/>
                  </a:moveTo>
                  <a:lnTo>
                    <a:pt x="4693144" y="0"/>
                  </a:lnTo>
                  <a:lnTo>
                    <a:pt x="4693144" y="1317923"/>
                  </a:lnTo>
                  <a:lnTo>
                    <a:pt x="0" y="1317923"/>
                  </a:lnTo>
                  <a:close/>
                </a:path>
              </a:pathLst>
            </a:custGeom>
            <a:blipFill>
              <a:blip r:embed="rId2">
                <a:alphaModFix amt="0"/>
              </a:blip>
              <a:stretch>
                <a:fillRect l="0" t="-272585" r="-320848" b="-211439"/>
              </a:stretch>
            </a:blipFill>
          </p:spPr>
        </p:sp>
        <p:sp>
          <p:nvSpPr>
            <p:cNvPr name="TextBox 43" id="43"/>
            <p:cNvSpPr txBox="true"/>
            <p:nvPr/>
          </p:nvSpPr>
          <p:spPr>
            <a:xfrm>
              <a:off x="0" y="-9525"/>
              <a:ext cx="4693144" cy="13274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Tập trung đánh giá giao diện (UI) và hành vi hệ thống dựa trên góc nhìn người dùng cuối:</a:t>
              </a:r>
            </a:p>
          </p:txBody>
        </p:sp>
      </p:grpSp>
      <p:sp>
        <p:nvSpPr>
          <p:cNvPr name="Freeform 44" id="44"/>
          <p:cNvSpPr/>
          <p:nvPr/>
        </p:nvSpPr>
        <p:spPr>
          <a:xfrm flipH="false" flipV="false" rot="0">
            <a:off x="12550140" y="1161669"/>
            <a:ext cx="2004505" cy="8668131"/>
          </a:xfrm>
          <a:custGeom>
            <a:avLst/>
            <a:gdLst/>
            <a:ahLst/>
            <a:cxnLst/>
            <a:rect r="r" b="b" t="t" l="l"/>
            <a:pathLst>
              <a:path h="8668131" w="2004505">
                <a:moveTo>
                  <a:pt x="0" y="0"/>
                </a:moveTo>
                <a:lnTo>
                  <a:pt x="2004505" y="0"/>
                </a:lnTo>
                <a:lnTo>
                  <a:pt x="2004505" y="8668131"/>
                </a:lnTo>
                <a:lnTo>
                  <a:pt x="0" y="8668131"/>
                </a:lnTo>
                <a:lnTo>
                  <a:pt x="0" y="0"/>
                </a:lnTo>
                <a:close/>
              </a:path>
            </a:pathLst>
          </a:custGeom>
          <a:blipFill>
            <a:blip r:embed="rId3"/>
            <a:stretch>
              <a:fillRect l="0" t="0" r="0" b="0"/>
            </a:stretch>
          </a:blipFill>
          <a:ln w="38100" cap="sq">
            <a:solidFill>
              <a:srgbClr val="000000"/>
            </a:solidFill>
            <a:prstDash val="solid"/>
            <a:miter/>
          </a:ln>
        </p:spPr>
      </p:sp>
      <p:sp>
        <p:nvSpPr>
          <p:cNvPr name="TextBox 45" id="45"/>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Công cụ sử dụng và kiến trúc automation framework</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Framework</a:t>
              </a:r>
            </a:p>
          </p:txBody>
        </p:sp>
      </p:grpSp>
      <p:graphicFrame>
        <p:nvGraphicFramePr>
          <p:cNvPr name="Table 14" id="14"/>
          <p:cNvGraphicFramePr>
            <a:graphicFrameLocks noGrp="true"/>
          </p:cNvGraphicFramePr>
          <p:nvPr/>
        </p:nvGraphicFramePr>
        <p:xfrm>
          <a:off x="317387" y="2634854"/>
          <a:ext cx="8306868" cy="5907405"/>
        </p:xfrm>
        <a:graphic>
          <a:graphicData uri="http://schemas.openxmlformats.org/drawingml/2006/table">
            <a:tbl>
              <a:tblPr/>
              <a:tblGrid>
                <a:gridCol w="3012296"/>
                <a:gridCol w="5294572"/>
              </a:tblGrid>
              <a:tr h="778462">
                <a:tc>
                  <a:txBody>
                    <a:bodyPr anchor="t" rtlCol="false"/>
                    <a:lstStyle/>
                    <a:p>
                      <a:pPr algn="ctr">
                        <a:lnSpc>
                          <a:spcPts val="2400"/>
                        </a:lnSpc>
                        <a:defRPr/>
                      </a:pPr>
                      <a:r>
                        <a:rPr lang="en-US" sz="2000">
                          <a:solidFill>
                            <a:srgbClr val="0F172A"/>
                          </a:solidFill>
                          <a:latin typeface="Aptos"/>
                          <a:ea typeface="Aptos"/>
                          <a:cs typeface="Aptos"/>
                          <a:sym typeface="Aptos"/>
                        </a:rPr>
                        <a:t>Công cụ</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Vai trò</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Java 17</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Ngôn ngữ lập trình của bộ automation test</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Selenium WebDriver 4.16.1</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Điều khiển trình duyệt và thao tác UI</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JUnit 5</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Quản lý test suite và assertion</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Maven</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Quản lý dependency và build project</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WebDriverManager</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Tự động cấu hình ChromeDriver</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r h="854824">
                <a:tc>
                  <a:txBody>
                    <a:bodyPr anchor="t" rtlCol="false"/>
                    <a:lstStyle/>
                    <a:p>
                      <a:pPr algn="ctr">
                        <a:lnSpc>
                          <a:spcPts val="2400"/>
                        </a:lnSpc>
                        <a:defRPr/>
                      </a:pPr>
                      <a:r>
                        <a:rPr lang="en-US" sz="2000">
                          <a:solidFill>
                            <a:srgbClr val="0F172A"/>
                          </a:solidFill>
                          <a:latin typeface="Aptos"/>
                          <a:ea typeface="Aptos"/>
                          <a:cs typeface="Aptos"/>
                          <a:sym typeface="Aptos"/>
                        </a:rPr>
                        <a:t>Google Chrome</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c>
                  <a:txBody>
                    <a:bodyPr anchor="t" rtlCol="false"/>
                    <a:lstStyle/>
                    <a:p>
                      <a:pPr algn="ctr">
                        <a:lnSpc>
                          <a:spcPts val="2400"/>
                        </a:lnSpc>
                        <a:defRPr/>
                      </a:pPr>
                      <a:r>
                        <a:rPr lang="en-US" sz="2000">
                          <a:solidFill>
                            <a:srgbClr val="0F172A"/>
                          </a:solidFill>
                          <a:latin typeface="Aptos"/>
                          <a:ea typeface="Aptos"/>
                          <a:cs typeface="Aptos"/>
                          <a:sym typeface="Aptos"/>
                        </a:rPr>
                        <a:t>Môi trường thực thi trên desktop</a:t>
                      </a:r>
                      <a:endParaRPr lang="en-US" sz="1100"/>
                    </a:p>
                  </a:txBody>
                  <a:tcPr marL="45720" marR="45720" marT="45720" marB="45720" anchor="ctr">
                    <a:lnL cmpd="sng" algn="ctr" cap="flat" w="12700">
                      <a:solidFill>
                        <a:srgbClr val="CBD5E1"/>
                      </a:solidFill>
                      <a:prstDash val="solid"/>
                      <a:round/>
                      <a:headEnd type="none" w="med" len="med"/>
                      <a:tailEnd type="none" w="med" len="med"/>
                    </a:lnL>
                    <a:lnR cmpd="sng" algn="ctr" cap="flat" w="12700">
                      <a:solidFill>
                        <a:srgbClr val="CBD5E1"/>
                      </a:solidFill>
                      <a:prstDash val="solid"/>
                      <a:round/>
                      <a:headEnd type="none" w="med" len="med"/>
                      <a:tailEnd type="none" w="med" len="med"/>
                    </a:lnR>
                    <a:lnT cmpd="sng" algn="ctr" cap="flat" w="12700">
                      <a:solidFill>
                        <a:srgbClr val="CBD5E1"/>
                      </a:solidFill>
                      <a:prstDash val="solid"/>
                      <a:round/>
                      <a:headEnd type="none" w="med" len="med"/>
                      <a:tailEnd type="none" w="med" len="med"/>
                    </a:lnT>
                    <a:lnB cmpd="sng" algn="ctr" cap="flat" w="12700">
                      <a:solidFill>
                        <a:srgbClr val="CBD5E1"/>
                      </a:solidFill>
                      <a:prstDash val="solid"/>
                      <a:round/>
                      <a:headEnd type="none" w="med" len="med"/>
                      <a:tailEnd type="none" w="med" len="med"/>
                    </a:lnB>
                    <a:solidFill>
                      <a:srgbClr val="FFFFFF"/>
                    </a:solidFill>
                  </a:tcPr>
                </a:tc>
              </a:tr>
            </a:tbl>
          </a:graphicData>
        </a:graphic>
      </p:graphicFrame>
      <p:grpSp>
        <p:nvGrpSpPr>
          <p:cNvPr name="Group 15" id="15"/>
          <p:cNvGrpSpPr/>
          <p:nvPr/>
        </p:nvGrpSpPr>
        <p:grpSpPr>
          <a:xfrm rot="0">
            <a:off x="8834499" y="1664970"/>
            <a:ext cx="8525766" cy="8164830"/>
            <a:chOff x="0" y="0"/>
            <a:chExt cx="11367687" cy="10886440"/>
          </a:xfrm>
        </p:grpSpPr>
        <p:sp>
          <p:nvSpPr>
            <p:cNvPr name="Freeform 16" id="16"/>
            <p:cNvSpPr/>
            <p:nvPr/>
          </p:nvSpPr>
          <p:spPr>
            <a:xfrm flipH="false" flipV="false" rot="0">
              <a:off x="14062" y="16385"/>
              <a:ext cx="11339564" cy="10853670"/>
            </a:xfrm>
            <a:custGeom>
              <a:avLst/>
              <a:gdLst/>
              <a:ahLst/>
              <a:cxnLst/>
              <a:rect r="r" b="b" t="t" l="l"/>
              <a:pathLst>
                <a:path h="10853670" w="11339564">
                  <a:moveTo>
                    <a:pt x="0" y="188760"/>
                  </a:moveTo>
                  <a:cubicBezTo>
                    <a:pt x="0" y="84549"/>
                    <a:pt x="72560" y="0"/>
                    <a:pt x="162134" y="0"/>
                  </a:cubicBezTo>
                  <a:lnTo>
                    <a:pt x="11177429" y="0"/>
                  </a:lnTo>
                  <a:cubicBezTo>
                    <a:pt x="11267004" y="0"/>
                    <a:pt x="11339564" y="84549"/>
                    <a:pt x="11339564" y="188760"/>
                  </a:cubicBezTo>
                  <a:lnTo>
                    <a:pt x="11339564" y="10664910"/>
                  </a:lnTo>
                  <a:cubicBezTo>
                    <a:pt x="11339564" y="10769121"/>
                    <a:pt x="11267004" y="10853670"/>
                    <a:pt x="11177429" y="10853670"/>
                  </a:cubicBezTo>
                  <a:lnTo>
                    <a:pt x="162134" y="10853670"/>
                  </a:lnTo>
                  <a:cubicBezTo>
                    <a:pt x="72560" y="10853670"/>
                    <a:pt x="0" y="10769121"/>
                    <a:pt x="0" y="10664910"/>
                  </a:cubicBezTo>
                  <a:close/>
                </a:path>
              </a:pathLst>
            </a:custGeom>
            <a:solidFill>
              <a:srgbClr val="FFFFFF"/>
            </a:solidFill>
          </p:spPr>
        </p:sp>
        <p:sp>
          <p:nvSpPr>
            <p:cNvPr name="Freeform 17" id="17"/>
            <p:cNvSpPr/>
            <p:nvPr/>
          </p:nvSpPr>
          <p:spPr>
            <a:xfrm flipH="false" flipV="false" rot="0">
              <a:off x="0" y="0"/>
              <a:ext cx="11367688" cy="10886440"/>
            </a:xfrm>
            <a:custGeom>
              <a:avLst/>
              <a:gdLst/>
              <a:ahLst/>
              <a:cxnLst/>
              <a:rect r="r" b="b" t="t" l="l"/>
              <a:pathLst>
                <a:path h="10886440" w="11367688">
                  <a:moveTo>
                    <a:pt x="0" y="205145"/>
                  </a:moveTo>
                  <a:cubicBezTo>
                    <a:pt x="0" y="91758"/>
                    <a:pt x="78888" y="0"/>
                    <a:pt x="176196" y="0"/>
                  </a:cubicBezTo>
                  <a:lnTo>
                    <a:pt x="11191491" y="0"/>
                  </a:lnTo>
                  <a:lnTo>
                    <a:pt x="11191491" y="16385"/>
                  </a:lnTo>
                  <a:lnTo>
                    <a:pt x="11191491" y="0"/>
                  </a:lnTo>
                  <a:cubicBezTo>
                    <a:pt x="11288799" y="0"/>
                    <a:pt x="11367688" y="91758"/>
                    <a:pt x="11367688" y="205145"/>
                  </a:cubicBezTo>
                  <a:lnTo>
                    <a:pt x="11353626" y="205145"/>
                  </a:lnTo>
                  <a:lnTo>
                    <a:pt x="11367688" y="205145"/>
                  </a:lnTo>
                  <a:lnTo>
                    <a:pt x="11367688" y="10681295"/>
                  </a:lnTo>
                  <a:lnTo>
                    <a:pt x="11353626" y="10681295"/>
                  </a:lnTo>
                  <a:lnTo>
                    <a:pt x="11367688" y="10681295"/>
                  </a:lnTo>
                  <a:cubicBezTo>
                    <a:pt x="11367688" y="10794518"/>
                    <a:pt x="11288799" y="10886440"/>
                    <a:pt x="11191491" y="10886440"/>
                  </a:cubicBezTo>
                  <a:lnTo>
                    <a:pt x="11191491" y="10870055"/>
                  </a:lnTo>
                  <a:lnTo>
                    <a:pt x="11191491" y="10886440"/>
                  </a:lnTo>
                  <a:lnTo>
                    <a:pt x="176196" y="10886440"/>
                  </a:lnTo>
                  <a:lnTo>
                    <a:pt x="176196" y="10870055"/>
                  </a:lnTo>
                  <a:lnTo>
                    <a:pt x="176196" y="10886440"/>
                  </a:lnTo>
                  <a:cubicBezTo>
                    <a:pt x="78888" y="10886440"/>
                    <a:pt x="0" y="10794681"/>
                    <a:pt x="0" y="10681295"/>
                  </a:cubicBezTo>
                  <a:lnTo>
                    <a:pt x="0" y="205145"/>
                  </a:lnTo>
                  <a:lnTo>
                    <a:pt x="14062" y="205145"/>
                  </a:lnTo>
                  <a:lnTo>
                    <a:pt x="0" y="205145"/>
                  </a:lnTo>
                  <a:moveTo>
                    <a:pt x="28124" y="205145"/>
                  </a:moveTo>
                  <a:lnTo>
                    <a:pt x="28124" y="10681295"/>
                  </a:lnTo>
                  <a:lnTo>
                    <a:pt x="14062" y="10681295"/>
                  </a:lnTo>
                  <a:lnTo>
                    <a:pt x="28124" y="10681295"/>
                  </a:lnTo>
                  <a:cubicBezTo>
                    <a:pt x="28124" y="10776494"/>
                    <a:pt x="94356" y="10853669"/>
                    <a:pt x="176196" y="10853669"/>
                  </a:cubicBezTo>
                  <a:lnTo>
                    <a:pt x="11191491" y="10853669"/>
                  </a:lnTo>
                  <a:cubicBezTo>
                    <a:pt x="11273191" y="10853669"/>
                    <a:pt x="11339564" y="10776494"/>
                    <a:pt x="11339564" y="10681295"/>
                  </a:cubicBezTo>
                  <a:lnTo>
                    <a:pt x="11339564" y="205145"/>
                  </a:lnTo>
                  <a:cubicBezTo>
                    <a:pt x="11339564" y="109946"/>
                    <a:pt x="11273332" y="32771"/>
                    <a:pt x="11191491" y="32771"/>
                  </a:cubicBezTo>
                  <a:lnTo>
                    <a:pt x="176196" y="32771"/>
                  </a:lnTo>
                  <a:lnTo>
                    <a:pt x="176196" y="16385"/>
                  </a:lnTo>
                  <a:lnTo>
                    <a:pt x="176196" y="32771"/>
                  </a:lnTo>
                  <a:cubicBezTo>
                    <a:pt x="94356" y="32771"/>
                    <a:pt x="28124" y="109946"/>
                    <a:pt x="28124" y="205145"/>
                  </a:cubicBezTo>
                  <a:close/>
                </a:path>
              </a:pathLst>
            </a:custGeom>
            <a:solidFill>
              <a:srgbClr val="E2E8F0"/>
            </a:solidFill>
          </p:spPr>
        </p:sp>
      </p:grpSp>
      <p:grpSp>
        <p:nvGrpSpPr>
          <p:cNvPr name="Group 18" id="18"/>
          <p:cNvGrpSpPr/>
          <p:nvPr/>
        </p:nvGrpSpPr>
        <p:grpSpPr>
          <a:xfrm rot="0">
            <a:off x="8834499" y="1664970"/>
            <a:ext cx="227714" cy="8164830"/>
            <a:chOff x="0" y="0"/>
            <a:chExt cx="244856" cy="8779448"/>
          </a:xfrm>
        </p:grpSpPr>
        <p:sp>
          <p:nvSpPr>
            <p:cNvPr name="Freeform 19" id="19"/>
            <p:cNvSpPr/>
            <p:nvPr/>
          </p:nvSpPr>
          <p:spPr>
            <a:xfrm flipH="false" flipV="false" rot="0">
              <a:off x="12700" y="13214"/>
              <a:ext cx="219456" cy="8753021"/>
            </a:xfrm>
            <a:custGeom>
              <a:avLst/>
              <a:gdLst/>
              <a:ahLst/>
              <a:cxnLst/>
              <a:rect r="r" b="b" t="t" l="l"/>
              <a:pathLst>
                <a:path h="8753021" w="219456">
                  <a:moveTo>
                    <a:pt x="0" y="0"/>
                  </a:moveTo>
                  <a:lnTo>
                    <a:pt x="219456" y="0"/>
                  </a:lnTo>
                  <a:lnTo>
                    <a:pt x="219456" y="8753021"/>
                  </a:lnTo>
                  <a:lnTo>
                    <a:pt x="0" y="8753021"/>
                  </a:lnTo>
                  <a:close/>
                </a:path>
              </a:pathLst>
            </a:custGeom>
            <a:solidFill>
              <a:srgbClr val="10B981"/>
            </a:solidFill>
          </p:spPr>
        </p:sp>
        <p:sp>
          <p:nvSpPr>
            <p:cNvPr name="Freeform 20" id="20"/>
            <p:cNvSpPr/>
            <p:nvPr/>
          </p:nvSpPr>
          <p:spPr>
            <a:xfrm flipH="false" flipV="false" rot="0">
              <a:off x="0" y="0"/>
              <a:ext cx="244856" cy="8779449"/>
            </a:xfrm>
            <a:custGeom>
              <a:avLst/>
              <a:gdLst/>
              <a:ahLst/>
              <a:cxnLst/>
              <a:rect r="r" b="b" t="t" l="l"/>
              <a:pathLst>
                <a:path h="8779449" w="244856">
                  <a:moveTo>
                    <a:pt x="12700" y="0"/>
                  </a:moveTo>
                  <a:lnTo>
                    <a:pt x="232156" y="0"/>
                  </a:lnTo>
                  <a:cubicBezTo>
                    <a:pt x="239141" y="0"/>
                    <a:pt x="244856" y="5946"/>
                    <a:pt x="244856" y="13214"/>
                  </a:cubicBezTo>
                  <a:lnTo>
                    <a:pt x="244856" y="8766235"/>
                  </a:lnTo>
                  <a:cubicBezTo>
                    <a:pt x="244856" y="8773502"/>
                    <a:pt x="239141" y="8779449"/>
                    <a:pt x="232156" y="8779449"/>
                  </a:cubicBezTo>
                  <a:lnTo>
                    <a:pt x="12700" y="8779449"/>
                  </a:lnTo>
                  <a:cubicBezTo>
                    <a:pt x="5715" y="8779449"/>
                    <a:pt x="0" y="8773502"/>
                    <a:pt x="0" y="8766235"/>
                  </a:cubicBezTo>
                  <a:lnTo>
                    <a:pt x="0" y="13214"/>
                  </a:lnTo>
                  <a:cubicBezTo>
                    <a:pt x="0" y="5946"/>
                    <a:pt x="5715" y="0"/>
                    <a:pt x="12700" y="0"/>
                  </a:cubicBezTo>
                  <a:moveTo>
                    <a:pt x="12700" y="26428"/>
                  </a:moveTo>
                  <a:lnTo>
                    <a:pt x="12700" y="13214"/>
                  </a:lnTo>
                  <a:lnTo>
                    <a:pt x="25400" y="13214"/>
                  </a:lnTo>
                  <a:lnTo>
                    <a:pt x="25400" y="8766235"/>
                  </a:lnTo>
                  <a:lnTo>
                    <a:pt x="12700" y="8766235"/>
                  </a:lnTo>
                  <a:lnTo>
                    <a:pt x="12700" y="8753020"/>
                  </a:lnTo>
                  <a:lnTo>
                    <a:pt x="232156" y="8753020"/>
                  </a:lnTo>
                  <a:lnTo>
                    <a:pt x="232156" y="8766235"/>
                  </a:lnTo>
                  <a:lnTo>
                    <a:pt x="219456" y="8766235"/>
                  </a:lnTo>
                  <a:lnTo>
                    <a:pt x="219456" y="13214"/>
                  </a:lnTo>
                  <a:lnTo>
                    <a:pt x="232156" y="13214"/>
                  </a:lnTo>
                  <a:lnTo>
                    <a:pt x="232156" y="26428"/>
                  </a:lnTo>
                  <a:lnTo>
                    <a:pt x="12700" y="26428"/>
                  </a:lnTo>
                  <a:close/>
                </a:path>
              </a:pathLst>
            </a:custGeom>
            <a:solidFill>
              <a:srgbClr val="10B981"/>
            </a:solidFill>
          </p:spPr>
        </p:sp>
      </p:grpSp>
      <p:grpSp>
        <p:nvGrpSpPr>
          <p:cNvPr name="Group 21" id="21"/>
          <p:cNvGrpSpPr/>
          <p:nvPr/>
        </p:nvGrpSpPr>
        <p:grpSpPr>
          <a:xfrm rot="0">
            <a:off x="9462642" y="1836368"/>
            <a:ext cx="7269480" cy="384048"/>
            <a:chOff x="0" y="0"/>
            <a:chExt cx="9692640" cy="512064"/>
          </a:xfrm>
        </p:grpSpPr>
        <p:sp>
          <p:nvSpPr>
            <p:cNvPr name="Freeform 22" id="22"/>
            <p:cNvSpPr/>
            <p:nvPr/>
          </p:nvSpPr>
          <p:spPr>
            <a:xfrm flipH="false" flipV="false" rot="0">
              <a:off x="0" y="0"/>
              <a:ext cx="9692640" cy="512064"/>
            </a:xfrm>
            <a:custGeom>
              <a:avLst/>
              <a:gdLst/>
              <a:ahLst/>
              <a:cxnLst/>
              <a:rect r="r" b="b" t="t" l="l"/>
              <a:pathLst>
                <a:path h="512064" w="9692640">
                  <a:moveTo>
                    <a:pt x="0" y="0"/>
                  </a:moveTo>
                  <a:lnTo>
                    <a:pt x="9692640" y="0"/>
                  </a:lnTo>
                  <a:lnTo>
                    <a:pt x="9692640" y="512064"/>
                  </a:lnTo>
                  <a:lnTo>
                    <a:pt x="0" y="512064"/>
                  </a:lnTo>
                  <a:close/>
                </a:path>
              </a:pathLst>
            </a:custGeom>
            <a:blipFill>
              <a:blip r:embed="rId2">
                <a:alphaModFix amt="0"/>
              </a:blip>
              <a:stretch>
                <a:fillRect l="0" t="-318823" r="0" b="-318823"/>
              </a:stretch>
            </a:blipFill>
          </p:spPr>
        </p:sp>
        <p:sp>
          <p:nvSpPr>
            <p:cNvPr name="TextBox 23" id="23"/>
            <p:cNvSpPr txBox="true"/>
            <p:nvPr/>
          </p:nvSpPr>
          <p:spPr>
            <a:xfrm>
              <a:off x="0" y="0"/>
              <a:ext cx="9692640" cy="512064"/>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Luồng chạy của framework</a:t>
              </a:r>
            </a:p>
          </p:txBody>
        </p:sp>
      </p:grpSp>
      <p:grpSp>
        <p:nvGrpSpPr>
          <p:cNvPr name="Group 24" id="24"/>
          <p:cNvGrpSpPr/>
          <p:nvPr/>
        </p:nvGrpSpPr>
        <p:grpSpPr>
          <a:xfrm rot="0">
            <a:off x="9391619" y="2652541"/>
            <a:ext cx="7627494" cy="7267538"/>
            <a:chOff x="0" y="0"/>
            <a:chExt cx="10169992" cy="9690050"/>
          </a:xfrm>
        </p:grpSpPr>
        <p:sp>
          <p:nvSpPr>
            <p:cNvPr name="Freeform 25" id="25"/>
            <p:cNvSpPr/>
            <p:nvPr/>
          </p:nvSpPr>
          <p:spPr>
            <a:xfrm flipH="false" flipV="false" rot="0">
              <a:off x="0" y="0"/>
              <a:ext cx="10169992" cy="9690050"/>
            </a:xfrm>
            <a:custGeom>
              <a:avLst/>
              <a:gdLst/>
              <a:ahLst/>
              <a:cxnLst/>
              <a:rect r="r" b="b" t="t" l="l"/>
              <a:pathLst>
                <a:path h="9690050" w="10169992">
                  <a:moveTo>
                    <a:pt x="0" y="0"/>
                  </a:moveTo>
                  <a:lnTo>
                    <a:pt x="10169992" y="0"/>
                  </a:lnTo>
                  <a:lnTo>
                    <a:pt x="10169992" y="9690050"/>
                  </a:lnTo>
                  <a:lnTo>
                    <a:pt x="0" y="9690050"/>
                  </a:lnTo>
                  <a:close/>
                </a:path>
              </a:pathLst>
            </a:custGeom>
            <a:blipFill>
              <a:blip r:embed="rId2">
                <a:alphaModFix amt="0"/>
              </a:blip>
              <a:stretch>
                <a:fillRect l="-45455" t="0" r="-40042" b="24130"/>
              </a:stretch>
            </a:blipFill>
          </p:spPr>
        </p:sp>
        <p:sp>
          <p:nvSpPr>
            <p:cNvPr name="TextBox 26" id="26"/>
            <p:cNvSpPr txBox="true"/>
            <p:nvPr/>
          </p:nvSpPr>
          <p:spPr>
            <a:xfrm>
              <a:off x="0" y="0"/>
              <a:ext cx="10169992" cy="9690050"/>
            </a:xfrm>
            <a:prstGeom prst="rect">
              <a:avLst/>
            </a:prstGeom>
          </p:spPr>
          <p:txBody>
            <a:bodyPr anchor="ctr" rtlCol="false" tIns="0" lIns="0" bIns="0" rIns="0"/>
            <a:lstStyle/>
            <a:p>
              <a:pPr algn="l">
                <a:lnSpc>
                  <a:spcPts val="2160"/>
                </a:lnSpc>
              </a:pPr>
              <a:r>
                <a:rPr lang="en-US" sz="1800">
                  <a:solidFill>
                    <a:srgbClr val="000000"/>
                  </a:solidFill>
                  <a:latin typeface="Aptos"/>
                  <a:ea typeface="Aptos"/>
                  <a:cs typeface="Aptos"/>
                  <a:sym typeface="Aptos"/>
                </a:rPr>
                <a:t>1. Kiến trúc Framework &amp; Công nghệ</a:t>
              </a:r>
            </a:p>
            <a:p>
              <a:pPr algn="l" marL="388620" indent="-194310" lvl="1">
                <a:lnSpc>
                  <a:spcPts val="2160"/>
                </a:lnSpc>
                <a:buFont typeface="Arial"/>
                <a:buChar char="•"/>
              </a:pPr>
              <a:r>
                <a:rPr lang="en-US" sz="1800">
                  <a:solidFill>
                    <a:srgbClr val="000000"/>
                  </a:solidFill>
                  <a:latin typeface="Aptos"/>
                  <a:ea typeface="Aptos"/>
                  <a:cs typeface="Aptos"/>
                  <a:sym typeface="Aptos"/>
                </a:rPr>
                <a:t>Nền tảng lõi: Sử dụng Java, Selenium WebDriver (tương tác trực tiếp với DOM để trích xuất text/CSS) và JUnit 5 (hỗ trợ Data-Driven Testing qua @ParameterizedTest).</a:t>
              </a:r>
            </a:p>
            <a:p>
              <a:pPr algn="l" marL="388620" indent="-194310" lvl="1">
                <a:lnSpc>
                  <a:spcPts val="2160"/>
                </a:lnSpc>
                <a:buFont typeface="Arial"/>
                <a:buChar char="•"/>
              </a:pPr>
              <a:r>
                <a:rPr lang="en-US" sz="1800">
                  <a:solidFill>
                    <a:srgbClr val="000000"/>
                  </a:solidFill>
                  <a:latin typeface="Aptos"/>
                  <a:ea typeface="Aptos"/>
                  <a:cs typeface="Aptos"/>
                  <a:sym typeface="Aptos"/>
                </a:rPr>
                <a:t>Design Patterns: * Áp dụng Strategy Pattern (tạo các lớp EnglishStrategy, VietnameseStrategy...) để định nghĩa quy tắc riêng cho từng ngôn ngữ. Đảm bảo nguyên tắc: "Viết test 1 lần, chạy cho mọi ngôn ngữ".</a:t>
              </a:r>
            </a:p>
            <a:p>
              <a:pPr algn="l" marL="777240" indent="-259080" lvl="2">
                <a:lnSpc>
                  <a:spcPts val="2160"/>
                </a:lnSpc>
                <a:buFont typeface="Arial"/>
                <a:buChar char="⚬"/>
              </a:pPr>
              <a:r>
                <a:rPr lang="en-US" sz="1800">
                  <a:solidFill>
                    <a:srgbClr val="000000"/>
                  </a:solidFill>
                  <a:latin typeface="Aptos"/>
                  <a:ea typeface="Aptos"/>
                  <a:cs typeface="Aptos"/>
                  <a:sym typeface="Aptos"/>
                </a:rPr>
                <a:t>Sử dụng Page Object Model (POM) để tách biệt logic tương tác UI khỏi logic kiểm thử, giúp code dễ bảo trì (Clean Code).</a:t>
              </a:r>
            </a:p>
            <a:p>
              <a:pPr algn="l">
                <a:lnSpc>
                  <a:spcPts val="2160"/>
                </a:lnSpc>
              </a:pPr>
            </a:p>
            <a:p>
              <a:pPr algn="l">
                <a:lnSpc>
                  <a:spcPts val="2160"/>
                </a:lnSpc>
              </a:pPr>
              <a:r>
                <a:rPr lang="en-US" sz="1800">
                  <a:solidFill>
                    <a:srgbClr val="000000"/>
                  </a:solidFill>
                  <a:latin typeface="Aptos"/>
                  <a:ea typeface="Aptos"/>
                  <a:cs typeface="Aptos"/>
                  <a:sym typeface="Aptos"/>
                </a:rPr>
                <a:t>2. Xử lý Logic &amp; Tối ưu hóa</a:t>
              </a:r>
            </a:p>
            <a:p>
              <a:pPr algn="l" marL="388620" indent="-194310" lvl="1">
                <a:lnSpc>
                  <a:spcPts val="2160"/>
                </a:lnSpc>
                <a:buFont typeface="Arial"/>
                <a:buChar char="•"/>
              </a:pPr>
              <a:r>
                <a:rPr lang="en-US" sz="1800">
                  <a:solidFill>
                    <a:srgbClr val="000000"/>
                  </a:solidFill>
                  <a:latin typeface="Aptos"/>
                  <a:ea typeface="Aptos"/>
                  <a:cs typeface="Aptos"/>
                  <a:sym typeface="Aptos"/>
                </a:rPr>
                <a:t>Trạng thái động (Dynamic Waits): Từ bỏ lệnh Thread.sleep() cứng nhắc, thay bằng WebDriverWait (Explicit Wait) để linh hoạt xử lý tình trạng mạng chập chờn, tránh lỗi Timeout (Flaky tests).</a:t>
              </a:r>
            </a:p>
            <a:p>
              <a:pPr algn="l" marL="388620" indent="-194310" lvl="1">
                <a:lnSpc>
                  <a:spcPts val="2160"/>
                </a:lnSpc>
                <a:buFont typeface="Arial"/>
                <a:buChar char="•"/>
              </a:pPr>
              <a:r>
                <a:rPr lang="en-US" sz="1800">
                  <a:solidFill>
                    <a:srgbClr val="000000"/>
                  </a:solidFill>
                  <a:latin typeface="Aptos"/>
                  <a:ea typeface="Aptos"/>
                  <a:cs typeface="Aptos"/>
                  <a:sym typeface="Aptos"/>
                </a:rPr>
                <a:t>Kiểm tra UI bằng JavaScript: Chèn mã JS qua Selenium để đo lường chính xác tọa độ và kích thước phần tử (scrollWidth vs offsetWidth), phát hiện lỗi tràn văn bản dù chỉ lệch vài pixel.</a:t>
              </a:r>
            </a:p>
            <a:p>
              <a:pPr algn="l" marL="388620" indent="-194310" lvl="1">
                <a:lnSpc>
                  <a:spcPts val="2160"/>
                </a:lnSpc>
                <a:buFont typeface="Arial"/>
                <a:buChar char="•"/>
              </a:pPr>
              <a:r>
                <a:rPr lang="en-US" sz="1800">
                  <a:solidFill>
                    <a:srgbClr val="000000"/>
                  </a:solidFill>
                  <a:latin typeface="Aptos"/>
                  <a:ea typeface="Aptos"/>
                  <a:cs typeface="Aptos"/>
                  <a:sym typeface="Aptos"/>
                </a:rPr>
                <a:t>Tốc độ thực thi: Hoàn thành toàn bộ 24 kịch bản Test Case phức tạp chỉ trong ~1 phút 20 giây.</a:t>
              </a:r>
            </a:p>
            <a:p>
              <a:pPr algn="l">
                <a:lnSpc>
                  <a:spcPts val="2160"/>
                </a:lnSpc>
              </a:pPr>
            </a:p>
            <a:p>
              <a:pPr algn="l">
                <a:lnSpc>
                  <a:spcPts val="2160"/>
                </a:lnSpc>
              </a:pPr>
              <a:r>
                <a:rPr lang="en-US" sz="1800">
                  <a:solidFill>
                    <a:srgbClr val="000000"/>
                  </a:solidFill>
                  <a:latin typeface="Aptos"/>
                  <a:ea typeface="Aptos"/>
                  <a:cs typeface="Aptos"/>
                  <a:sym typeface="Aptos"/>
                </a:rPr>
                <a:t>3. Cơ chế tự động lưu bằng chứng (Evidence Auto-Capture)</a:t>
              </a:r>
            </a:p>
            <a:p>
              <a:pPr algn="l" marL="388620" indent="-194310" lvl="1">
                <a:lnSpc>
                  <a:spcPts val="2160"/>
                </a:lnSpc>
                <a:buFont typeface="Arial"/>
                <a:buChar char="•"/>
              </a:pPr>
              <a:r>
                <a:rPr lang="en-US" sz="1800">
                  <a:solidFill>
                    <a:srgbClr val="000000"/>
                  </a:solidFill>
                  <a:latin typeface="Aptos"/>
                  <a:ea typeface="Aptos"/>
                  <a:cs typeface="Aptos"/>
                  <a:sym typeface="Aptos"/>
                </a:rPr>
                <a:t>Hệ thống được lập trình tự động kích hoạt hàm chụp ảnh màn hình (Screenshot) bất cứ khi nào Validator phát hiện giao diện bị lỗi (Ví dụ: sai tiền tệ, rớt thẻ RTL, dính từ khóa tiếng Anh).</a:t>
              </a:r>
            </a:p>
            <a:p>
              <a:pPr algn="l" marL="388620" indent="-194310" lvl="1">
                <a:lnSpc>
                  <a:spcPts val="2160"/>
                </a:lnSpc>
                <a:buFont typeface="Arial"/>
                <a:buChar char="•"/>
              </a:pPr>
              <a:r>
                <a:rPr lang="en-US" sz="1800">
                  <a:solidFill>
                    <a:srgbClr val="000000"/>
                  </a:solidFill>
                  <a:latin typeface="Aptos"/>
                  <a:ea typeface="Aptos"/>
                  <a:cs typeface="Aptos"/>
                  <a:sym typeface="Aptos"/>
                </a:rPr>
                <a:t>Ảnh lỗi được lưu lại tự động kèm Timestamp và mã Locale để QA dễ dàng truy vết (Traceability).</a:t>
              </a:r>
            </a:p>
            <a:p>
              <a:pPr algn="l">
                <a:lnSpc>
                  <a:spcPts val="2160"/>
                </a:lnSpc>
              </a:pPr>
            </a:p>
          </p:txBody>
        </p:sp>
      </p:grpSp>
      <p:sp>
        <p:nvSpPr>
          <p:cNvPr name="TextBox 27" id="27"/>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Các test case </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Test case</a:t>
              </a:r>
            </a:p>
          </p:txBody>
        </p:sp>
      </p:grpSp>
      <p:sp>
        <p:nvSpPr>
          <p:cNvPr name="Freeform 14" id="14"/>
          <p:cNvSpPr/>
          <p:nvPr/>
        </p:nvSpPr>
        <p:spPr>
          <a:xfrm flipH="false" flipV="false" rot="0">
            <a:off x="386877" y="1584964"/>
            <a:ext cx="17105595" cy="7291260"/>
          </a:xfrm>
          <a:custGeom>
            <a:avLst/>
            <a:gdLst/>
            <a:ahLst/>
            <a:cxnLst/>
            <a:rect r="r" b="b" t="t" l="l"/>
            <a:pathLst>
              <a:path h="7291260" w="17105595">
                <a:moveTo>
                  <a:pt x="0" y="0"/>
                </a:moveTo>
                <a:lnTo>
                  <a:pt x="17105595" y="0"/>
                </a:lnTo>
                <a:lnTo>
                  <a:pt x="17105595" y="7291259"/>
                </a:lnTo>
                <a:lnTo>
                  <a:pt x="0" y="7291259"/>
                </a:lnTo>
                <a:lnTo>
                  <a:pt x="0" y="0"/>
                </a:lnTo>
                <a:close/>
              </a:path>
            </a:pathLst>
          </a:custGeom>
          <a:blipFill>
            <a:blip r:embed="rId3"/>
            <a:stretch>
              <a:fillRect l="0" t="0" r="0" b="0"/>
            </a:stretch>
          </a:blipFill>
        </p:spPr>
      </p:sp>
      <p:sp>
        <p:nvSpPr>
          <p:cNvPr name="TextBox 15" id="15"/>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Kết quả kiểm thử </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Kết quả</a:t>
              </a:r>
            </a:p>
          </p:txBody>
        </p:sp>
      </p:grpSp>
      <p:grpSp>
        <p:nvGrpSpPr>
          <p:cNvPr name="Group 14" id="14"/>
          <p:cNvGrpSpPr/>
          <p:nvPr/>
        </p:nvGrpSpPr>
        <p:grpSpPr>
          <a:xfrm rot="0">
            <a:off x="7814592" y="1473898"/>
            <a:ext cx="2350770" cy="1390650"/>
            <a:chOff x="0" y="0"/>
            <a:chExt cx="3134360" cy="1854200"/>
          </a:xfrm>
        </p:grpSpPr>
        <p:sp>
          <p:nvSpPr>
            <p:cNvPr name="Freeform 15" id="15"/>
            <p:cNvSpPr/>
            <p:nvPr/>
          </p:nvSpPr>
          <p:spPr>
            <a:xfrm flipH="false" flipV="false" rot="0">
              <a:off x="12700" y="12700"/>
              <a:ext cx="3108960" cy="1828800"/>
            </a:xfrm>
            <a:custGeom>
              <a:avLst/>
              <a:gdLst/>
              <a:ahLst/>
              <a:cxnLst/>
              <a:rect r="r" b="b" t="t" l="l"/>
              <a:pathLst>
                <a:path h="1828800" w="3108960">
                  <a:moveTo>
                    <a:pt x="0" y="146304"/>
                  </a:moveTo>
                  <a:cubicBezTo>
                    <a:pt x="0" y="65532"/>
                    <a:pt x="65913" y="0"/>
                    <a:pt x="147193" y="0"/>
                  </a:cubicBezTo>
                  <a:lnTo>
                    <a:pt x="2961767" y="0"/>
                  </a:lnTo>
                  <a:cubicBezTo>
                    <a:pt x="3043047" y="0"/>
                    <a:pt x="3108960" y="65532"/>
                    <a:pt x="3108960" y="146304"/>
                  </a:cubicBezTo>
                  <a:lnTo>
                    <a:pt x="3108960" y="1682496"/>
                  </a:lnTo>
                  <a:cubicBezTo>
                    <a:pt x="3108960" y="1763268"/>
                    <a:pt x="3043047" y="1828800"/>
                    <a:pt x="2961767" y="1828800"/>
                  </a:cubicBezTo>
                  <a:lnTo>
                    <a:pt x="147193" y="1828800"/>
                  </a:lnTo>
                  <a:cubicBezTo>
                    <a:pt x="65913" y="1828800"/>
                    <a:pt x="0" y="1763268"/>
                    <a:pt x="0" y="1682496"/>
                  </a:cubicBezTo>
                  <a:close/>
                </a:path>
              </a:pathLst>
            </a:custGeom>
            <a:solidFill>
              <a:srgbClr val="FFFFFF"/>
            </a:solidFill>
          </p:spPr>
        </p:sp>
        <p:sp>
          <p:nvSpPr>
            <p:cNvPr name="Freeform 16" id="16"/>
            <p:cNvSpPr/>
            <p:nvPr/>
          </p:nvSpPr>
          <p:spPr>
            <a:xfrm flipH="false" flipV="false" rot="0">
              <a:off x="0" y="0"/>
              <a:ext cx="3134360" cy="1854200"/>
            </a:xfrm>
            <a:custGeom>
              <a:avLst/>
              <a:gdLst/>
              <a:ahLst/>
              <a:cxnLst/>
              <a:rect r="r" b="b" t="t" l="l"/>
              <a:pathLst>
                <a:path h="1854200" w="3134360">
                  <a:moveTo>
                    <a:pt x="0" y="159004"/>
                  </a:moveTo>
                  <a:cubicBezTo>
                    <a:pt x="0" y="71120"/>
                    <a:pt x="71628" y="0"/>
                    <a:pt x="159893" y="0"/>
                  </a:cubicBezTo>
                  <a:lnTo>
                    <a:pt x="2974467" y="0"/>
                  </a:lnTo>
                  <a:lnTo>
                    <a:pt x="2974467" y="12700"/>
                  </a:lnTo>
                  <a:lnTo>
                    <a:pt x="2974467" y="0"/>
                  </a:lnTo>
                  <a:cubicBezTo>
                    <a:pt x="3062732" y="0"/>
                    <a:pt x="3134360" y="71120"/>
                    <a:pt x="3134360" y="159004"/>
                  </a:cubicBezTo>
                  <a:lnTo>
                    <a:pt x="3121660" y="159004"/>
                  </a:lnTo>
                  <a:lnTo>
                    <a:pt x="3134360" y="159004"/>
                  </a:lnTo>
                  <a:lnTo>
                    <a:pt x="3134360" y="1695196"/>
                  </a:lnTo>
                  <a:lnTo>
                    <a:pt x="3121660" y="1695196"/>
                  </a:lnTo>
                  <a:lnTo>
                    <a:pt x="3134360" y="1695196"/>
                  </a:lnTo>
                  <a:cubicBezTo>
                    <a:pt x="3134360" y="1783080"/>
                    <a:pt x="3062732" y="1854200"/>
                    <a:pt x="2974467" y="1854200"/>
                  </a:cubicBezTo>
                  <a:lnTo>
                    <a:pt x="2974467" y="1841500"/>
                  </a:lnTo>
                  <a:lnTo>
                    <a:pt x="2974467" y="1854200"/>
                  </a:lnTo>
                  <a:lnTo>
                    <a:pt x="159893" y="1854200"/>
                  </a:lnTo>
                  <a:lnTo>
                    <a:pt x="159893" y="1841500"/>
                  </a:lnTo>
                  <a:lnTo>
                    <a:pt x="159893" y="1854200"/>
                  </a:lnTo>
                  <a:cubicBezTo>
                    <a:pt x="71628" y="1854200"/>
                    <a:pt x="0" y="1783080"/>
                    <a:pt x="0" y="1695196"/>
                  </a:cubicBezTo>
                  <a:lnTo>
                    <a:pt x="0" y="159004"/>
                  </a:lnTo>
                  <a:lnTo>
                    <a:pt x="12700" y="159004"/>
                  </a:lnTo>
                  <a:lnTo>
                    <a:pt x="0" y="159004"/>
                  </a:lnTo>
                  <a:moveTo>
                    <a:pt x="25400" y="159004"/>
                  </a:moveTo>
                  <a:lnTo>
                    <a:pt x="25400" y="1695196"/>
                  </a:lnTo>
                  <a:lnTo>
                    <a:pt x="12700" y="1695196"/>
                  </a:lnTo>
                  <a:lnTo>
                    <a:pt x="25400" y="1695196"/>
                  </a:lnTo>
                  <a:cubicBezTo>
                    <a:pt x="25400" y="1768856"/>
                    <a:pt x="85471" y="1828800"/>
                    <a:pt x="159893" y="1828800"/>
                  </a:cubicBezTo>
                  <a:lnTo>
                    <a:pt x="2974467" y="1828800"/>
                  </a:lnTo>
                  <a:cubicBezTo>
                    <a:pt x="3048762" y="1828800"/>
                    <a:pt x="3108960" y="1768856"/>
                    <a:pt x="3108960" y="1695196"/>
                  </a:cubicBezTo>
                  <a:lnTo>
                    <a:pt x="3108960" y="159004"/>
                  </a:lnTo>
                  <a:cubicBezTo>
                    <a:pt x="3108960" y="85344"/>
                    <a:pt x="3048889" y="25400"/>
                    <a:pt x="2974467" y="25400"/>
                  </a:cubicBezTo>
                  <a:lnTo>
                    <a:pt x="159893" y="25400"/>
                  </a:lnTo>
                  <a:lnTo>
                    <a:pt x="159893" y="12700"/>
                  </a:lnTo>
                  <a:lnTo>
                    <a:pt x="159893" y="25400"/>
                  </a:lnTo>
                  <a:cubicBezTo>
                    <a:pt x="85471" y="25400"/>
                    <a:pt x="25400" y="85344"/>
                    <a:pt x="25400" y="159004"/>
                  </a:cubicBezTo>
                  <a:close/>
                </a:path>
              </a:pathLst>
            </a:custGeom>
            <a:solidFill>
              <a:srgbClr val="E2E8F0"/>
            </a:solidFill>
          </p:spPr>
        </p:sp>
      </p:grpSp>
      <p:grpSp>
        <p:nvGrpSpPr>
          <p:cNvPr name="Group 17" id="17"/>
          <p:cNvGrpSpPr/>
          <p:nvPr/>
        </p:nvGrpSpPr>
        <p:grpSpPr>
          <a:xfrm rot="0">
            <a:off x="8016141" y="1648015"/>
            <a:ext cx="2002536" cy="521208"/>
            <a:chOff x="0" y="0"/>
            <a:chExt cx="2670048" cy="694944"/>
          </a:xfrm>
        </p:grpSpPr>
        <p:sp>
          <p:nvSpPr>
            <p:cNvPr name="Freeform 18" id="18"/>
            <p:cNvSpPr/>
            <p:nvPr/>
          </p:nvSpPr>
          <p:spPr>
            <a:xfrm flipH="false" flipV="false" rot="0">
              <a:off x="0" y="0"/>
              <a:ext cx="2670048" cy="694944"/>
            </a:xfrm>
            <a:custGeom>
              <a:avLst/>
              <a:gdLst/>
              <a:ahLst/>
              <a:cxnLst/>
              <a:rect r="r" b="b" t="t" l="l"/>
              <a:pathLst>
                <a:path h="694944" w="2670048">
                  <a:moveTo>
                    <a:pt x="0" y="0"/>
                  </a:moveTo>
                  <a:lnTo>
                    <a:pt x="2670048" y="0"/>
                  </a:lnTo>
                  <a:lnTo>
                    <a:pt x="2670048" y="694944"/>
                  </a:lnTo>
                  <a:lnTo>
                    <a:pt x="0" y="694944"/>
                  </a:lnTo>
                  <a:close/>
                </a:path>
              </a:pathLst>
            </a:custGeom>
            <a:blipFill>
              <a:blip r:embed="rId2">
                <a:alphaModFix amt="0"/>
              </a:blip>
              <a:stretch>
                <a:fillRect l="0" t="-24863" r="0" b="-24863"/>
              </a:stretch>
            </a:blipFill>
          </p:spPr>
        </p:sp>
        <p:sp>
          <p:nvSpPr>
            <p:cNvPr name="TextBox 19" id="19"/>
            <p:cNvSpPr txBox="true"/>
            <p:nvPr/>
          </p:nvSpPr>
          <p:spPr>
            <a:xfrm>
              <a:off x="0" y="0"/>
              <a:ext cx="2670048" cy="694944"/>
            </a:xfrm>
            <a:prstGeom prst="rect">
              <a:avLst/>
            </a:prstGeom>
          </p:spPr>
          <p:txBody>
            <a:bodyPr anchor="ctr" rtlCol="false" tIns="0" lIns="0" bIns="0" rIns="0"/>
            <a:lstStyle/>
            <a:p>
              <a:pPr algn="ctr">
                <a:lnSpc>
                  <a:spcPts val="4320"/>
                </a:lnSpc>
              </a:pPr>
              <a:r>
                <a:rPr lang="en-US" sz="3600" b="true">
                  <a:solidFill>
                    <a:srgbClr val="10B981"/>
                  </a:solidFill>
                  <a:latin typeface="Aptos Bold"/>
                  <a:ea typeface="Aptos Bold"/>
                  <a:cs typeface="Aptos Bold"/>
                  <a:sym typeface="Aptos Bold"/>
                </a:rPr>
                <a:t>12</a:t>
              </a:r>
            </a:p>
          </p:txBody>
        </p:sp>
      </p:grpSp>
      <p:grpSp>
        <p:nvGrpSpPr>
          <p:cNvPr name="Group 20" id="20"/>
          <p:cNvGrpSpPr/>
          <p:nvPr/>
        </p:nvGrpSpPr>
        <p:grpSpPr>
          <a:xfrm rot="0">
            <a:off x="7909080" y="2396395"/>
            <a:ext cx="2057400" cy="246888"/>
            <a:chOff x="0" y="0"/>
            <a:chExt cx="2743200" cy="329184"/>
          </a:xfrm>
        </p:grpSpPr>
        <p:sp>
          <p:nvSpPr>
            <p:cNvPr name="Freeform 21" id="21"/>
            <p:cNvSpPr/>
            <p:nvPr/>
          </p:nvSpPr>
          <p:spPr>
            <a:xfrm flipH="false" flipV="false" rot="0">
              <a:off x="0" y="0"/>
              <a:ext cx="2743200" cy="329184"/>
            </a:xfrm>
            <a:custGeom>
              <a:avLst/>
              <a:gdLst/>
              <a:ahLst/>
              <a:cxnLst/>
              <a:rect r="r" b="b" t="t" l="l"/>
              <a:pathLst>
                <a:path h="329184" w="2743200">
                  <a:moveTo>
                    <a:pt x="0" y="0"/>
                  </a:moveTo>
                  <a:lnTo>
                    <a:pt x="2743200" y="0"/>
                  </a:lnTo>
                  <a:lnTo>
                    <a:pt x="2743200" y="329184"/>
                  </a:lnTo>
                  <a:lnTo>
                    <a:pt x="0" y="329184"/>
                  </a:lnTo>
                  <a:close/>
                </a:path>
              </a:pathLst>
            </a:custGeom>
            <a:blipFill>
              <a:blip r:embed="rId2">
                <a:alphaModFix amt="0"/>
              </a:blip>
              <a:stretch>
                <a:fillRect l="0" t="-112375" r="0" b="-112375"/>
              </a:stretch>
            </a:blipFill>
          </p:spPr>
        </p:sp>
        <p:sp>
          <p:nvSpPr>
            <p:cNvPr name="TextBox 22" id="22"/>
            <p:cNvSpPr txBox="true"/>
            <p:nvPr/>
          </p:nvSpPr>
          <p:spPr>
            <a:xfrm>
              <a:off x="0" y="0"/>
              <a:ext cx="2743200" cy="329184"/>
            </a:xfrm>
            <a:prstGeom prst="rect">
              <a:avLst/>
            </a:prstGeom>
          </p:spPr>
          <p:txBody>
            <a:bodyPr anchor="ctr" rtlCol="false" tIns="0" lIns="0" bIns="0" rIns="0"/>
            <a:lstStyle/>
            <a:p>
              <a:pPr algn="ctr">
                <a:lnSpc>
                  <a:spcPts val="1889"/>
                </a:lnSpc>
              </a:pPr>
              <a:r>
                <a:rPr lang="en-US" sz="1575" b="true">
                  <a:solidFill>
                    <a:srgbClr val="475569"/>
                  </a:solidFill>
                  <a:latin typeface="Aptos Bold"/>
                  <a:ea typeface="Aptos Bold"/>
                  <a:cs typeface="Aptos Bold"/>
                  <a:sym typeface="Aptos Bold"/>
                </a:rPr>
                <a:t>PASS</a:t>
              </a:r>
            </a:p>
          </p:txBody>
        </p:sp>
      </p:grpSp>
      <p:grpSp>
        <p:nvGrpSpPr>
          <p:cNvPr name="Group 23" id="23"/>
          <p:cNvGrpSpPr/>
          <p:nvPr/>
        </p:nvGrpSpPr>
        <p:grpSpPr>
          <a:xfrm rot="0">
            <a:off x="10520073" y="1522095"/>
            <a:ext cx="2350770" cy="1390650"/>
            <a:chOff x="0" y="0"/>
            <a:chExt cx="3134360" cy="1854200"/>
          </a:xfrm>
        </p:grpSpPr>
        <p:sp>
          <p:nvSpPr>
            <p:cNvPr name="Freeform 24" id="24"/>
            <p:cNvSpPr/>
            <p:nvPr/>
          </p:nvSpPr>
          <p:spPr>
            <a:xfrm flipH="false" flipV="false" rot="0">
              <a:off x="12700" y="12700"/>
              <a:ext cx="3108960" cy="1828800"/>
            </a:xfrm>
            <a:custGeom>
              <a:avLst/>
              <a:gdLst/>
              <a:ahLst/>
              <a:cxnLst/>
              <a:rect r="r" b="b" t="t" l="l"/>
              <a:pathLst>
                <a:path h="1828800" w="3108960">
                  <a:moveTo>
                    <a:pt x="0" y="146304"/>
                  </a:moveTo>
                  <a:cubicBezTo>
                    <a:pt x="0" y="65532"/>
                    <a:pt x="65913" y="0"/>
                    <a:pt x="147193" y="0"/>
                  </a:cubicBezTo>
                  <a:lnTo>
                    <a:pt x="2961767" y="0"/>
                  </a:lnTo>
                  <a:cubicBezTo>
                    <a:pt x="3043047" y="0"/>
                    <a:pt x="3108960" y="65532"/>
                    <a:pt x="3108960" y="146304"/>
                  </a:cubicBezTo>
                  <a:lnTo>
                    <a:pt x="3108960" y="1682496"/>
                  </a:lnTo>
                  <a:cubicBezTo>
                    <a:pt x="3108960" y="1763268"/>
                    <a:pt x="3043047" y="1828800"/>
                    <a:pt x="2961767" y="1828800"/>
                  </a:cubicBezTo>
                  <a:lnTo>
                    <a:pt x="147193" y="1828800"/>
                  </a:lnTo>
                  <a:cubicBezTo>
                    <a:pt x="65913" y="1828800"/>
                    <a:pt x="0" y="1763268"/>
                    <a:pt x="0" y="1682496"/>
                  </a:cubicBezTo>
                  <a:close/>
                </a:path>
              </a:pathLst>
            </a:custGeom>
            <a:solidFill>
              <a:srgbClr val="FFFFFF"/>
            </a:solidFill>
          </p:spPr>
        </p:sp>
        <p:sp>
          <p:nvSpPr>
            <p:cNvPr name="Freeform 25" id="25"/>
            <p:cNvSpPr/>
            <p:nvPr/>
          </p:nvSpPr>
          <p:spPr>
            <a:xfrm flipH="false" flipV="false" rot="0">
              <a:off x="0" y="0"/>
              <a:ext cx="3134360" cy="1854200"/>
            </a:xfrm>
            <a:custGeom>
              <a:avLst/>
              <a:gdLst/>
              <a:ahLst/>
              <a:cxnLst/>
              <a:rect r="r" b="b" t="t" l="l"/>
              <a:pathLst>
                <a:path h="1854200" w="3134360">
                  <a:moveTo>
                    <a:pt x="0" y="159004"/>
                  </a:moveTo>
                  <a:cubicBezTo>
                    <a:pt x="0" y="71120"/>
                    <a:pt x="71628" y="0"/>
                    <a:pt x="159893" y="0"/>
                  </a:cubicBezTo>
                  <a:lnTo>
                    <a:pt x="2974467" y="0"/>
                  </a:lnTo>
                  <a:lnTo>
                    <a:pt x="2974467" y="12700"/>
                  </a:lnTo>
                  <a:lnTo>
                    <a:pt x="2974467" y="0"/>
                  </a:lnTo>
                  <a:cubicBezTo>
                    <a:pt x="3062732" y="0"/>
                    <a:pt x="3134360" y="71120"/>
                    <a:pt x="3134360" y="159004"/>
                  </a:cubicBezTo>
                  <a:lnTo>
                    <a:pt x="3121660" y="159004"/>
                  </a:lnTo>
                  <a:lnTo>
                    <a:pt x="3134360" y="159004"/>
                  </a:lnTo>
                  <a:lnTo>
                    <a:pt x="3134360" y="1695196"/>
                  </a:lnTo>
                  <a:lnTo>
                    <a:pt x="3121660" y="1695196"/>
                  </a:lnTo>
                  <a:lnTo>
                    <a:pt x="3134360" y="1695196"/>
                  </a:lnTo>
                  <a:cubicBezTo>
                    <a:pt x="3134360" y="1783080"/>
                    <a:pt x="3062732" y="1854200"/>
                    <a:pt x="2974467" y="1854200"/>
                  </a:cubicBezTo>
                  <a:lnTo>
                    <a:pt x="2974467" y="1841500"/>
                  </a:lnTo>
                  <a:lnTo>
                    <a:pt x="2974467" y="1854200"/>
                  </a:lnTo>
                  <a:lnTo>
                    <a:pt x="159893" y="1854200"/>
                  </a:lnTo>
                  <a:lnTo>
                    <a:pt x="159893" y="1841500"/>
                  </a:lnTo>
                  <a:lnTo>
                    <a:pt x="159893" y="1854200"/>
                  </a:lnTo>
                  <a:cubicBezTo>
                    <a:pt x="71628" y="1854200"/>
                    <a:pt x="0" y="1783080"/>
                    <a:pt x="0" y="1695196"/>
                  </a:cubicBezTo>
                  <a:lnTo>
                    <a:pt x="0" y="159004"/>
                  </a:lnTo>
                  <a:lnTo>
                    <a:pt x="12700" y="159004"/>
                  </a:lnTo>
                  <a:lnTo>
                    <a:pt x="0" y="159004"/>
                  </a:lnTo>
                  <a:moveTo>
                    <a:pt x="25400" y="159004"/>
                  </a:moveTo>
                  <a:lnTo>
                    <a:pt x="25400" y="1695196"/>
                  </a:lnTo>
                  <a:lnTo>
                    <a:pt x="12700" y="1695196"/>
                  </a:lnTo>
                  <a:lnTo>
                    <a:pt x="25400" y="1695196"/>
                  </a:lnTo>
                  <a:cubicBezTo>
                    <a:pt x="25400" y="1768856"/>
                    <a:pt x="85471" y="1828800"/>
                    <a:pt x="159893" y="1828800"/>
                  </a:cubicBezTo>
                  <a:lnTo>
                    <a:pt x="2974467" y="1828800"/>
                  </a:lnTo>
                  <a:cubicBezTo>
                    <a:pt x="3048762" y="1828800"/>
                    <a:pt x="3108960" y="1768856"/>
                    <a:pt x="3108960" y="1695196"/>
                  </a:cubicBezTo>
                  <a:lnTo>
                    <a:pt x="3108960" y="159004"/>
                  </a:lnTo>
                  <a:cubicBezTo>
                    <a:pt x="3108960" y="85344"/>
                    <a:pt x="3048889" y="25400"/>
                    <a:pt x="2974467" y="25400"/>
                  </a:cubicBezTo>
                  <a:lnTo>
                    <a:pt x="159893" y="25400"/>
                  </a:lnTo>
                  <a:lnTo>
                    <a:pt x="159893" y="12700"/>
                  </a:lnTo>
                  <a:lnTo>
                    <a:pt x="159893" y="25400"/>
                  </a:lnTo>
                  <a:cubicBezTo>
                    <a:pt x="85471" y="25400"/>
                    <a:pt x="25400" y="85344"/>
                    <a:pt x="25400" y="159004"/>
                  </a:cubicBezTo>
                  <a:close/>
                </a:path>
              </a:pathLst>
            </a:custGeom>
            <a:solidFill>
              <a:srgbClr val="E2E8F0"/>
            </a:solidFill>
          </p:spPr>
        </p:sp>
      </p:grpSp>
      <p:grpSp>
        <p:nvGrpSpPr>
          <p:cNvPr name="Group 26" id="26"/>
          <p:cNvGrpSpPr/>
          <p:nvPr/>
        </p:nvGrpSpPr>
        <p:grpSpPr>
          <a:xfrm rot="0">
            <a:off x="10721622" y="1648016"/>
            <a:ext cx="2002536" cy="521208"/>
            <a:chOff x="0" y="0"/>
            <a:chExt cx="2670048" cy="694944"/>
          </a:xfrm>
        </p:grpSpPr>
        <p:sp>
          <p:nvSpPr>
            <p:cNvPr name="Freeform 27" id="27"/>
            <p:cNvSpPr/>
            <p:nvPr/>
          </p:nvSpPr>
          <p:spPr>
            <a:xfrm flipH="false" flipV="false" rot="0">
              <a:off x="0" y="0"/>
              <a:ext cx="2670048" cy="694944"/>
            </a:xfrm>
            <a:custGeom>
              <a:avLst/>
              <a:gdLst/>
              <a:ahLst/>
              <a:cxnLst/>
              <a:rect r="r" b="b" t="t" l="l"/>
              <a:pathLst>
                <a:path h="694944" w="2670048">
                  <a:moveTo>
                    <a:pt x="0" y="0"/>
                  </a:moveTo>
                  <a:lnTo>
                    <a:pt x="2670048" y="0"/>
                  </a:lnTo>
                  <a:lnTo>
                    <a:pt x="2670048" y="694944"/>
                  </a:lnTo>
                  <a:lnTo>
                    <a:pt x="0" y="694944"/>
                  </a:lnTo>
                  <a:close/>
                </a:path>
              </a:pathLst>
            </a:custGeom>
            <a:blipFill>
              <a:blip r:embed="rId2">
                <a:alphaModFix amt="0"/>
              </a:blip>
              <a:stretch>
                <a:fillRect l="0" t="-24863" r="0" b="-24863"/>
              </a:stretch>
            </a:blipFill>
          </p:spPr>
        </p:sp>
        <p:sp>
          <p:nvSpPr>
            <p:cNvPr name="TextBox 28" id="28"/>
            <p:cNvSpPr txBox="true"/>
            <p:nvPr/>
          </p:nvSpPr>
          <p:spPr>
            <a:xfrm>
              <a:off x="0" y="0"/>
              <a:ext cx="2670048" cy="694944"/>
            </a:xfrm>
            <a:prstGeom prst="rect">
              <a:avLst/>
            </a:prstGeom>
          </p:spPr>
          <p:txBody>
            <a:bodyPr anchor="ctr" rtlCol="false" tIns="0" lIns="0" bIns="0" rIns="0"/>
            <a:lstStyle/>
            <a:p>
              <a:pPr algn="ctr">
                <a:lnSpc>
                  <a:spcPts val="4320"/>
                </a:lnSpc>
              </a:pPr>
              <a:r>
                <a:rPr lang="en-US" sz="3600" b="true">
                  <a:solidFill>
                    <a:srgbClr val="DC2626"/>
                  </a:solidFill>
                  <a:latin typeface="Aptos Bold"/>
                  <a:ea typeface="Aptos Bold"/>
                  <a:cs typeface="Aptos Bold"/>
                  <a:sym typeface="Aptos Bold"/>
                </a:rPr>
                <a:t>7</a:t>
              </a:r>
            </a:p>
          </p:txBody>
        </p:sp>
      </p:grpSp>
      <p:grpSp>
        <p:nvGrpSpPr>
          <p:cNvPr name="Group 29" id="29"/>
          <p:cNvGrpSpPr/>
          <p:nvPr/>
        </p:nvGrpSpPr>
        <p:grpSpPr>
          <a:xfrm rot="0">
            <a:off x="10666758" y="2429828"/>
            <a:ext cx="2057400" cy="246888"/>
            <a:chOff x="0" y="0"/>
            <a:chExt cx="2743200" cy="329184"/>
          </a:xfrm>
        </p:grpSpPr>
        <p:sp>
          <p:nvSpPr>
            <p:cNvPr name="Freeform 30" id="30"/>
            <p:cNvSpPr/>
            <p:nvPr/>
          </p:nvSpPr>
          <p:spPr>
            <a:xfrm flipH="false" flipV="false" rot="0">
              <a:off x="0" y="0"/>
              <a:ext cx="2743200" cy="329184"/>
            </a:xfrm>
            <a:custGeom>
              <a:avLst/>
              <a:gdLst/>
              <a:ahLst/>
              <a:cxnLst/>
              <a:rect r="r" b="b" t="t" l="l"/>
              <a:pathLst>
                <a:path h="329184" w="2743200">
                  <a:moveTo>
                    <a:pt x="0" y="0"/>
                  </a:moveTo>
                  <a:lnTo>
                    <a:pt x="2743200" y="0"/>
                  </a:lnTo>
                  <a:lnTo>
                    <a:pt x="2743200" y="329184"/>
                  </a:lnTo>
                  <a:lnTo>
                    <a:pt x="0" y="329184"/>
                  </a:lnTo>
                  <a:close/>
                </a:path>
              </a:pathLst>
            </a:custGeom>
            <a:blipFill>
              <a:blip r:embed="rId2">
                <a:alphaModFix amt="0"/>
              </a:blip>
              <a:stretch>
                <a:fillRect l="0" t="-112375" r="0" b="-112375"/>
              </a:stretch>
            </a:blipFill>
          </p:spPr>
        </p:sp>
        <p:sp>
          <p:nvSpPr>
            <p:cNvPr name="TextBox 31" id="31"/>
            <p:cNvSpPr txBox="true"/>
            <p:nvPr/>
          </p:nvSpPr>
          <p:spPr>
            <a:xfrm>
              <a:off x="0" y="0"/>
              <a:ext cx="2743200" cy="329184"/>
            </a:xfrm>
            <a:prstGeom prst="rect">
              <a:avLst/>
            </a:prstGeom>
          </p:spPr>
          <p:txBody>
            <a:bodyPr anchor="ctr" rtlCol="false" tIns="0" lIns="0" bIns="0" rIns="0"/>
            <a:lstStyle/>
            <a:p>
              <a:pPr algn="ctr">
                <a:lnSpc>
                  <a:spcPts val="1889"/>
                </a:lnSpc>
              </a:pPr>
              <a:r>
                <a:rPr lang="en-US" sz="1575" b="true">
                  <a:solidFill>
                    <a:srgbClr val="475569"/>
                  </a:solidFill>
                  <a:latin typeface="Aptos Bold"/>
                  <a:ea typeface="Aptos Bold"/>
                  <a:cs typeface="Aptos Bold"/>
                  <a:sym typeface="Aptos Bold"/>
                </a:rPr>
                <a:t>FAIL</a:t>
              </a:r>
            </a:p>
          </p:txBody>
        </p:sp>
      </p:grpSp>
      <p:grpSp>
        <p:nvGrpSpPr>
          <p:cNvPr name="Group 32" id="32"/>
          <p:cNvGrpSpPr/>
          <p:nvPr/>
        </p:nvGrpSpPr>
        <p:grpSpPr>
          <a:xfrm rot="0">
            <a:off x="13307850" y="1556194"/>
            <a:ext cx="2350770" cy="1390650"/>
            <a:chOff x="0" y="0"/>
            <a:chExt cx="3134360" cy="1854200"/>
          </a:xfrm>
        </p:grpSpPr>
        <p:sp>
          <p:nvSpPr>
            <p:cNvPr name="Freeform 33" id="33"/>
            <p:cNvSpPr/>
            <p:nvPr/>
          </p:nvSpPr>
          <p:spPr>
            <a:xfrm flipH="false" flipV="false" rot="0">
              <a:off x="12700" y="12700"/>
              <a:ext cx="3108960" cy="1828800"/>
            </a:xfrm>
            <a:custGeom>
              <a:avLst/>
              <a:gdLst/>
              <a:ahLst/>
              <a:cxnLst/>
              <a:rect r="r" b="b" t="t" l="l"/>
              <a:pathLst>
                <a:path h="1828800" w="3108960">
                  <a:moveTo>
                    <a:pt x="0" y="146304"/>
                  </a:moveTo>
                  <a:cubicBezTo>
                    <a:pt x="0" y="65532"/>
                    <a:pt x="65913" y="0"/>
                    <a:pt x="147193" y="0"/>
                  </a:cubicBezTo>
                  <a:lnTo>
                    <a:pt x="2961767" y="0"/>
                  </a:lnTo>
                  <a:cubicBezTo>
                    <a:pt x="3043047" y="0"/>
                    <a:pt x="3108960" y="65532"/>
                    <a:pt x="3108960" y="146304"/>
                  </a:cubicBezTo>
                  <a:lnTo>
                    <a:pt x="3108960" y="1682496"/>
                  </a:lnTo>
                  <a:cubicBezTo>
                    <a:pt x="3108960" y="1763268"/>
                    <a:pt x="3043047" y="1828800"/>
                    <a:pt x="2961767" y="1828800"/>
                  </a:cubicBezTo>
                  <a:lnTo>
                    <a:pt x="147193" y="1828800"/>
                  </a:lnTo>
                  <a:cubicBezTo>
                    <a:pt x="65913" y="1828800"/>
                    <a:pt x="0" y="1763268"/>
                    <a:pt x="0" y="1682496"/>
                  </a:cubicBezTo>
                  <a:close/>
                </a:path>
              </a:pathLst>
            </a:custGeom>
            <a:solidFill>
              <a:srgbClr val="FFFFFF"/>
            </a:solidFill>
          </p:spPr>
        </p:sp>
        <p:sp>
          <p:nvSpPr>
            <p:cNvPr name="Freeform 34" id="34"/>
            <p:cNvSpPr/>
            <p:nvPr/>
          </p:nvSpPr>
          <p:spPr>
            <a:xfrm flipH="false" flipV="false" rot="0">
              <a:off x="0" y="0"/>
              <a:ext cx="3134360" cy="1854200"/>
            </a:xfrm>
            <a:custGeom>
              <a:avLst/>
              <a:gdLst/>
              <a:ahLst/>
              <a:cxnLst/>
              <a:rect r="r" b="b" t="t" l="l"/>
              <a:pathLst>
                <a:path h="1854200" w="3134360">
                  <a:moveTo>
                    <a:pt x="0" y="159004"/>
                  </a:moveTo>
                  <a:cubicBezTo>
                    <a:pt x="0" y="71120"/>
                    <a:pt x="71628" y="0"/>
                    <a:pt x="159893" y="0"/>
                  </a:cubicBezTo>
                  <a:lnTo>
                    <a:pt x="2974467" y="0"/>
                  </a:lnTo>
                  <a:lnTo>
                    <a:pt x="2974467" y="12700"/>
                  </a:lnTo>
                  <a:lnTo>
                    <a:pt x="2974467" y="0"/>
                  </a:lnTo>
                  <a:cubicBezTo>
                    <a:pt x="3062732" y="0"/>
                    <a:pt x="3134360" y="71120"/>
                    <a:pt x="3134360" y="159004"/>
                  </a:cubicBezTo>
                  <a:lnTo>
                    <a:pt x="3121660" y="159004"/>
                  </a:lnTo>
                  <a:lnTo>
                    <a:pt x="3134360" y="159004"/>
                  </a:lnTo>
                  <a:lnTo>
                    <a:pt x="3134360" y="1695196"/>
                  </a:lnTo>
                  <a:lnTo>
                    <a:pt x="3121660" y="1695196"/>
                  </a:lnTo>
                  <a:lnTo>
                    <a:pt x="3134360" y="1695196"/>
                  </a:lnTo>
                  <a:cubicBezTo>
                    <a:pt x="3134360" y="1783080"/>
                    <a:pt x="3062732" y="1854200"/>
                    <a:pt x="2974467" y="1854200"/>
                  </a:cubicBezTo>
                  <a:lnTo>
                    <a:pt x="2974467" y="1841500"/>
                  </a:lnTo>
                  <a:lnTo>
                    <a:pt x="2974467" y="1854200"/>
                  </a:lnTo>
                  <a:lnTo>
                    <a:pt x="159893" y="1854200"/>
                  </a:lnTo>
                  <a:lnTo>
                    <a:pt x="159893" y="1841500"/>
                  </a:lnTo>
                  <a:lnTo>
                    <a:pt x="159893" y="1854200"/>
                  </a:lnTo>
                  <a:cubicBezTo>
                    <a:pt x="71628" y="1854200"/>
                    <a:pt x="0" y="1783080"/>
                    <a:pt x="0" y="1695196"/>
                  </a:cubicBezTo>
                  <a:lnTo>
                    <a:pt x="0" y="159004"/>
                  </a:lnTo>
                  <a:lnTo>
                    <a:pt x="12700" y="159004"/>
                  </a:lnTo>
                  <a:lnTo>
                    <a:pt x="0" y="159004"/>
                  </a:lnTo>
                  <a:moveTo>
                    <a:pt x="25400" y="159004"/>
                  </a:moveTo>
                  <a:lnTo>
                    <a:pt x="25400" y="1695196"/>
                  </a:lnTo>
                  <a:lnTo>
                    <a:pt x="12700" y="1695196"/>
                  </a:lnTo>
                  <a:lnTo>
                    <a:pt x="25400" y="1695196"/>
                  </a:lnTo>
                  <a:cubicBezTo>
                    <a:pt x="25400" y="1768856"/>
                    <a:pt x="85471" y="1828800"/>
                    <a:pt x="159893" y="1828800"/>
                  </a:cubicBezTo>
                  <a:lnTo>
                    <a:pt x="2974467" y="1828800"/>
                  </a:lnTo>
                  <a:cubicBezTo>
                    <a:pt x="3048762" y="1828800"/>
                    <a:pt x="3108960" y="1768856"/>
                    <a:pt x="3108960" y="1695196"/>
                  </a:cubicBezTo>
                  <a:lnTo>
                    <a:pt x="3108960" y="159004"/>
                  </a:lnTo>
                  <a:cubicBezTo>
                    <a:pt x="3108960" y="85344"/>
                    <a:pt x="3048889" y="25400"/>
                    <a:pt x="2974467" y="25400"/>
                  </a:cubicBezTo>
                  <a:lnTo>
                    <a:pt x="159893" y="25400"/>
                  </a:lnTo>
                  <a:lnTo>
                    <a:pt x="159893" y="12700"/>
                  </a:lnTo>
                  <a:lnTo>
                    <a:pt x="159893" y="25400"/>
                  </a:lnTo>
                  <a:cubicBezTo>
                    <a:pt x="85471" y="25400"/>
                    <a:pt x="25400" y="85344"/>
                    <a:pt x="25400" y="159004"/>
                  </a:cubicBezTo>
                  <a:close/>
                </a:path>
              </a:pathLst>
            </a:custGeom>
            <a:solidFill>
              <a:srgbClr val="E2E8F0"/>
            </a:solidFill>
          </p:spPr>
        </p:sp>
      </p:grpSp>
      <p:grpSp>
        <p:nvGrpSpPr>
          <p:cNvPr name="Group 35" id="35"/>
          <p:cNvGrpSpPr/>
          <p:nvPr/>
        </p:nvGrpSpPr>
        <p:grpSpPr>
          <a:xfrm rot="0">
            <a:off x="13481967" y="1696212"/>
            <a:ext cx="2002536" cy="521208"/>
            <a:chOff x="0" y="0"/>
            <a:chExt cx="2670048" cy="694944"/>
          </a:xfrm>
        </p:grpSpPr>
        <p:sp>
          <p:nvSpPr>
            <p:cNvPr name="Freeform 36" id="36"/>
            <p:cNvSpPr/>
            <p:nvPr/>
          </p:nvSpPr>
          <p:spPr>
            <a:xfrm flipH="false" flipV="false" rot="0">
              <a:off x="0" y="0"/>
              <a:ext cx="2670048" cy="694944"/>
            </a:xfrm>
            <a:custGeom>
              <a:avLst/>
              <a:gdLst/>
              <a:ahLst/>
              <a:cxnLst/>
              <a:rect r="r" b="b" t="t" l="l"/>
              <a:pathLst>
                <a:path h="694944" w="2670048">
                  <a:moveTo>
                    <a:pt x="0" y="0"/>
                  </a:moveTo>
                  <a:lnTo>
                    <a:pt x="2670048" y="0"/>
                  </a:lnTo>
                  <a:lnTo>
                    <a:pt x="2670048" y="694944"/>
                  </a:lnTo>
                  <a:lnTo>
                    <a:pt x="0" y="694944"/>
                  </a:lnTo>
                  <a:close/>
                </a:path>
              </a:pathLst>
            </a:custGeom>
            <a:blipFill>
              <a:blip r:embed="rId2">
                <a:alphaModFix amt="0"/>
              </a:blip>
              <a:stretch>
                <a:fillRect l="0" t="-24863" r="0" b="-24863"/>
              </a:stretch>
            </a:blipFill>
          </p:spPr>
        </p:sp>
        <p:sp>
          <p:nvSpPr>
            <p:cNvPr name="TextBox 37" id="37"/>
            <p:cNvSpPr txBox="true"/>
            <p:nvPr/>
          </p:nvSpPr>
          <p:spPr>
            <a:xfrm>
              <a:off x="0" y="0"/>
              <a:ext cx="2670048" cy="694944"/>
            </a:xfrm>
            <a:prstGeom prst="rect">
              <a:avLst/>
            </a:prstGeom>
          </p:spPr>
          <p:txBody>
            <a:bodyPr anchor="ctr" rtlCol="false" tIns="0" lIns="0" bIns="0" rIns="0"/>
            <a:lstStyle/>
            <a:p>
              <a:pPr algn="ctr">
                <a:lnSpc>
                  <a:spcPts val="4320"/>
                </a:lnSpc>
              </a:pPr>
              <a:r>
                <a:rPr lang="en-US" sz="3600" b="true">
                  <a:solidFill>
                    <a:srgbClr val="F59E0B"/>
                  </a:solidFill>
                  <a:latin typeface="Aptos Bold"/>
                  <a:ea typeface="Aptos Bold"/>
                  <a:cs typeface="Aptos Bold"/>
                  <a:sym typeface="Aptos Bold"/>
                </a:rPr>
                <a:t>5</a:t>
              </a:r>
            </a:p>
          </p:txBody>
        </p:sp>
      </p:grpSp>
      <p:grpSp>
        <p:nvGrpSpPr>
          <p:cNvPr name="Group 38" id="38"/>
          <p:cNvGrpSpPr/>
          <p:nvPr/>
        </p:nvGrpSpPr>
        <p:grpSpPr>
          <a:xfrm rot="0">
            <a:off x="13454535" y="2429828"/>
            <a:ext cx="2057400" cy="246888"/>
            <a:chOff x="0" y="0"/>
            <a:chExt cx="2743200" cy="329184"/>
          </a:xfrm>
        </p:grpSpPr>
        <p:sp>
          <p:nvSpPr>
            <p:cNvPr name="Freeform 39" id="39"/>
            <p:cNvSpPr/>
            <p:nvPr/>
          </p:nvSpPr>
          <p:spPr>
            <a:xfrm flipH="false" flipV="false" rot="0">
              <a:off x="0" y="0"/>
              <a:ext cx="2743200" cy="329184"/>
            </a:xfrm>
            <a:custGeom>
              <a:avLst/>
              <a:gdLst/>
              <a:ahLst/>
              <a:cxnLst/>
              <a:rect r="r" b="b" t="t" l="l"/>
              <a:pathLst>
                <a:path h="329184" w="2743200">
                  <a:moveTo>
                    <a:pt x="0" y="0"/>
                  </a:moveTo>
                  <a:lnTo>
                    <a:pt x="2743200" y="0"/>
                  </a:lnTo>
                  <a:lnTo>
                    <a:pt x="2743200" y="329184"/>
                  </a:lnTo>
                  <a:lnTo>
                    <a:pt x="0" y="329184"/>
                  </a:lnTo>
                  <a:close/>
                </a:path>
              </a:pathLst>
            </a:custGeom>
            <a:blipFill>
              <a:blip r:embed="rId2">
                <a:alphaModFix amt="0"/>
              </a:blip>
              <a:stretch>
                <a:fillRect l="0" t="-112375" r="0" b="-112375"/>
              </a:stretch>
            </a:blipFill>
          </p:spPr>
        </p:sp>
        <p:sp>
          <p:nvSpPr>
            <p:cNvPr name="TextBox 40" id="40"/>
            <p:cNvSpPr txBox="true"/>
            <p:nvPr/>
          </p:nvSpPr>
          <p:spPr>
            <a:xfrm>
              <a:off x="0" y="0"/>
              <a:ext cx="2743200" cy="329184"/>
            </a:xfrm>
            <a:prstGeom prst="rect">
              <a:avLst/>
            </a:prstGeom>
          </p:spPr>
          <p:txBody>
            <a:bodyPr anchor="ctr" rtlCol="false" tIns="0" lIns="0" bIns="0" rIns="0"/>
            <a:lstStyle/>
            <a:p>
              <a:pPr algn="ctr">
                <a:lnSpc>
                  <a:spcPts val="1889"/>
                </a:lnSpc>
              </a:pPr>
              <a:r>
                <a:rPr lang="en-US" sz="1575" b="true">
                  <a:solidFill>
                    <a:srgbClr val="475569"/>
                  </a:solidFill>
                  <a:latin typeface="Aptos Bold"/>
                  <a:ea typeface="Aptos Bold"/>
                  <a:cs typeface="Aptos Bold"/>
                  <a:sym typeface="Aptos Bold"/>
                </a:rPr>
                <a:t>IGNORED</a:t>
              </a:r>
            </a:p>
          </p:txBody>
        </p:sp>
      </p:grpSp>
      <p:grpSp>
        <p:nvGrpSpPr>
          <p:cNvPr name="Group 41" id="41"/>
          <p:cNvGrpSpPr/>
          <p:nvPr/>
        </p:nvGrpSpPr>
        <p:grpSpPr>
          <a:xfrm rot="0">
            <a:off x="380522" y="1898142"/>
            <a:ext cx="6692739" cy="6739890"/>
            <a:chOff x="0" y="0"/>
            <a:chExt cx="8923652" cy="8986520"/>
          </a:xfrm>
        </p:grpSpPr>
        <p:sp>
          <p:nvSpPr>
            <p:cNvPr name="Freeform 42" id="42"/>
            <p:cNvSpPr/>
            <p:nvPr/>
          </p:nvSpPr>
          <p:spPr>
            <a:xfrm flipH="false" flipV="false" rot="0">
              <a:off x="11138" y="12700"/>
              <a:ext cx="8901376" cy="8961120"/>
            </a:xfrm>
            <a:custGeom>
              <a:avLst/>
              <a:gdLst/>
              <a:ahLst/>
              <a:cxnLst/>
              <a:rect r="r" b="b" t="t" l="l"/>
              <a:pathLst>
                <a:path h="8961120" w="8901376">
                  <a:moveTo>
                    <a:pt x="0" y="146304"/>
                  </a:moveTo>
                  <a:cubicBezTo>
                    <a:pt x="0" y="65532"/>
                    <a:pt x="57471" y="0"/>
                    <a:pt x="128419" y="0"/>
                  </a:cubicBezTo>
                  <a:lnTo>
                    <a:pt x="8772956" y="0"/>
                  </a:lnTo>
                  <a:cubicBezTo>
                    <a:pt x="8843904" y="0"/>
                    <a:pt x="8901376" y="65532"/>
                    <a:pt x="8901376" y="146304"/>
                  </a:cubicBezTo>
                  <a:lnTo>
                    <a:pt x="8901376" y="8814816"/>
                  </a:lnTo>
                  <a:cubicBezTo>
                    <a:pt x="8901376" y="8895588"/>
                    <a:pt x="8843904" y="8961120"/>
                    <a:pt x="8772956" y="8961120"/>
                  </a:cubicBezTo>
                  <a:lnTo>
                    <a:pt x="128419" y="8961120"/>
                  </a:lnTo>
                  <a:cubicBezTo>
                    <a:pt x="57471" y="8961120"/>
                    <a:pt x="0" y="8895588"/>
                    <a:pt x="0" y="8814816"/>
                  </a:cubicBezTo>
                  <a:close/>
                </a:path>
              </a:pathLst>
            </a:custGeom>
            <a:solidFill>
              <a:srgbClr val="FFFFFF"/>
            </a:solidFill>
          </p:spPr>
        </p:sp>
        <p:sp>
          <p:nvSpPr>
            <p:cNvPr name="Freeform 43" id="43"/>
            <p:cNvSpPr/>
            <p:nvPr/>
          </p:nvSpPr>
          <p:spPr>
            <a:xfrm flipH="false" flipV="false" rot="0">
              <a:off x="0" y="0"/>
              <a:ext cx="8923652" cy="8986520"/>
            </a:xfrm>
            <a:custGeom>
              <a:avLst/>
              <a:gdLst/>
              <a:ahLst/>
              <a:cxnLst/>
              <a:rect r="r" b="b" t="t" l="l"/>
              <a:pathLst>
                <a:path h="8986520" w="8923652">
                  <a:moveTo>
                    <a:pt x="0" y="159004"/>
                  </a:moveTo>
                  <a:cubicBezTo>
                    <a:pt x="0" y="71247"/>
                    <a:pt x="62483" y="0"/>
                    <a:pt x="139557" y="0"/>
                  </a:cubicBezTo>
                  <a:lnTo>
                    <a:pt x="8784094" y="0"/>
                  </a:lnTo>
                  <a:lnTo>
                    <a:pt x="8784094" y="12700"/>
                  </a:lnTo>
                  <a:lnTo>
                    <a:pt x="8784094" y="0"/>
                  </a:lnTo>
                  <a:cubicBezTo>
                    <a:pt x="8861168" y="0"/>
                    <a:pt x="8923652" y="71247"/>
                    <a:pt x="8923652" y="159004"/>
                  </a:cubicBezTo>
                  <a:lnTo>
                    <a:pt x="8912514" y="159004"/>
                  </a:lnTo>
                  <a:lnTo>
                    <a:pt x="8923652" y="159004"/>
                  </a:lnTo>
                  <a:lnTo>
                    <a:pt x="8923652" y="8827516"/>
                  </a:lnTo>
                  <a:lnTo>
                    <a:pt x="8912514" y="8827516"/>
                  </a:lnTo>
                  <a:lnTo>
                    <a:pt x="8923652" y="8827516"/>
                  </a:lnTo>
                  <a:cubicBezTo>
                    <a:pt x="8923652" y="8915400"/>
                    <a:pt x="8861168" y="8986520"/>
                    <a:pt x="8784094" y="8986520"/>
                  </a:cubicBezTo>
                  <a:lnTo>
                    <a:pt x="8784094" y="8973820"/>
                  </a:lnTo>
                  <a:lnTo>
                    <a:pt x="8784094" y="8986520"/>
                  </a:lnTo>
                  <a:lnTo>
                    <a:pt x="139557" y="8986520"/>
                  </a:lnTo>
                  <a:lnTo>
                    <a:pt x="139557" y="8973820"/>
                  </a:lnTo>
                  <a:lnTo>
                    <a:pt x="139557" y="8986520"/>
                  </a:lnTo>
                  <a:cubicBezTo>
                    <a:pt x="62483" y="8986520"/>
                    <a:pt x="0" y="8915273"/>
                    <a:pt x="0" y="8827516"/>
                  </a:cubicBezTo>
                  <a:lnTo>
                    <a:pt x="0" y="159004"/>
                  </a:lnTo>
                  <a:lnTo>
                    <a:pt x="11138" y="159004"/>
                  </a:lnTo>
                  <a:lnTo>
                    <a:pt x="0" y="159004"/>
                  </a:lnTo>
                  <a:moveTo>
                    <a:pt x="22276" y="159004"/>
                  </a:moveTo>
                  <a:lnTo>
                    <a:pt x="22276" y="8827516"/>
                  </a:lnTo>
                  <a:lnTo>
                    <a:pt x="11138" y="8827516"/>
                  </a:lnTo>
                  <a:lnTo>
                    <a:pt x="22276" y="8827516"/>
                  </a:lnTo>
                  <a:cubicBezTo>
                    <a:pt x="22276" y="8901303"/>
                    <a:pt x="74735" y="8961120"/>
                    <a:pt x="139557" y="8961120"/>
                  </a:cubicBezTo>
                  <a:lnTo>
                    <a:pt x="8784094" y="8961120"/>
                  </a:lnTo>
                  <a:cubicBezTo>
                    <a:pt x="8848806" y="8961120"/>
                    <a:pt x="8901376" y="8901303"/>
                    <a:pt x="8901376" y="8827516"/>
                  </a:cubicBezTo>
                  <a:lnTo>
                    <a:pt x="8901376" y="159004"/>
                  </a:lnTo>
                  <a:cubicBezTo>
                    <a:pt x="8901376" y="85217"/>
                    <a:pt x="8848916" y="25400"/>
                    <a:pt x="8784094" y="25400"/>
                  </a:cubicBezTo>
                  <a:lnTo>
                    <a:pt x="139557" y="25400"/>
                  </a:lnTo>
                  <a:lnTo>
                    <a:pt x="139557" y="12700"/>
                  </a:lnTo>
                  <a:lnTo>
                    <a:pt x="139557" y="25400"/>
                  </a:lnTo>
                  <a:cubicBezTo>
                    <a:pt x="74735" y="25400"/>
                    <a:pt x="22276" y="85217"/>
                    <a:pt x="22276" y="159004"/>
                  </a:cubicBezTo>
                  <a:close/>
                </a:path>
              </a:pathLst>
            </a:custGeom>
            <a:solidFill>
              <a:srgbClr val="E2E8F0"/>
            </a:solidFill>
          </p:spPr>
        </p:sp>
      </p:grpSp>
      <p:grpSp>
        <p:nvGrpSpPr>
          <p:cNvPr name="Group 44" id="44"/>
          <p:cNvGrpSpPr/>
          <p:nvPr/>
        </p:nvGrpSpPr>
        <p:grpSpPr>
          <a:xfrm rot="0">
            <a:off x="754380" y="2251520"/>
            <a:ext cx="3566160" cy="356616"/>
            <a:chOff x="0" y="0"/>
            <a:chExt cx="4754880" cy="475488"/>
          </a:xfrm>
        </p:grpSpPr>
        <p:sp>
          <p:nvSpPr>
            <p:cNvPr name="Freeform 45" id="45"/>
            <p:cNvSpPr/>
            <p:nvPr/>
          </p:nvSpPr>
          <p:spPr>
            <a:xfrm flipH="false" flipV="false" rot="0">
              <a:off x="0" y="0"/>
              <a:ext cx="4754880" cy="475488"/>
            </a:xfrm>
            <a:custGeom>
              <a:avLst/>
              <a:gdLst/>
              <a:ahLst/>
              <a:cxnLst/>
              <a:rect r="r" b="b" t="t" l="l"/>
              <a:pathLst>
                <a:path h="475488" w="4754880">
                  <a:moveTo>
                    <a:pt x="0" y="0"/>
                  </a:moveTo>
                  <a:lnTo>
                    <a:pt x="4754880" y="0"/>
                  </a:lnTo>
                  <a:lnTo>
                    <a:pt x="4754880" y="475488"/>
                  </a:lnTo>
                  <a:lnTo>
                    <a:pt x="0" y="475488"/>
                  </a:lnTo>
                  <a:close/>
                </a:path>
              </a:pathLst>
            </a:custGeom>
            <a:blipFill>
              <a:blip r:embed="rId2">
                <a:alphaModFix amt="0"/>
              </a:blip>
              <a:stretch>
                <a:fillRect l="0" t="-144850" r="0" b="-144850"/>
              </a:stretch>
            </a:blipFill>
          </p:spPr>
        </p:sp>
        <p:sp>
          <p:nvSpPr>
            <p:cNvPr name="TextBox 46" id="46"/>
            <p:cNvSpPr txBox="true"/>
            <p:nvPr/>
          </p:nvSpPr>
          <p:spPr>
            <a:xfrm>
              <a:off x="0" y="0"/>
              <a:ext cx="4754880" cy="475488"/>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Tổng quan tỷ lệ kết quả</a:t>
              </a:r>
            </a:p>
          </p:txBody>
        </p:sp>
      </p:grpSp>
      <p:grpSp>
        <p:nvGrpSpPr>
          <p:cNvPr name="Group 47" id="47"/>
          <p:cNvGrpSpPr/>
          <p:nvPr/>
        </p:nvGrpSpPr>
        <p:grpSpPr>
          <a:xfrm rot="0">
            <a:off x="762762" y="3563493"/>
            <a:ext cx="1774698" cy="3242310"/>
            <a:chOff x="0" y="0"/>
            <a:chExt cx="2366264" cy="4323080"/>
          </a:xfrm>
        </p:grpSpPr>
        <p:sp>
          <p:nvSpPr>
            <p:cNvPr name="Freeform 48" id="48"/>
            <p:cNvSpPr/>
            <p:nvPr/>
          </p:nvSpPr>
          <p:spPr>
            <a:xfrm flipH="false" flipV="false" rot="0">
              <a:off x="12700" y="12700"/>
              <a:ext cx="2340864" cy="4297680"/>
            </a:xfrm>
            <a:custGeom>
              <a:avLst/>
              <a:gdLst/>
              <a:ahLst/>
              <a:cxnLst/>
              <a:rect r="r" b="b" t="t" l="l"/>
              <a:pathLst>
                <a:path h="4297680" w="2340864">
                  <a:moveTo>
                    <a:pt x="0" y="73533"/>
                  </a:moveTo>
                  <a:cubicBezTo>
                    <a:pt x="0" y="32893"/>
                    <a:pt x="32766" y="0"/>
                    <a:pt x="73152" y="0"/>
                  </a:cubicBezTo>
                  <a:lnTo>
                    <a:pt x="2267712" y="0"/>
                  </a:lnTo>
                  <a:cubicBezTo>
                    <a:pt x="2308098" y="0"/>
                    <a:pt x="2340864" y="32893"/>
                    <a:pt x="2340864" y="73533"/>
                  </a:cubicBezTo>
                  <a:lnTo>
                    <a:pt x="2340864" y="4224147"/>
                  </a:lnTo>
                  <a:cubicBezTo>
                    <a:pt x="2340864" y="4264787"/>
                    <a:pt x="2308098" y="4297680"/>
                    <a:pt x="2267712" y="4297680"/>
                  </a:cubicBezTo>
                  <a:lnTo>
                    <a:pt x="73152" y="4297680"/>
                  </a:lnTo>
                  <a:cubicBezTo>
                    <a:pt x="32766" y="4297680"/>
                    <a:pt x="0" y="4264787"/>
                    <a:pt x="0" y="4224147"/>
                  </a:cubicBezTo>
                  <a:close/>
                </a:path>
              </a:pathLst>
            </a:custGeom>
            <a:solidFill>
              <a:srgbClr val="10B981"/>
            </a:solidFill>
          </p:spPr>
        </p:sp>
        <p:sp>
          <p:nvSpPr>
            <p:cNvPr name="Freeform 49" id="49"/>
            <p:cNvSpPr/>
            <p:nvPr/>
          </p:nvSpPr>
          <p:spPr>
            <a:xfrm flipH="false" flipV="false" rot="0">
              <a:off x="0" y="0"/>
              <a:ext cx="2366264" cy="4323080"/>
            </a:xfrm>
            <a:custGeom>
              <a:avLst/>
              <a:gdLst/>
              <a:ahLst/>
              <a:cxnLst/>
              <a:rect r="r" b="b" t="t" l="l"/>
              <a:pathLst>
                <a:path h="4323080" w="2366264">
                  <a:moveTo>
                    <a:pt x="0" y="86233"/>
                  </a:moveTo>
                  <a:cubicBezTo>
                    <a:pt x="0" y="38608"/>
                    <a:pt x="38354" y="0"/>
                    <a:pt x="85852" y="0"/>
                  </a:cubicBezTo>
                  <a:lnTo>
                    <a:pt x="2280412" y="0"/>
                  </a:lnTo>
                  <a:lnTo>
                    <a:pt x="2280412" y="12700"/>
                  </a:lnTo>
                  <a:lnTo>
                    <a:pt x="2280412" y="0"/>
                  </a:lnTo>
                  <a:cubicBezTo>
                    <a:pt x="2327910" y="0"/>
                    <a:pt x="2366264" y="38608"/>
                    <a:pt x="2366264" y="86233"/>
                  </a:cubicBezTo>
                  <a:lnTo>
                    <a:pt x="2353564" y="86233"/>
                  </a:lnTo>
                  <a:lnTo>
                    <a:pt x="2366264" y="86233"/>
                  </a:lnTo>
                  <a:lnTo>
                    <a:pt x="2366264" y="4236847"/>
                  </a:lnTo>
                  <a:lnTo>
                    <a:pt x="2353564" y="4236847"/>
                  </a:lnTo>
                  <a:lnTo>
                    <a:pt x="2366264" y="4236847"/>
                  </a:lnTo>
                  <a:cubicBezTo>
                    <a:pt x="2366264" y="4284345"/>
                    <a:pt x="2327910" y="4323080"/>
                    <a:pt x="2280412" y="4323080"/>
                  </a:cubicBezTo>
                  <a:lnTo>
                    <a:pt x="2280412" y="4310380"/>
                  </a:lnTo>
                  <a:lnTo>
                    <a:pt x="2280412" y="4323080"/>
                  </a:lnTo>
                  <a:lnTo>
                    <a:pt x="85852" y="4323080"/>
                  </a:lnTo>
                  <a:lnTo>
                    <a:pt x="85852" y="4310380"/>
                  </a:lnTo>
                  <a:lnTo>
                    <a:pt x="85852" y="4323080"/>
                  </a:lnTo>
                  <a:cubicBezTo>
                    <a:pt x="38354" y="4323080"/>
                    <a:pt x="0" y="4284472"/>
                    <a:pt x="0" y="4236847"/>
                  </a:cubicBezTo>
                  <a:lnTo>
                    <a:pt x="0" y="86233"/>
                  </a:lnTo>
                  <a:lnTo>
                    <a:pt x="12700" y="86233"/>
                  </a:lnTo>
                  <a:lnTo>
                    <a:pt x="0" y="86233"/>
                  </a:lnTo>
                  <a:moveTo>
                    <a:pt x="25400" y="86233"/>
                  </a:moveTo>
                  <a:lnTo>
                    <a:pt x="25400" y="4236847"/>
                  </a:lnTo>
                  <a:lnTo>
                    <a:pt x="12700" y="4236847"/>
                  </a:lnTo>
                  <a:lnTo>
                    <a:pt x="25400" y="4236847"/>
                  </a:lnTo>
                  <a:cubicBezTo>
                    <a:pt x="25400" y="4270502"/>
                    <a:pt x="52578" y="4297680"/>
                    <a:pt x="85852" y="4297680"/>
                  </a:cubicBezTo>
                  <a:lnTo>
                    <a:pt x="2280412" y="4297680"/>
                  </a:lnTo>
                  <a:cubicBezTo>
                    <a:pt x="2313686" y="4297680"/>
                    <a:pt x="2340864" y="4270502"/>
                    <a:pt x="2340864" y="4236847"/>
                  </a:cubicBezTo>
                  <a:lnTo>
                    <a:pt x="2340864" y="86233"/>
                  </a:lnTo>
                  <a:cubicBezTo>
                    <a:pt x="2340864" y="52578"/>
                    <a:pt x="2313686" y="25400"/>
                    <a:pt x="2280412" y="25400"/>
                  </a:cubicBezTo>
                  <a:lnTo>
                    <a:pt x="85852" y="25400"/>
                  </a:lnTo>
                  <a:lnTo>
                    <a:pt x="85852" y="12700"/>
                  </a:lnTo>
                  <a:lnTo>
                    <a:pt x="85852" y="25400"/>
                  </a:lnTo>
                  <a:cubicBezTo>
                    <a:pt x="52578" y="25400"/>
                    <a:pt x="25400" y="52578"/>
                    <a:pt x="25400" y="86233"/>
                  </a:cubicBezTo>
                  <a:close/>
                </a:path>
              </a:pathLst>
            </a:custGeom>
            <a:solidFill>
              <a:srgbClr val="10B981"/>
            </a:solidFill>
          </p:spPr>
        </p:sp>
      </p:grpSp>
      <p:grpSp>
        <p:nvGrpSpPr>
          <p:cNvPr name="Group 50" id="50"/>
          <p:cNvGrpSpPr/>
          <p:nvPr/>
        </p:nvGrpSpPr>
        <p:grpSpPr>
          <a:xfrm rot="0">
            <a:off x="781812" y="3260217"/>
            <a:ext cx="1755648" cy="246888"/>
            <a:chOff x="0" y="0"/>
            <a:chExt cx="2340864" cy="329184"/>
          </a:xfrm>
        </p:grpSpPr>
        <p:sp>
          <p:nvSpPr>
            <p:cNvPr name="Freeform 51" id="51"/>
            <p:cNvSpPr/>
            <p:nvPr/>
          </p:nvSpPr>
          <p:spPr>
            <a:xfrm flipH="false" flipV="false" rot="0">
              <a:off x="0" y="0"/>
              <a:ext cx="2340864" cy="329184"/>
            </a:xfrm>
            <a:custGeom>
              <a:avLst/>
              <a:gdLst/>
              <a:ahLst/>
              <a:cxnLst/>
              <a:rect r="r" b="b" t="t" l="l"/>
              <a:pathLst>
                <a:path h="329184" w="2340864">
                  <a:moveTo>
                    <a:pt x="0" y="0"/>
                  </a:moveTo>
                  <a:lnTo>
                    <a:pt x="2340864" y="0"/>
                  </a:lnTo>
                  <a:lnTo>
                    <a:pt x="2340864" y="329184"/>
                  </a:lnTo>
                  <a:lnTo>
                    <a:pt x="0" y="329184"/>
                  </a:lnTo>
                  <a:close/>
                </a:path>
              </a:pathLst>
            </a:custGeom>
            <a:blipFill>
              <a:blip r:embed="rId2">
                <a:alphaModFix amt="0"/>
              </a:blip>
              <a:stretch>
                <a:fillRect l="0" t="-88560" r="0" b="-88560"/>
              </a:stretch>
            </a:blipFill>
          </p:spPr>
        </p:sp>
        <p:sp>
          <p:nvSpPr>
            <p:cNvPr name="TextBox 52" id="52"/>
            <p:cNvSpPr txBox="true"/>
            <p:nvPr/>
          </p:nvSpPr>
          <p:spPr>
            <a:xfrm>
              <a:off x="0" y="0"/>
              <a:ext cx="2340864" cy="329184"/>
            </a:xfrm>
            <a:prstGeom prst="rect">
              <a:avLst/>
            </a:prstGeom>
          </p:spPr>
          <p:txBody>
            <a:bodyPr anchor="ctr" rtlCol="false" tIns="0" lIns="0" bIns="0" rIns="0"/>
            <a:lstStyle/>
            <a:p>
              <a:pPr algn="ctr">
                <a:lnSpc>
                  <a:spcPts val="1980"/>
                </a:lnSpc>
              </a:pPr>
              <a:r>
                <a:rPr lang="en-US" sz="1650" b="true">
                  <a:solidFill>
                    <a:srgbClr val="10B981"/>
                  </a:solidFill>
                  <a:latin typeface="Aptos Bold"/>
                  <a:ea typeface="Aptos Bold"/>
                  <a:cs typeface="Aptos Bold"/>
                  <a:sym typeface="Aptos Bold"/>
                </a:rPr>
                <a:t>12</a:t>
              </a:r>
            </a:p>
          </p:txBody>
        </p:sp>
      </p:grpSp>
      <p:grpSp>
        <p:nvGrpSpPr>
          <p:cNvPr name="Group 53" id="53"/>
          <p:cNvGrpSpPr/>
          <p:nvPr/>
        </p:nvGrpSpPr>
        <p:grpSpPr>
          <a:xfrm rot="0">
            <a:off x="781812" y="6862953"/>
            <a:ext cx="1755648" cy="301752"/>
            <a:chOff x="0" y="0"/>
            <a:chExt cx="2340864" cy="402336"/>
          </a:xfrm>
        </p:grpSpPr>
        <p:sp>
          <p:nvSpPr>
            <p:cNvPr name="Freeform 54" id="54"/>
            <p:cNvSpPr/>
            <p:nvPr/>
          </p:nvSpPr>
          <p:spPr>
            <a:xfrm flipH="false" flipV="false" rot="0">
              <a:off x="0" y="0"/>
              <a:ext cx="2340864" cy="402336"/>
            </a:xfrm>
            <a:custGeom>
              <a:avLst/>
              <a:gdLst/>
              <a:ahLst/>
              <a:cxnLst/>
              <a:rect r="r" b="b" t="t" l="l"/>
              <a:pathLst>
                <a:path h="402336" w="2340864">
                  <a:moveTo>
                    <a:pt x="0" y="0"/>
                  </a:moveTo>
                  <a:lnTo>
                    <a:pt x="2340864" y="0"/>
                  </a:lnTo>
                  <a:lnTo>
                    <a:pt x="2340864" y="402336"/>
                  </a:lnTo>
                  <a:lnTo>
                    <a:pt x="0" y="402336"/>
                  </a:lnTo>
                  <a:close/>
                </a:path>
              </a:pathLst>
            </a:custGeom>
            <a:blipFill>
              <a:blip r:embed="rId2">
                <a:alphaModFix amt="0"/>
              </a:blip>
              <a:stretch>
                <a:fillRect l="0" t="-63367" r="0" b="-63367"/>
              </a:stretch>
            </a:blipFill>
          </p:spPr>
        </p:sp>
        <p:sp>
          <p:nvSpPr>
            <p:cNvPr name="TextBox 55" id="55"/>
            <p:cNvSpPr txBox="true"/>
            <p:nvPr/>
          </p:nvSpPr>
          <p:spPr>
            <a:xfrm>
              <a:off x="0" y="0"/>
              <a:ext cx="2340864" cy="402336"/>
            </a:xfrm>
            <a:prstGeom prst="rect">
              <a:avLst/>
            </a:prstGeom>
          </p:spPr>
          <p:txBody>
            <a:bodyPr anchor="ctr" rtlCol="false" tIns="0" lIns="0" bIns="0" rIns="0"/>
            <a:lstStyle/>
            <a:p>
              <a:pPr algn="ctr">
                <a:lnSpc>
                  <a:spcPts val="1889"/>
                </a:lnSpc>
              </a:pPr>
              <a:r>
                <a:rPr lang="en-US" sz="1575">
                  <a:solidFill>
                    <a:srgbClr val="475569"/>
                  </a:solidFill>
                  <a:latin typeface="Aptos"/>
                  <a:ea typeface="Aptos"/>
                  <a:cs typeface="Aptos"/>
                  <a:sym typeface="Aptos"/>
                </a:rPr>
                <a:t>Pass</a:t>
              </a:r>
            </a:p>
          </p:txBody>
        </p:sp>
      </p:grpSp>
      <p:grpSp>
        <p:nvGrpSpPr>
          <p:cNvPr name="Group 56" id="56"/>
          <p:cNvGrpSpPr/>
          <p:nvPr/>
        </p:nvGrpSpPr>
        <p:grpSpPr>
          <a:xfrm rot="0">
            <a:off x="2841686" y="4906518"/>
            <a:ext cx="1774698" cy="1899285"/>
            <a:chOff x="0" y="0"/>
            <a:chExt cx="2366264" cy="2532380"/>
          </a:xfrm>
        </p:grpSpPr>
        <p:sp>
          <p:nvSpPr>
            <p:cNvPr name="Freeform 57" id="57"/>
            <p:cNvSpPr/>
            <p:nvPr/>
          </p:nvSpPr>
          <p:spPr>
            <a:xfrm flipH="false" flipV="false" rot="0">
              <a:off x="12700" y="12700"/>
              <a:ext cx="2340864" cy="2506980"/>
            </a:xfrm>
            <a:custGeom>
              <a:avLst/>
              <a:gdLst/>
              <a:ahLst/>
              <a:cxnLst/>
              <a:rect r="r" b="b" t="t" l="l"/>
              <a:pathLst>
                <a:path h="2506980" w="2340864">
                  <a:moveTo>
                    <a:pt x="0" y="73152"/>
                  </a:moveTo>
                  <a:cubicBezTo>
                    <a:pt x="0" y="32766"/>
                    <a:pt x="32766" y="0"/>
                    <a:pt x="73152" y="0"/>
                  </a:cubicBezTo>
                  <a:lnTo>
                    <a:pt x="2267712" y="0"/>
                  </a:lnTo>
                  <a:cubicBezTo>
                    <a:pt x="2308098" y="0"/>
                    <a:pt x="2340864" y="32766"/>
                    <a:pt x="2340864" y="73152"/>
                  </a:cubicBezTo>
                  <a:lnTo>
                    <a:pt x="2340864" y="2433828"/>
                  </a:lnTo>
                  <a:cubicBezTo>
                    <a:pt x="2340864" y="2474214"/>
                    <a:pt x="2308098" y="2506980"/>
                    <a:pt x="2267712" y="2506980"/>
                  </a:cubicBezTo>
                  <a:lnTo>
                    <a:pt x="73152" y="2506980"/>
                  </a:lnTo>
                  <a:cubicBezTo>
                    <a:pt x="32766" y="2506980"/>
                    <a:pt x="0" y="2474214"/>
                    <a:pt x="0" y="2433828"/>
                  </a:cubicBezTo>
                  <a:close/>
                </a:path>
              </a:pathLst>
            </a:custGeom>
            <a:solidFill>
              <a:srgbClr val="DC2626"/>
            </a:solidFill>
          </p:spPr>
        </p:sp>
        <p:sp>
          <p:nvSpPr>
            <p:cNvPr name="Freeform 58" id="58"/>
            <p:cNvSpPr/>
            <p:nvPr/>
          </p:nvSpPr>
          <p:spPr>
            <a:xfrm flipH="false" flipV="false" rot="0">
              <a:off x="0" y="0"/>
              <a:ext cx="2366264" cy="2532380"/>
            </a:xfrm>
            <a:custGeom>
              <a:avLst/>
              <a:gdLst/>
              <a:ahLst/>
              <a:cxnLst/>
              <a:rect r="r" b="b" t="t" l="l"/>
              <a:pathLst>
                <a:path h="2532380" w="2366264">
                  <a:moveTo>
                    <a:pt x="0" y="85852"/>
                  </a:moveTo>
                  <a:cubicBezTo>
                    <a:pt x="0" y="38481"/>
                    <a:pt x="38481" y="0"/>
                    <a:pt x="85852" y="0"/>
                  </a:cubicBezTo>
                  <a:lnTo>
                    <a:pt x="2280412" y="0"/>
                  </a:lnTo>
                  <a:lnTo>
                    <a:pt x="2280412" y="12700"/>
                  </a:lnTo>
                  <a:lnTo>
                    <a:pt x="2280412" y="0"/>
                  </a:lnTo>
                  <a:cubicBezTo>
                    <a:pt x="2327783" y="0"/>
                    <a:pt x="2366264" y="38481"/>
                    <a:pt x="2366264" y="85852"/>
                  </a:cubicBezTo>
                  <a:lnTo>
                    <a:pt x="2353564" y="85852"/>
                  </a:lnTo>
                  <a:lnTo>
                    <a:pt x="2366264" y="85852"/>
                  </a:lnTo>
                  <a:lnTo>
                    <a:pt x="2366264" y="2446528"/>
                  </a:lnTo>
                  <a:lnTo>
                    <a:pt x="2353564" y="2446528"/>
                  </a:lnTo>
                  <a:lnTo>
                    <a:pt x="2366264" y="2446528"/>
                  </a:lnTo>
                  <a:cubicBezTo>
                    <a:pt x="2366264" y="2494026"/>
                    <a:pt x="2327783" y="2532380"/>
                    <a:pt x="2280412" y="2532380"/>
                  </a:cubicBezTo>
                  <a:lnTo>
                    <a:pt x="2280412" y="2519680"/>
                  </a:lnTo>
                  <a:lnTo>
                    <a:pt x="2280412" y="2532380"/>
                  </a:lnTo>
                  <a:lnTo>
                    <a:pt x="85852" y="2532380"/>
                  </a:lnTo>
                  <a:lnTo>
                    <a:pt x="85852" y="2519680"/>
                  </a:lnTo>
                  <a:lnTo>
                    <a:pt x="85852" y="2532380"/>
                  </a:lnTo>
                  <a:cubicBezTo>
                    <a:pt x="38481" y="2532380"/>
                    <a:pt x="0" y="2493899"/>
                    <a:pt x="0" y="2446528"/>
                  </a:cubicBezTo>
                  <a:lnTo>
                    <a:pt x="0" y="85852"/>
                  </a:lnTo>
                  <a:lnTo>
                    <a:pt x="12700" y="85852"/>
                  </a:lnTo>
                  <a:lnTo>
                    <a:pt x="0" y="85852"/>
                  </a:lnTo>
                  <a:moveTo>
                    <a:pt x="25400" y="85852"/>
                  </a:moveTo>
                  <a:lnTo>
                    <a:pt x="25400" y="2446528"/>
                  </a:lnTo>
                  <a:lnTo>
                    <a:pt x="12700" y="2446528"/>
                  </a:lnTo>
                  <a:lnTo>
                    <a:pt x="25400" y="2446528"/>
                  </a:lnTo>
                  <a:cubicBezTo>
                    <a:pt x="25400" y="2479929"/>
                    <a:pt x="52451" y="2506980"/>
                    <a:pt x="85852" y="2506980"/>
                  </a:cubicBezTo>
                  <a:lnTo>
                    <a:pt x="2280412" y="2506980"/>
                  </a:lnTo>
                  <a:cubicBezTo>
                    <a:pt x="2313813" y="2506980"/>
                    <a:pt x="2340864" y="2479929"/>
                    <a:pt x="2340864" y="2446528"/>
                  </a:cubicBezTo>
                  <a:lnTo>
                    <a:pt x="2340864" y="85852"/>
                  </a:lnTo>
                  <a:cubicBezTo>
                    <a:pt x="2340864" y="52451"/>
                    <a:pt x="2313813" y="25400"/>
                    <a:pt x="2280412" y="25400"/>
                  </a:cubicBezTo>
                  <a:lnTo>
                    <a:pt x="85852" y="25400"/>
                  </a:lnTo>
                  <a:lnTo>
                    <a:pt x="85852" y="12700"/>
                  </a:lnTo>
                  <a:lnTo>
                    <a:pt x="85852" y="25400"/>
                  </a:lnTo>
                  <a:cubicBezTo>
                    <a:pt x="52451" y="25400"/>
                    <a:pt x="25400" y="52451"/>
                    <a:pt x="25400" y="85852"/>
                  </a:cubicBezTo>
                  <a:close/>
                </a:path>
              </a:pathLst>
            </a:custGeom>
            <a:solidFill>
              <a:srgbClr val="DC2626"/>
            </a:solidFill>
          </p:spPr>
        </p:sp>
      </p:grpSp>
      <p:grpSp>
        <p:nvGrpSpPr>
          <p:cNvPr name="Group 59" id="59"/>
          <p:cNvGrpSpPr/>
          <p:nvPr/>
        </p:nvGrpSpPr>
        <p:grpSpPr>
          <a:xfrm rot="0">
            <a:off x="2860736" y="4612005"/>
            <a:ext cx="1755648" cy="246888"/>
            <a:chOff x="0" y="0"/>
            <a:chExt cx="2340864" cy="329184"/>
          </a:xfrm>
        </p:grpSpPr>
        <p:sp>
          <p:nvSpPr>
            <p:cNvPr name="Freeform 60" id="60"/>
            <p:cNvSpPr/>
            <p:nvPr/>
          </p:nvSpPr>
          <p:spPr>
            <a:xfrm flipH="false" flipV="false" rot="0">
              <a:off x="0" y="0"/>
              <a:ext cx="2340864" cy="329184"/>
            </a:xfrm>
            <a:custGeom>
              <a:avLst/>
              <a:gdLst/>
              <a:ahLst/>
              <a:cxnLst/>
              <a:rect r="r" b="b" t="t" l="l"/>
              <a:pathLst>
                <a:path h="329184" w="2340864">
                  <a:moveTo>
                    <a:pt x="0" y="0"/>
                  </a:moveTo>
                  <a:lnTo>
                    <a:pt x="2340864" y="0"/>
                  </a:lnTo>
                  <a:lnTo>
                    <a:pt x="2340864" y="329184"/>
                  </a:lnTo>
                  <a:lnTo>
                    <a:pt x="0" y="329184"/>
                  </a:lnTo>
                  <a:close/>
                </a:path>
              </a:pathLst>
            </a:custGeom>
            <a:blipFill>
              <a:blip r:embed="rId2">
                <a:alphaModFix amt="0"/>
              </a:blip>
              <a:stretch>
                <a:fillRect l="0" t="-88560" r="0" b="-88560"/>
              </a:stretch>
            </a:blipFill>
          </p:spPr>
        </p:sp>
        <p:sp>
          <p:nvSpPr>
            <p:cNvPr name="TextBox 61" id="61"/>
            <p:cNvSpPr txBox="true"/>
            <p:nvPr/>
          </p:nvSpPr>
          <p:spPr>
            <a:xfrm>
              <a:off x="0" y="0"/>
              <a:ext cx="2340864" cy="329184"/>
            </a:xfrm>
            <a:prstGeom prst="rect">
              <a:avLst/>
            </a:prstGeom>
          </p:spPr>
          <p:txBody>
            <a:bodyPr anchor="ctr" rtlCol="false" tIns="0" lIns="0" bIns="0" rIns="0"/>
            <a:lstStyle/>
            <a:p>
              <a:pPr algn="ctr">
                <a:lnSpc>
                  <a:spcPts val="1980"/>
                </a:lnSpc>
              </a:pPr>
              <a:r>
                <a:rPr lang="en-US" sz="1650" b="true">
                  <a:solidFill>
                    <a:srgbClr val="DC2626"/>
                  </a:solidFill>
                  <a:latin typeface="Aptos Bold"/>
                  <a:ea typeface="Aptos Bold"/>
                  <a:cs typeface="Aptos Bold"/>
                  <a:sym typeface="Aptos Bold"/>
                </a:rPr>
                <a:t>7</a:t>
              </a:r>
            </a:p>
          </p:txBody>
        </p:sp>
      </p:grpSp>
      <p:grpSp>
        <p:nvGrpSpPr>
          <p:cNvPr name="Group 62" id="62"/>
          <p:cNvGrpSpPr/>
          <p:nvPr/>
        </p:nvGrpSpPr>
        <p:grpSpPr>
          <a:xfrm rot="0">
            <a:off x="2841686" y="6853428"/>
            <a:ext cx="1755648" cy="301752"/>
            <a:chOff x="0" y="0"/>
            <a:chExt cx="2340864" cy="402336"/>
          </a:xfrm>
        </p:grpSpPr>
        <p:sp>
          <p:nvSpPr>
            <p:cNvPr name="Freeform 63" id="63"/>
            <p:cNvSpPr/>
            <p:nvPr/>
          </p:nvSpPr>
          <p:spPr>
            <a:xfrm flipH="false" flipV="false" rot="0">
              <a:off x="0" y="0"/>
              <a:ext cx="2340864" cy="402336"/>
            </a:xfrm>
            <a:custGeom>
              <a:avLst/>
              <a:gdLst/>
              <a:ahLst/>
              <a:cxnLst/>
              <a:rect r="r" b="b" t="t" l="l"/>
              <a:pathLst>
                <a:path h="402336" w="2340864">
                  <a:moveTo>
                    <a:pt x="0" y="0"/>
                  </a:moveTo>
                  <a:lnTo>
                    <a:pt x="2340864" y="0"/>
                  </a:lnTo>
                  <a:lnTo>
                    <a:pt x="2340864" y="402336"/>
                  </a:lnTo>
                  <a:lnTo>
                    <a:pt x="0" y="402336"/>
                  </a:lnTo>
                  <a:close/>
                </a:path>
              </a:pathLst>
            </a:custGeom>
            <a:blipFill>
              <a:blip r:embed="rId2">
                <a:alphaModFix amt="0"/>
              </a:blip>
              <a:stretch>
                <a:fillRect l="0" t="-63367" r="0" b="-63367"/>
              </a:stretch>
            </a:blipFill>
          </p:spPr>
        </p:sp>
        <p:sp>
          <p:nvSpPr>
            <p:cNvPr name="TextBox 64" id="64"/>
            <p:cNvSpPr txBox="true"/>
            <p:nvPr/>
          </p:nvSpPr>
          <p:spPr>
            <a:xfrm>
              <a:off x="0" y="0"/>
              <a:ext cx="2340864" cy="402336"/>
            </a:xfrm>
            <a:prstGeom prst="rect">
              <a:avLst/>
            </a:prstGeom>
          </p:spPr>
          <p:txBody>
            <a:bodyPr anchor="ctr" rtlCol="false" tIns="0" lIns="0" bIns="0" rIns="0"/>
            <a:lstStyle/>
            <a:p>
              <a:pPr algn="ctr">
                <a:lnSpc>
                  <a:spcPts val="1889"/>
                </a:lnSpc>
              </a:pPr>
              <a:r>
                <a:rPr lang="en-US" sz="1575">
                  <a:solidFill>
                    <a:srgbClr val="475569"/>
                  </a:solidFill>
                  <a:latin typeface="Aptos"/>
                  <a:ea typeface="Aptos"/>
                  <a:cs typeface="Aptos"/>
                  <a:sym typeface="Aptos"/>
                </a:rPr>
                <a:t>Fail</a:t>
              </a:r>
            </a:p>
          </p:txBody>
        </p:sp>
      </p:grpSp>
      <p:grpSp>
        <p:nvGrpSpPr>
          <p:cNvPr name="Group 65" id="65"/>
          <p:cNvGrpSpPr/>
          <p:nvPr/>
        </p:nvGrpSpPr>
        <p:grpSpPr>
          <a:xfrm rot="0">
            <a:off x="4921184" y="5443728"/>
            <a:ext cx="1774698" cy="1362075"/>
            <a:chOff x="0" y="0"/>
            <a:chExt cx="2366264" cy="1816100"/>
          </a:xfrm>
        </p:grpSpPr>
        <p:sp>
          <p:nvSpPr>
            <p:cNvPr name="Freeform 66" id="66"/>
            <p:cNvSpPr/>
            <p:nvPr/>
          </p:nvSpPr>
          <p:spPr>
            <a:xfrm flipH="false" flipV="false" rot="0">
              <a:off x="12700" y="12700"/>
              <a:ext cx="2340864" cy="1790700"/>
            </a:xfrm>
            <a:custGeom>
              <a:avLst/>
              <a:gdLst/>
              <a:ahLst/>
              <a:cxnLst/>
              <a:rect r="r" b="b" t="t" l="l"/>
              <a:pathLst>
                <a:path h="1790700" w="2340864">
                  <a:moveTo>
                    <a:pt x="0" y="73152"/>
                  </a:moveTo>
                  <a:cubicBezTo>
                    <a:pt x="0" y="32766"/>
                    <a:pt x="32893" y="0"/>
                    <a:pt x="73406" y="0"/>
                  </a:cubicBezTo>
                  <a:lnTo>
                    <a:pt x="2267458" y="0"/>
                  </a:lnTo>
                  <a:cubicBezTo>
                    <a:pt x="2307971" y="0"/>
                    <a:pt x="2340864" y="32766"/>
                    <a:pt x="2340864" y="73152"/>
                  </a:cubicBezTo>
                  <a:lnTo>
                    <a:pt x="2340864" y="1717548"/>
                  </a:lnTo>
                  <a:cubicBezTo>
                    <a:pt x="2340864" y="1757934"/>
                    <a:pt x="2307971" y="1790700"/>
                    <a:pt x="2267458" y="1790700"/>
                  </a:cubicBezTo>
                  <a:lnTo>
                    <a:pt x="73406" y="1790700"/>
                  </a:lnTo>
                  <a:cubicBezTo>
                    <a:pt x="32893" y="1790700"/>
                    <a:pt x="0" y="1757934"/>
                    <a:pt x="0" y="1717548"/>
                  </a:cubicBezTo>
                  <a:close/>
                </a:path>
              </a:pathLst>
            </a:custGeom>
            <a:solidFill>
              <a:srgbClr val="F59E0B"/>
            </a:solidFill>
          </p:spPr>
        </p:sp>
        <p:sp>
          <p:nvSpPr>
            <p:cNvPr name="Freeform 67" id="67"/>
            <p:cNvSpPr/>
            <p:nvPr/>
          </p:nvSpPr>
          <p:spPr>
            <a:xfrm flipH="false" flipV="false" rot="0">
              <a:off x="0" y="0"/>
              <a:ext cx="2366264" cy="1816100"/>
            </a:xfrm>
            <a:custGeom>
              <a:avLst/>
              <a:gdLst/>
              <a:ahLst/>
              <a:cxnLst/>
              <a:rect r="r" b="b" t="t" l="l"/>
              <a:pathLst>
                <a:path h="1816100" w="2366264">
                  <a:moveTo>
                    <a:pt x="0" y="85852"/>
                  </a:moveTo>
                  <a:cubicBezTo>
                    <a:pt x="0" y="38354"/>
                    <a:pt x="38608" y="0"/>
                    <a:pt x="86106" y="0"/>
                  </a:cubicBezTo>
                  <a:lnTo>
                    <a:pt x="2280158" y="0"/>
                  </a:lnTo>
                  <a:lnTo>
                    <a:pt x="2280158" y="12700"/>
                  </a:lnTo>
                  <a:lnTo>
                    <a:pt x="2280158" y="0"/>
                  </a:lnTo>
                  <a:cubicBezTo>
                    <a:pt x="2327656" y="0"/>
                    <a:pt x="2366264" y="38354"/>
                    <a:pt x="2366264" y="85852"/>
                  </a:cubicBezTo>
                  <a:lnTo>
                    <a:pt x="2353564" y="85852"/>
                  </a:lnTo>
                  <a:lnTo>
                    <a:pt x="2366264" y="85852"/>
                  </a:lnTo>
                  <a:lnTo>
                    <a:pt x="2366264" y="1730248"/>
                  </a:lnTo>
                  <a:lnTo>
                    <a:pt x="2353564" y="1730248"/>
                  </a:lnTo>
                  <a:lnTo>
                    <a:pt x="2366264" y="1730248"/>
                  </a:lnTo>
                  <a:cubicBezTo>
                    <a:pt x="2366264" y="1777746"/>
                    <a:pt x="2327656" y="1816100"/>
                    <a:pt x="2280158" y="1816100"/>
                  </a:cubicBezTo>
                  <a:lnTo>
                    <a:pt x="2280158" y="1803400"/>
                  </a:lnTo>
                  <a:lnTo>
                    <a:pt x="2280158" y="1816100"/>
                  </a:lnTo>
                  <a:lnTo>
                    <a:pt x="86106" y="1816100"/>
                  </a:lnTo>
                  <a:lnTo>
                    <a:pt x="86106" y="1803400"/>
                  </a:lnTo>
                  <a:lnTo>
                    <a:pt x="86106" y="1816100"/>
                  </a:lnTo>
                  <a:cubicBezTo>
                    <a:pt x="38608" y="1816100"/>
                    <a:pt x="0" y="1777746"/>
                    <a:pt x="0" y="1730248"/>
                  </a:cubicBezTo>
                  <a:lnTo>
                    <a:pt x="0" y="85852"/>
                  </a:lnTo>
                  <a:lnTo>
                    <a:pt x="12700" y="85852"/>
                  </a:lnTo>
                  <a:lnTo>
                    <a:pt x="0" y="85852"/>
                  </a:lnTo>
                  <a:moveTo>
                    <a:pt x="25400" y="85852"/>
                  </a:moveTo>
                  <a:lnTo>
                    <a:pt x="25400" y="1730248"/>
                  </a:lnTo>
                  <a:lnTo>
                    <a:pt x="12700" y="1730248"/>
                  </a:lnTo>
                  <a:lnTo>
                    <a:pt x="25400" y="1730248"/>
                  </a:lnTo>
                  <a:cubicBezTo>
                    <a:pt x="25400" y="1763649"/>
                    <a:pt x="52578" y="1790700"/>
                    <a:pt x="86106" y="1790700"/>
                  </a:cubicBezTo>
                  <a:lnTo>
                    <a:pt x="2280158" y="1790700"/>
                  </a:lnTo>
                  <a:cubicBezTo>
                    <a:pt x="2313686" y="1790700"/>
                    <a:pt x="2340864" y="1763649"/>
                    <a:pt x="2340864" y="1730248"/>
                  </a:cubicBezTo>
                  <a:lnTo>
                    <a:pt x="2340864" y="85852"/>
                  </a:lnTo>
                  <a:cubicBezTo>
                    <a:pt x="2340864" y="52451"/>
                    <a:pt x="2313686" y="25400"/>
                    <a:pt x="2280158" y="25400"/>
                  </a:cubicBezTo>
                  <a:lnTo>
                    <a:pt x="86106" y="25400"/>
                  </a:lnTo>
                  <a:lnTo>
                    <a:pt x="86106" y="12700"/>
                  </a:lnTo>
                  <a:lnTo>
                    <a:pt x="86106" y="25400"/>
                  </a:lnTo>
                  <a:cubicBezTo>
                    <a:pt x="52578" y="25400"/>
                    <a:pt x="25400" y="52451"/>
                    <a:pt x="25400" y="85852"/>
                  </a:cubicBezTo>
                  <a:close/>
                </a:path>
              </a:pathLst>
            </a:custGeom>
            <a:solidFill>
              <a:srgbClr val="F59E0B"/>
            </a:solidFill>
          </p:spPr>
        </p:sp>
      </p:grpSp>
      <p:grpSp>
        <p:nvGrpSpPr>
          <p:cNvPr name="Group 68" id="68"/>
          <p:cNvGrpSpPr/>
          <p:nvPr/>
        </p:nvGrpSpPr>
        <p:grpSpPr>
          <a:xfrm rot="0">
            <a:off x="4930709" y="5144643"/>
            <a:ext cx="1755648" cy="246888"/>
            <a:chOff x="0" y="0"/>
            <a:chExt cx="2340864" cy="329184"/>
          </a:xfrm>
        </p:grpSpPr>
        <p:sp>
          <p:nvSpPr>
            <p:cNvPr name="Freeform 69" id="69"/>
            <p:cNvSpPr/>
            <p:nvPr/>
          </p:nvSpPr>
          <p:spPr>
            <a:xfrm flipH="false" flipV="false" rot="0">
              <a:off x="0" y="0"/>
              <a:ext cx="2340864" cy="329184"/>
            </a:xfrm>
            <a:custGeom>
              <a:avLst/>
              <a:gdLst/>
              <a:ahLst/>
              <a:cxnLst/>
              <a:rect r="r" b="b" t="t" l="l"/>
              <a:pathLst>
                <a:path h="329184" w="2340864">
                  <a:moveTo>
                    <a:pt x="0" y="0"/>
                  </a:moveTo>
                  <a:lnTo>
                    <a:pt x="2340864" y="0"/>
                  </a:lnTo>
                  <a:lnTo>
                    <a:pt x="2340864" y="329184"/>
                  </a:lnTo>
                  <a:lnTo>
                    <a:pt x="0" y="329184"/>
                  </a:lnTo>
                  <a:close/>
                </a:path>
              </a:pathLst>
            </a:custGeom>
            <a:blipFill>
              <a:blip r:embed="rId2">
                <a:alphaModFix amt="0"/>
              </a:blip>
              <a:stretch>
                <a:fillRect l="0" t="-88560" r="0" b="-88560"/>
              </a:stretch>
            </a:blipFill>
          </p:spPr>
        </p:sp>
        <p:sp>
          <p:nvSpPr>
            <p:cNvPr name="TextBox 70" id="70"/>
            <p:cNvSpPr txBox="true"/>
            <p:nvPr/>
          </p:nvSpPr>
          <p:spPr>
            <a:xfrm>
              <a:off x="0" y="0"/>
              <a:ext cx="2340864" cy="329184"/>
            </a:xfrm>
            <a:prstGeom prst="rect">
              <a:avLst/>
            </a:prstGeom>
          </p:spPr>
          <p:txBody>
            <a:bodyPr anchor="ctr" rtlCol="false" tIns="0" lIns="0" bIns="0" rIns="0"/>
            <a:lstStyle/>
            <a:p>
              <a:pPr algn="ctr">
                <a:lnSpc>
                  <a:spcPts val="1980"/>
                </a:lnSpc>
              </a:pPr>
              <a:r>
                <a:rPr lang="en-US" sz="1650" b="true">
                  <a:solidFill>
                    <a:srgbClr val="F59E0B"/>
                  </a:solidFill>
                  <a:latin typeface="Aptos Bold"/>
                  <a:ea typeface="Aptos Bold"/>
                  <a:cs typeface="Aptos Bold"/>
                  <a:sym typeface="Aptos Bold"/>
                </a:rPr>
                <a:t>5</a:t>
              </a:r>
            </a:p>
          </p:txBody>
        </p:sp>
      </p:grpSp>
      <p:grpSp>
        <p:nvGrpSpPr>
          <p:cNvPr name="Group 71" id="71"/>
          <p:cNvGrpSpPr/>
          <p:nvPr/>
        </p:nvGrpSpPr>
        <p:grpSpPr>
          <a:xfrm rot="0">
            <a:off x="4940234" y="6805803"/>
            <a:ext cx="1755648" cy="301752"/>
            <a:chOff x="0" y="0"/>
            <a:chExt cx="2340864" cy="402336"/>
          </a:xfrm>
        </p:grpSpPr>
        <p:sp>
          <p:nvSpPr>
            <p:cNvPr name="Freeform 72" id="72"/>
            <p:cNvSpPr/>
            <p:nvPr/>
          </p:nvSpPr>
          <p:spPr>
            <a:xfrm flipH="false" flipV="false" rot="0">
              <a:off x="0" y="0"/>
              <a:ext cx="2340864" cy="402336"/>
            </a:xfrm>
            <a:custGeom>
              <a:avLst/>
              <a:gdLst/>
              <a:ahLst/>
              <a:cxnLst/>
              <a:rect r="r" b="b" t="t" l="l"/>
              <a:pathLst>
                <a:path h="402336" w="2340864">
                  <a:moveTo>
                    <a:pt x="0" y="0"/>
                  </a:moveTo>
                  <a:lnTo>
                    <a:pt x="2340864" y="0"/>
                  </a:lnTo>
                  <a:lnTo>
                    <a:pt x="2340864" y="402336"/>
                  </a:lnTo>
                  <a:lnTo>
                    <a:pt x="0" y="402336"/>
                  </a:lnTo>
                  <a:close/>
                </a:path>
              </a:pathLst>
            </a:custGeom>
            <a:blipFill>
              <a:blip r:embed="rId2">
                <a:alphaModFix amt="0"/>
              </a:blip>
              <a:stretch>
                <a:fillRect l="0" t="-63367" r="0" b="-63367"/>
              </a:stretch>
            </a:blipFill>
          </p:spPr>
        </p:sp>
        <p:sp>
          <p:nvSpPr>
            <p:cNvPr name="TextBox 73" id="73"/>
            <p:cNvSpPr txBox="true"/>
            <p:nvPr/>
          </p:nvSpPr>
          <p:spPr>
            <a:xfrm>
              <a:off x="0" y="0"/>
              <a:ext cx="2340864" cy="402336"/>
            </a:xfrm>
            <a:prstGeom prst="rect">
              <a:avLst/>
            </a:prstGeom>
          </p:spPr>
          <p:txBody>
            <a:bodyPr anchor="ctr" rtlCol="false" tIns="0" lIns="0" bIns="0" rIns="0"/>
            <a:lstStyle/>
            <a:p>
              <a:pPr algn="ctr">
                <a:lnSpc>
                  <a:spcPts val="1889"/>
                </a:lnSpc>
              </a:pPr>
              <a:r>
                <a:rPr lang="en-US" sz="1575">
                  <a:solidFill>
                    <a:srgbClr val="475569"/>
                  </a:solidFill>
                  <a:latin typeface="Aptos"/>
                  <a:ea typeface="Aptos"/>
                  <a:cs typeface="Aptos"/>
                  <a:sym typeface="Aptos"/>
                </a:rPr>
                <a:t>Ignored</a:t>
              </a:r>
            </a:p>
          </p:txBody>
        </p:sp>
      </p:grpSp>
      <p:grpSp>
        <p:nvGrpSpPr>
          <p:cNvPr name="Group 74" id="74"/>
          <p:cNvGrpSpPr/>
          <p:nvPr/>
        </p:nvGrpSpPr>
        <p:grpSpPr>
          <a:xfrm rot="0">
            <a:off x="754380" y="7383780"/>
            <a:ext cx="6112190" cy="988442"/>
            <a:chOff x="0" y="0"/>
            <a:chExt cx="8149587" cy="1317923"/>
          </a:xfrm>
        </p:grpSpPr>
        <p:sp>
          <p:nvSpPr>
            <p:cNvPr name="Freeform 75" id="75"/>
            <p:cNvSpPr/>
            <p:nvPr/>
          </p:nvSpPr>
          <p:spPr>
            <a:xfrm flipH="false" flipV="false" rot="0">
              <a:off x="0" y="0"/>
              <a:ext cx="8149586" cy="1317923"/>
            </a:xfrm>
            <a:custGeom>
              <a:avLst/>
              <a:gdLst/>
              <a:ahLst/>
              <a:cxnLst/>
              <a:rect r="r" b="b" t="t" l="l"/>
              <a:pathLst>
                <a:path h="1317923" w="8149586">
                  <a:moveTo>
                    <a:pt x="0" y="0"/>
                  </a:moveTo>
                  <a:lnTo>
                    <a:pt x="8149586" y="0"/>
                  </a:lnTo>
                  <a:lnTo>
                    <a:pt x="8149586" y="1317923"/>
                  </a:lnTo>
                  <a:lnTo>
                    <a:pt x="0" y="1317923"/>
                  </a:lnTo>
                  <a:close/>
                </a:path>
              </a:pathLst>
            </a:custGeom>
            <a:blipFill>
              <a:blip r:embed="rId2">
                <a:alphaModFix amt="0"/>
              </a:blip>
              <a:stretch>
                <a:fillRect l="0" t="-99005" r="-15568" b="-79488"/>
              </a:stretch>
            </a:blipFill>
          </p:spPr>
        </p:sp>
        <p:sp>
          <p:nvSpPr>
            <p:cNvPr name="TextBox 76" id="76"/>
            <p:cNvSpPr txBox="true"/>
            <p:nvPr/>
          </p:nvSpPr>
          <p:spPr>
            <a:xfrm>
              <a:off x="0" y="-9525"/>
              <a:ext cx="8149587" cy="13274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Nhận xét: Hệ thống có 50% test đạt, nhưng vẫn tồn tại các lỗi localization quan trọng ở nhóm tiền tệ, dịch thuật và RTL.</a:t>
              </a:r>
            </a:p>
          </p:txBody>
        </p:sp>
      </p:grpSp>
      <p:grpSp>
        <p:nvGrpSpPr>
          <p:cNvPr name="Group 77" id="77"/>
          <p:cNvGrpSpPr/>
          <p:nvPr/>
        </p:nvGrpSpPr>
        <p:grpSpPr>
          <a:xfrm rot="0">
            <a:off x="7813712" y="3112387"/>
            <a:ext cx="9239385" cy="6717413"/>
            <a:chOff x="0" y="0"/>
            <a:chExt cx="9718845" cy="7066000"/>
          </a:xfrm>
        </p:grpSpPr>
        <p:sp>
          <p:nvSpPr>
            <p:cNvPr name="Freeform 78" id="78"/>
            <p:cNvSpPr/>
            <p:nvPr/>
          </p:nvSpPr>
          <p:spPr>
            <a:xfrm flipH="false" flipV="false" rot="0">
              <a:off x="12240" y="13769"/>
              <a:ext cx="9694364" cy="7038463"/>
            </a:xfrm>
            <a:custGeom>
              <a:avLst/>
              <a:gdLst/>
              <a:ahLst/>
              <a:cxnLst/>
              <a:rect r="r" b="b" t="t" l="l"/>
              <a:pathLst>
                <a:path h="7038463" w="9694364">
                  <a:moveTo>
                    <a:pt x="0" y="158613"/>
                  </a:moveTo>
                  <a:cubicBezTo>
                    <a:pt x="0" y="71045"/>
                    <a:pt x="63283" y="0"/>
                    <a:pt x="141254" y="0"/>
                  </a:cubicBezTo>
                  <a:lnTo>
                    <a:pt x="9553111" y="0"/>
                  </a:lnTo>
                  <a:cubicBezTo>
                    <a:pt x="9631082" y="0"/>
                    <a:pt x="9694364" y="71045"/>
                    <a:pt x="9694364" y="158613"/>
                  </a:cubicBezTo>
                  <a:lnTo>
                    <a:pt x="9694364" y="6879849"/>
                  </a:lnTo>
                  <a:cubicBezTo>
                    <a:pt x="9694364" y="6967417"/>
                    <a:pt x="9631082" y="7038463"/>
                    <a:pt x="9553111" y="7038463"/>
                  </a:cubicBezTo>
                  <a:lnTo>
                    <a:pt x="141254" y="7038463"/>
                  </a:lnTo>
                  <a:cubicBezTo>
                    <a:pt x="63283" y="7038463"/>
                    <a:pt x="0" y="6967417"/>
                    <a:pt x="0" y="6879849"/>
                  </a:cubicBezTo>
                  <a:close/>
                </a:path>
              </a:pathLst>
            </a:custGeom>
            <a:solidFill>
              <a:srgbClr val="FFFFFF"/>
            </a:solidFill>
          </p:spPr>
        </p:sp>
        <p:sp>
          <p:nvSpPr>
            <p:cNvPr name="Freeform 79" id="79"/>
            <p:cNvSpPr/>
            <p:nvPr/>
          </p:nvSpPr>
          <p:spPr>
            <a:xfrm flipH="false" flipV="false" rot="0">
              <a:off x="0" y="0"/>
              <a:ext cx="9718845" cy="7066000"/>
            </a:xfrm>
            <a:custGeom>
              <a:avLst/>
              <a:gdLst/>
              <a:ahLst/>
              <a:cxnLst/>
              <a:rect r="r" b="b" t="t" l="l"/>
              <a:pathLst>
                <a:path h="7066000" w="9718845">
                  <a:moveTo>
                    <a:pt x="0" y="172382"/>
                  </a:moveTo>
                  <a:cubicBezTo>
                    <a:pt x="0" y="77241"/>
                    <a:pt x="68668" y="0"/>
                    <a:pt x="153494" y="0"/>
                  </a:cubicBezTo>
                  <a:lnTo>
                    <a:pt x="9565351" y="0"/>
                  </a:lnTo>
                  <a:lnTo>
                    <a:pt x="9565351" y="13769"/>
                  </a:lnTo>
                  <a:lnTo>
                    <a:pt x="9565351" y="0"/>
                  </a:lnTo>
                  <a:cubicBezTo>
                    <a:pt x="9650177" y="0"/>
                    <a:pt x="9718845" y="77241"/>
                    <a:pt x="9718845" y="172382"/>
                  </a:cubicBezTo>
                  <a:lnTo>
                    <a:pt x="9706604" y="172382"/>
                  </a:lnTo>
                  <a:lnTo>
                    <a:pt x="9718845" y="172382"/>
                  </a:lnTo>
                  <a:lnTo>
                    <a:pt x="9718845" y="6893618"/>
                  </a:lnTo>
                  <a:lnTo>
                    <a:pt x="9706604" y="6893618"/>
                  </a:lnTo>
                  <a:lnTo>
                    <a:pt x="9718845" y="6893618"/>
                  </a:lnTo>
                  <a:cubicBezTo>
                    <a:pt x="9718845" y="6988897"/>
                    <a:pt x="9650177" y="7066000"/>
                    <a:pt x="9565351" y="7066000"/>
                  </a:cubicBezTo>
                  <a:lnTo>
                    <a:pt x="9565351" y="7052232"/>
                  </a:lnTo>
                  <a:lnTo>
                    <a:pt x="9565351" y="7066000"/>
                  </a:lnTo>
                  <a:lnTo>
                    <a:pt x="153494" y="7066000"/>
                  </a:lnTo>
                  <a:lnTo>
                    <a:pt x="153494" y="7052232"/>
                  </a:lnTo>
                  <a:lnTo>
                    <a:pt x="153494" y="7066000"/>
                  </a:lnTo>
                  <a:cubicBezTo>
                    <a:pt x="68668" y="7066000"/>
                    <a:pt x="0" y="6988759"/>
                    <a:pt x="0" y="6893618"/>
                  </a:cubicBezTo>
                  <a:lnTo>
                    <a:pt x="0" y="172382"/>
                  </a:lnTo>
                  <a:lnTo>
                    <a:pt x="12240" y="172382"/>
                  </a:lnTo>
                  <a:lnTo>
                    <a:pt x="0" y="172382"/>
                  </a:lnTo>
                  <a:moveTo>
                    <a:pt x="24481" y="172382"/>
                  </a:moveTo>
                  <a:lnTo>
                    <a:pt x="24481" y="6893618"/>
                  </a:lnTo>
                  <a:lnTo>
                    <a:pt x="12240" y="6893618"/>
                  </a:lnTo>
                  <a:lnTo>
                    <a:pt x="24481" y="6893618"/>
                  </a:lnTo>
                  <a:cubicBezTo>
                    <a:pt x="24481" y="6973613"/>
                    <a:pt x="82255" y="7038463"/>
                    <a:pt x="153494" y="7038463"/>
                  </a:cubicBezTo>
                  <a:lnTo>
                    <a:pt x="9565351" y="7038463"/>
                  </a:lnTo>
                  <a:cubicBezTo>
                    <a:pt x="9636590" y="7038463"/>
                    <a:pt x="9694364" y="6973613"/>
                    <a:pt x="9694364" y="6893618"/>
                  </a:cubicBezTo>
                  <a:lnTo>
                    <a:pt x="9694364" y="172382"/>
                  </a:lnTo>
                  <a:cubicBezTo>
                    <a:pt x="9694364" y="92387"/>
                    <a:pt x="9636590" y="27537"/>
                    <a:pt x="9565351" y="27537"/>
                  </a:cubicBezTo>
                  <a:lnTo>
                    <a:pt x="153494" y="27537"/>
                  </a:lnTo>
                  <a:lnTo>
                    <a:pt x="153494" y="13769"/>
                  </a:lnTo>
                  <a:lnTo>
                    <a:pt x="153494" y="27537"/>
                  </a:lnTo>
                  <a:cubicBezTo>
                    <a:pt x="82255" y="27537"/>
                    <a:pt x="24481" y="92387"/>
                    <a:pt x="24481" y="172382"/>
                  </a:cubicBezTo>
                  <a:close/>
                </a:path>
              </a:pathLst>
            </a:custGeom>
            <a:solidFill>
              <a:srgbClr val="E2E8F0"/>
            </a:solidFill>
          </p:spPr>
        </p:sp>
      </p:grpSp>
      <p:sp>
        <p:nvSpPr>
          <p:cNvPr name="TextBox 80" id="80"/>
          <p:cNvSpPr txBox="true"/>
          <p:nvPr/>
        </p:nvSpPr>
        <p:spPr>
          <a:xfrm rot="0">
            <a:off x="8230987" y="3413569"/>
            <a:ext cx="8404836" cy="6410325"/>
          </a:xfrm>
          <a:prstGeom prst="rect">
            <a:avLst/>
          </a:prstGeom>
        </p:spPr>
        <p:txBody>
          <a:bodyPr anchor="t" rtlCol="false" tIns="0" lIns="0" bIns="0" rIns="0">
            <a:spAutoFit/>
          </a:bodyPr>
          <a:lstStyle/>
          <a:p>
            <a:pPr algn="just">
              <a:lnSpc>
                <a:spcPts val="2400"/>
              </a:lnSpc>
            </a:pPr>
            <a:r>
              <a:rPr lang="en-US" sz="2000">
                <a:solidFill>
                  <a:srgbClr val="000000"/>
                </a:solidFill>
                <a:latin typeface="Aptos"/>
                <a:ea typeface="Aptos"/>
                <a:cs typeface="Aptos"/>
                <a:sym typeface="Aptos"/>
              </a:rPr>
              <a:t>1. Các Module hoạt động TỐT (100% PASS)</a:t>
            </a:r>
          </a:p>
          <a:p>
            <a:pPr algn="just" marL="431801" indent="-215900" lvl="1">
              <a:lnSpc>
                <a:spcPts val="2400"/>
              </a:lnSpc>
              <a:buFont typeface="Arial"/>
              <a:buChar char="•"/>
            </a:pPr>
            <a:r>
              <a:rPr lang="en-US" sz="2000">
                <a:solidFill>
                  <a:srgbClr val="000000"/>
                </a:solidFill>
                <a:latin typeface="Aptos"/>
                <a:ea typeface="Aptos"/>
                <a:cs typeface="Aptos"/>
                <a:sym typeface="Aptos"/>
              </a:rPr>
              <a:t>Tràn văn bản (Text Overflow) - 4 Pass: Hệ thống CSS/UI co giãn rất tốt. Dù văn bản tiếng Việt/Pháp dài hơn, các nút bấm và menu không hề bị tràn chữ.</a:t>
            </a:r>
          </a:p>
          <a:p>
            <a:pPr algn="just" marL="431801" indent="-215900" lvl="1">
              <a:lnSpc>
                <a:spcPts val="2400"/>
              </a:lnSpc>
              <a:buFont typeface="Arial"/>
              <a:buChar char="•"/>
            </a:pPr>
            <a:r>
              <a:rPr lang="en-US" sz="2000">
                <a:solidFill>
                  <a:srgbClr val="000000"/>
                </a:solidFill>
                <a:latin typeface="Aptos"/>
                <a:ea typeface="Aptos"/>
                <a:cs typeface="Aptos"/>
                <a:sym typeface="Aptos"/>
              </a:rPr>
              <a:t>Mã hóa ký tự (Charset) - 4 Pass: Hiển thị hoàn hảo, không bị vỡ font đối với ký tự Latin mở rộng (Tiếng Việt) và nét chữ nối của Tiếng Ả Rập.</a:t>
            </a:r>
          </a:p>
          <a:p>
            <a:pPr algn="just">
              <a:lnSpc>
                <a:spcPts val="2400"/>
              </a:lnSpc>
            </a:pPr>
            <a:r>
              <a:rPr lang="en-US" sz="2000">
                <a:solidFill>
                  <a:srgbClr val="000000"/>
                </a:solidFill>
                <a:latin typeface="Aptos"/>
                <a:ea typeface="Aptos"/>
                <a:cs typeface="Aptos"/>
                <a:sym typeface="Aptos"/>
              </a:rPr>
              <a:t>2. Các Module TỒN TẠI LỖI (Có tỷ lệ FAIL cao)</a:t>
            </a:r>
          </a:p>
          <a:p>
            <a:pPr algn="just" marL="431801" indent="-215900" lvl="1">
              <a:lnSpc>
                <a:spcPts val="2400"/>
              </a:lnSpc>
              <a:buFont typeface="Arial"/>
              <a:buChar char="•"/>
            </a:pPr>
            <a:r>
              <a:rPr lang="en-US" sz="2000">
                <a:solidFill>
                  <a:srgbClr val="000000"/>
                </a:solidFill>
                <a:latin typeface="Aptos"/>
                <a:ea typeface="Aptos"/>
                <a:cs typeface="Aptos"/>
                <a:sym typeface="Aptos"/>
              </a:rPr>
              <a:t>Tiền tệ (Currency) - 1 Pass, 3 Fail: Chỉ đúng với bản tiếng Pháp. Các ngôn ngữ EN, VI, AR đều bị lỗi sai ký hiệu do hệ thống mặc định cấu hình là Euro (€).</a:t>
            </a:r>
          </a:p>
          <a:p>
            <a:pPr algn="just" marL="431801" indent="-215900" lvl="1">
              <a:lnSpc>
                <a:spcPts val="2400"/>
              </a:lnSpc>
              <a:buFont typeface="Arial"/>
              <a:buChar char="•"/>
            </a:pPr>
            <a:r>
              <a:rPr lang="en-US" sz="2000">
                <a:solidFill>
                  <a:srgbClr val="000000"/>
                </a:solidFill>
                <a:latin typeface="Aptos"/>
                <a:ea typeface="Aptos"/>
                <a:cs typeface="Aptos"/>
                <a:sym typeface="Aptos"/>
              </a:rPr>
              <a:t>Dịch thuật (Untranslated Text) - 3 Fail, 1 Ignored: Sót hàng loạt từ khóa tiếng Anh bị "hardcode" ở khu vực Footer và Menu của bản tiếng Việt (7 từ), Ả Rập (8 từ) và Pháp (1 từ).</a:t>
            </a:r>
          </a:p>
          <a:p>
            <a:pPr algn="just" marL="431801" indent="-215900" lvl="1">
              <a:lnSpc>
                <a:spcPts val="2400"/>
              </a:lnSpc>
              <a:buFont typeface="Arial"/>
              <a:buChar char="•"/>
            </a:pPr>
            <a:r>
              <a:rPr lang="en-US" sz="2000">
                <a:solidFill>
                  <a:srgbClr val="000000"/>
                </a:solidFill>
                <a:latin typeface="Aptos"/>
                <a:ea typeface="Aptos"/>
                <a:cs typeface="Aptos"/>
                <a:sym typeface="Aptos"/>
              </a:rPr>
              <a:t>Hướng bố cục (Layout RTL) - 3 Pass, 1 Fail: Lỗi nghiêm trọng chỉ xuất hiện ở bản tiếng Ả Rập (hệ thống thiếu thẻ dir="rtl" khiến giao diện không lật phải).</a:t>
            </a:r>
          </a:p>
          <a:p>
            <a:pPr algn="just">
              <a:lnSpc>
                <a:spcPts val="2400"/>
              </a:lnSpc>
            </a:pPr>
            <a:r>
              <a:rPr lang="en-US" sz="2000">
                <a:solidFill>
                  <a:srgbClr val="000000"/>
                </a:solidFill>
                <a:latin typeface="Aptos"/>
                <a:ea typeface="Aptos"/>
                <a:cs typeface="Aptos"/>
                <a:sym typeface="Aptos"/>
              </a:rPr>
              <a:t>3. Module BỎ QUA (IGNORED)</a:t>
            </a:r>
          </a:p>
          <a:p>
            <a:pPr algn="just" marL="431801" indent="-215900" lvl="1">
              <a:lnSpc>
                <a:spcPts val="2400"/>
              </a:lnSpc>
              <a:buFont typeface="Arial"/>
              <a:buChar char="•"/>
            </a:pPr>
            <a:r>
              <a:rPr lang="en-US" sz="2000">
                <a:solidFill>
                  <a:srgbClr val="000000"/>
                </a:solidFill>
                <a:latin typeface="Aptos"/>
                <a:ea typeface="Aptos"/>
                <a:cs typeface="Aptos"/>
                <a:sym typeface="Aptos"/>
              </a:rPr>
              <a:t>Ngày tháng (Date Format) - 4 Ignored: Do trang danh sách sản phẩm của hệ thống Demo hiện tại không hiển thị phần tử ngày tháng tĩnh nên kịch bản Automation tự động đánh dấu bỏ qua để không gây lỗi Timeout.</a:t>
            </a:r>
          </a:p>
          <a:p>
            <a:pPr algn="just">
              <a:lnSpc>
                <a:spcPts val="2400"/>
              </a:lnSpc>
            </a:pPr>
          </a:p>
        </p:txBody>
      </p:sp>
      <p:sp>
        <p:nvSpPr>
          <p:cNvPr name="TextBox 81" id="81"/>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Các lỗi nổi bật được phát hiện</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Bug nổi bật</a:t>
              </a:r>
            </a:p>
          </p:txBody>
        </p:sp>
      </p:grpSp>
      <p:grpSp>
        <p:nvGrpSpPr>
          <p:cNvPr name="Group 14" id="14"/>
          <p:cNvGrpSpPr/>
          <p:nvPr/>
        </p:nvGrpSpPr>
        <p:grpSpPr>
          <a:xfrm rot="0">
            <a:off x="978027" y="1979295"/>
            <a:ext cx="4705946" cy="3545365"/>
            <a:chOff x="0" y="0"/>
            <a:chExt cx="6274595" cy="4727154"/>
          </a:xfrm>
        </p:grpSpPr>
        <p:sp>
          <p:nvSpPr>
            <p:cNvPr name="Freeform 15" id="15"/>
            <p:cNvSpPr/>
            <p:nvPr/>
          </p:nvSpPr>
          <p:spPr>
            <a:xfrm flipH="false" flipV="false" rot="0">
              <a:off x="10993" y="8839"/>
              <a:ext cx="6252610" cy="4709476"/>
            </a:xfrm>
            <a:custGeom>
              <a:avLst/>
              <a:gdLst/>
              <a:ahLst/>
              <a:cxnLst/>
              <a:rect r="r" b="b" t="t" l="l"/>
              <a:pathLst>
                <a:path h="4709476" w="6252610">
                  <a:moveTo>
                    <a:pt x="0" y="101827"/>
                  </a:moveTo>
                  <a:cubicBezTo>
                    <a:pt x="0" y="45610"/>
                    <a:pt x="56722" y="0"/>
                    <a:pt x="126635" y="0"/>
                  </a:cubicBezTo>
                  <a:lnTo>
                    <a:pt x="6125975" y="0"/>
                  </a:lnTo>
                  <a:cubicBezTo>
                    <a:pt x="6195887" y="0"/>
                    <a:pt x="6252610" y="45610"/>
                    <a:pt x="6252610" y="101827"/>
                  </a:cubicBezTo>
                  <a:lnTo>
                    <a:pt x="6252610" y="4607650"/>
                  </a:lnTo>
                  <a:cubicBezTo>
                    <a:pt x="6252610" y="4663866"/>
                    <a:pt x="6195887" y="4709476"/>
                    <a:pt x="6125975" y="4709476"/>
                  </a:cubicBezTo>
                  <a:lnTo>
                    <a:pt x="126635" y="4709476"/>
                  </a:lnTo>
                  <a:cubicBezTo>
                    <a:pt x="56722" y="4709476"/>
                    <a:pt x="0" y="4663866"/>
                    <a:pt x="0" y="4607650"/>
                  </a:cubicBezTo>
                  <a:close/>
                </a:path>
              </a:pathLst>
            </a:custGeom>
            <a:solidFill>
              <a:srgbClr val="FFFFFF"/>
            </a:solidFill>
          </p:spPr>
        </p:sp>
        <p:sp>
          <p:nvSpPr>
            <p:cNvPr name="Freeform 16" id="16"/>
            <p:cNvSpPr/>
            <p:nvPr/>
          </p:nvSpPr>
          <p:spPr>
            <a:xfrm flipH="false" flipV="false" rot="0">
              <a:off x="0" y="0"/>
              <a:ext cx="6274596" cy="4727154"/>
            </a:xfrm>
            <a:custGeom>
              <a:avLst/>
              <a:gdLst/>
              <a:ahLst/>
              <a:cxnLst/>
              <a:rect r="r" b="b" t="t" l="l"/>
              <a:pathLst>
                <a:path h="4727154" w="6274596">
                  <a:moveTo>
                    <a:pt x="0" y="110666"/>
                  </a:moveTo>
                  <a:cubicBezTo>
                    <a:pt x="0" y="49499"/>
                    <a:pt x="61669" y="0"/>
                    <a:pt x="137628" y="0"/>
                  </a:cubicBezTo>
                  <a:lnTo>
                    <a:pt x="6136968" y="0"/>
                  </a:lnTo>
                  <a:lnTo>
                    <a:pt x="6136968" y="8839"/>
                  </a:lnTo>
                  <a:lnTo>
                    <a:pt x="6136968" y="0"/>
                  </a:lnTo>
                  <a:cubicBezTo>
                    <a:pt x="6213036" y="0"/>
                    <a:pt x="6274596" y="49499"/>
                    <a:pt x="6274596" y="110666"/>
                  </a:cubicBezTo>
                  <a:lnTo>
                    <a:pt x="6263603" y="110666"/>
                  </a:lnTo>
                  <a:lnTo>
                    <a:pt x="6274596" y="110666"/>
                  </a:lnTo>
                  <a:lnTo>
                    <a:pt x="6274596" y="4616489"/>
                  </a:lnTo>
                  <a:lnTo>
                    <a:pt x="6263603" y="4616489"/>
                  </a:lnTo>
                  <a:lnTo>
                    <a:pt x="6274596" y="4616489"/>
                  </a:lnTo>
                  <a:cubicBezTo>
                    <a:pt x="6274596" y="4677567"/>
                    <a:pt x="6212926" y="4727154"/>
                    <a:pt x="6136968" y="4727154"/>
                  </a:cubicBezTo>
                  <a:lnTo>
                    <a:pt x="6136968" y="4718315"/>
                  </a:lnTo>
                  <a:lnTo>
                    <a:pt x="6136968" y="4727154"/>
                  </a:lnTo>
                  <a:lnTo>
                    <a:pt x="137628" y="4727154"/>
                  </a:lnTo>
                  <a:lnTo>
                    <a:pt x="137628" y="4718315"/>
                  </a:lnTo>
                  <a:lnTo>
                    <a:pt x="137628" y="4727154"/>
                  </a:lnTo>
                  <a:cubicBezTo>
                    <a:pt x="61669" y="4727154"/>
                    <a:pt x="0" y="4677655"/>
                    <a:pt x="0" y="4616489"/>
                  </a:cubicBezTo>
                  <a:lnTo>
                    <a:pt x="0" y="110666"/>
                  </a:lnTo>
                  <a:lnTo>
                    <a:pt x="10993" y="110666"/>
                  </a:lnTo>
                  <a:lnTo>
                    <a:pt x="0" y="110666"/>
                  </a:lnTo>
                  <a:moveTo>
                    <a:pt x="21985" y="110666"/>
                  </a:moveTo>
                  <a:lnTo>
                    <a:pt x="21985" y="4616489"/>
                  </a:lnTo>
                  <a:lnTo>
                    <a:pt x="10993" y="4616489"/>
                  </a:lnTo>
                  <a:lnTo>
                    <a:pt x="21985" y="4616489"/>
                  </a:lnTo>
                  <a:cubicBezTo>
                    <a:pt x="21985" y="4667844"/>
                    <a:pt x="73761" y="4709476"/>
                    <a:pt x="137628" y="4709476"/>
                  </a:cubicBezTo>
                  <a:lnTo>
                    <a:pt x="6136968" y="4709476"/>
                  </a:lnTo>
                  <a:cubicBezTo>
                    <a:pt x="6200835" y="4709476"/>
                    <a:pt x="6252610" y="4667844"/>
                    <a:pt x="6252610" y="4616489"/>
                  </a:cubicBezTo>
                  <a:lnTo>
                    <a:pt x="6252610" y="110666"/>
                  </a:lnTo>
                  <a:cubicBezTo>
                    <a:pt x="6252609" y="59310"/>
                    <a:pt x="6200835" y="17678"/>
                    <a:pt x="6136968" y="17678"/>
                  </a:cubicBezTo>
                  <a:lnTo>
                    <a:pt x="137628" y="17678"/>
                  </a:lnTo>
                  <a:lnTo>
                    <a:pt x="137628" y="8839"/>
                  </a:lnTo>
                  <a:lnTo>
                    <a:pt x="137628" y="17678"/>
                  </a:lnTo>
                  <a:cubicBezTo>
                    <a:pt x="73761" y="17678"/>
                    <a:pt x="21985" y="59310"/>
                    <a:pt x="21985" y="110666"/>
                  </a:cubicBezTo>
                  <a:close/>
                </a:path>
              </a:pathLst>
            </a:custGeom>
            <a:solidFill>
              <a:srgbClr val="E2E8F0"/>
            </a:solidFill>
          </p:spPr>
        </p:sp>
      </p:grpSp>
      <p:grpSp>
        <p:nvGrpSpPr>
          <p:cNvPr name="Group 17" id="17"/>
          <p:cNvGrpSpPr/>
          <p:nvPr/>
        </p:nvGrpSpPr>
        <p:grpSpPr>
          <a:xfrm rot="0">
            <a:off x="978027" y="1979295"/>
            <a:ext cx="183642" cy="3545365"/>
            <a:chOff x="0" y="0"/>
            <a:chExt cx="244856" cy="4727154"/>
          </a:xfrm>
        </p:grpSpPr>
        <p:sp>
          <p:nvSpPr>
            <p:cNvPr name="Freeform 18" id="18"/>
            <p:cNvSpPr/>
            <p:nvPr/>
          </p:nvSpPr>
          <p:spPr>
            <a:xfrm flipH="false" flipV="false" rot="0">
              <a:off x="12700" y="8839"/>
              <a:ext cx="219456" cy="4709476"/>
            </a:xfrm>
            <a:custGeom>
              <a:avLst/>
              <a:gdLst/>
              <a:ahLst/>
              <a:cxnLst/>
              <a:rect r="r" b="b" t="t" l="l"/>
              <a:pathLst>
                <a:path h="4709476" w="219456">
                  <a:moveTo>
                    <a:pt x="0" y="0"/>
                  </a:moveTo>
                  <a:lnTo>
                    <a:pt x="219456" y="0"/>
                  </a:lnTo>
                  <a:lnTo>
                    <a:pt x="219456" y="4709476"/>
                  </a:lnTo>
                  <a:lnTo>
                    <a:pt x="0" y="4709476"/>
                  </a:lnTo>
                  <a:close/>
                </a:path>
              </a:pathLst>
            </a:custGeom>
            <a:solidFill>
              <a:srgbClr val="DC2626"/>
            </a:solidFill>
          </p:spPr>
        </p:sp>
        <p:sp>
          <p:nvSpPr>
            <p:cNvPr name="Freeform 19" id="19"/>
            <p:cNvSpPr/>
            <p:nvPr/>
          </p:nvSpPr>
          <p:spPr>
            <a:xfrm flipH="false" flipV="false" rot="0">
              <a:off x="0" y="0"/>
              <a:ext cx="244856" cy="4727154"/>
            </a:xfrm>
            <a:custGeom>
              <a:avLst/>
              <a:gdLst/>
              <a:ahLst/>
              <a:cxnLst/>
              <a:rect r="r" b="b" t="t" l="l"/>
              <a:pathLst>
                <a:path h="4727154" w="244856">
                  <a:moveTo>
                    <a:pt x="12700" y="0"/>
                  </a:moveTo>
                  <a:lnTo>
                    <a:pt x="232156" y="0"/>
                  </a:lnTo>
                  <a:cubicBezTo>
                    <a:pt x="239141" y="0"/>
                    <a:pt x="244856" y="3978"/>
                    <a:pt x="244856" y="8839"/>
                  </a:cubicBezTo>
                  <a:lnTo>
                    <a:pt x="244856" y="4718315"/>
                  </a:lnTo>
                  <a:cubicBezTo>
                    <a:pt x="244856" y="4723176"/>
                    <a:pt x="239141" y="4727154"/>
                    <a:pt x="232156" y="4727154"/>
                  </a:cubicBezTo>
                  <a:lnTo>
                    <a:pt x="12700" y="4727154"/>
                  </a:lnTo>
                  <a:cubicBezTo>
                    <a:pt x="5715" y="4727154"/>
                    <a:pt x="0" y="4723176"/>
                    <a:pt x="0" y="4718315"/>
                  </a:cubicBezTo>
                  <a:lnTo>
                    <a:pt x="0" y="8839"/>
                  </a:lnTo>
                  <a:cubicBezTo>
                    <a:pt x="0" y="3978"/>
                    <a:pt x="5715" y="0"/>
                    <a:pt x="12700" y="0"/>
                  </a:cubicBezTo>
                  <a:moveTo>
                    <a:pt x="12700" y="17678"/>
                  </a:moveTo>
                  <a:lnTo>
                    <a:pt x="12700" y="8839"/>
                  </a:lnTo>
                  <a:lnTo>
                    <a:pt x="25400" y="8839"/>
                  </a:lnTo>
                  <a:lnTo>
                    <a:pt x="25400" y="4718315"/>
                  </a:lnTo>
                  <a:lnTo>
                    <a:pt x="12700" y="4718315"/>
                  </a:lnTo>
                  <a:lnTo>
                    <a:pt x="12700" y="4709476"/>
                  </a:lnTo>
                  <a:lnTo>
                    <a:pt x="232156" y="4709476"/>
                  </a:lnTo>
                  <a:lnTo>
                    <a:pt x="232156" y="4718315"/>
                  </a:lnTo>
                  <a:lnTo>
                    <a:pt x="219456" y="4718315"/>
                  </a:lnTo>
                  <a:lnTo>
                    <a:pt x="219456" y="8839"/>
                  </a:lnTo>
                  <a:lnTo>
                    <a:pt x="232156" y="8839"/>
                  </a:lnTo>
                  <a:lnTo>
                    <a:pt x="232156" y="17678"/>
                  </a:lnTo>
                  <a:lnTo>
                    <a:pt x="12700" y="17678"/>
                  </a:lnTo>
                  <a:close/>
                </a:path>
              </a:pathLst>
            </a:custGeom>
            <a:solidFill>
              <a:srgbClr val="DC2626"/>
            </a:solidFill>
          </p:spPr>
        </p:sp>
      </p:grpSp>
      <p:grpSp>
        <p:nvGrpSpPr>
          <p:cNvPr name="Group 20" id="20"/>
          <p:cNvGrpSpPr/>
          <p:nvPr/>
        </p:nvGrpSpPr>
        <p:grpSpPr>
          <a:xfrm rot="0">
            <a:off x="1289304" y="2208276"/>
            <a:ext cx="4171596" cy="450800"/>
            <a:chOff x="0" y="0"/>
            <a:chExt cx="5562128" cy="601067"/>
          </a:xfrm>
        </p:grpSpPr>
        <p:sp>
          <p:nvSpPr>
            <p:cNvPr name="Freeform 21" id="21"/>
            <p:cNvSpPr/>
            <p:nvPr/>
          </p:nvSpPr>
          <p:spPr>
            <a:xfrm flipH="false" flipV="false" rot="0">
              <a:off x="0" y="0"/>
              <a:ext cx="5562128" cy="601067"/>
            </a:xfrm>
            <a:custGeom>
              <a:avLst/>
              <a:gdLst/>
              <a:ahLst/>
              <a:cxnLst/>
              <a:rect r="r" b="b" t="t" l="l"/>
              <a:pathLst>
                <a:path h="601067" w="5562128">
                  <a:moveTo>
                    <a:pt x="0" y="0"/>
                  </a:moveTo>
                  <a:lnTo>
                    <a:pt x="5562128" y="0"/>
                  </a:lnTo>
                  <a:lnTo>
                    <a:pt x="5562128" y="601067"/>
                  </a:lnTo>
                  <a:lnTo>
                    <a:pt x="0" y="601067"/>
                  </a:lnTo>
                  <a:close/>
                </a:path>
              </a:pathLst>
            </a:custGeom>
            <a:blipFill>
              <a:blip r:embed="rId2">
                <a:alphaModFix amt="0"/>
              </a:blip>
              <a:stretch>
                <a:fillRect l="0" t="-173793" r="-20010" b="-158986"/>
              </a:stretch>
            </a:blipFill>
          </p:spPr>
        </p:sp>
        <p:sp>
          <p:nvSpPr>
            <p:cNvPr name="TextBox 22" id="22"/>
            <p:cNvSpPr txBox="true"/>
            <p:nvPr/>
          </p:nvSpPr>
          <p:spPr>
            <a:xfrm>
              <a:off x="0" y="0"/>
              <a:ext cx="5562128"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BUG_CUR_01-03 – Sai tiền tệ</a:t>
              </a:r>
            </a:p>
          </p:txBody>
        </p:sp>
      </p:grpSp>
      <p:grpSp>
        <p:nvGrpSpPr>
          <p:cNvPr name="Group 23" id="23"/>
          <p:cNvGrpSpPr/>
          <p:nvPr/>
        </p:nvGrpSpPr>
        <p:grpSpPr>
          <a:xfrm rot="0">
            <a:off x="1220724" y="2757779"/>
            <a:ext cx="4125720" cy="2512442"/>
            <a:chOff x="0" y="0"/>
            <a:chExt cx="5500961" cy="3349923"/>
          </a:xfrm>
        </p:grpSpPr>
        <p:sp>
          <p:nvSpPr>
            <p:cNvPr name="Freeform 24" id="24"/>
            <p:cNvSpPr/>
            <p:nvPr/>
          </p:nvSpPr>
          <p:spPr>
            <a:xfrm flipH="false" flipV="false" rot="0">
              <a:off x="0" y="0"/>
              <a:ext cx="5500961" cy="3349923"/>
            </a:xfrm>
            <a:custGeom>
              <a:avLst/>
              <a:gdLst/>
              <a:ahLst/>
              <a:cxnLst/>
              <a:rect r="r" b="b" t="t" l="l"/>
              <a:pathLst>
                <a:path h="3349923" w="5500961">
                  <a:moveTo>
                    <a:pt x="0" y="0"/>
                  </a:moveTo>
                  <a:lnTo>
                    <a:pt x="5500961" y="0"/>
                  </a:lnTo>
                  <a:lnTo>
                    <a:pt x="5500961" y="3349923"/>
                  </a:lnTo>
                  <a:lnTo>
                    <a:pt x="0" y="3349923"/>
                  </a:lnTo>
                  <a:close/>
                </a:path>
              </a:pathLst>
            </a:custGeom>
            <a:blipFill>
              <a:blip r:embed="rId2">
                <a:alphaModFix amt="0"/>
              </a:blip>
              <a:stretch>
                <a:fillRect l="-73075" t="0" r="-93089" b="-70327"/>
              </a:stretch>
            </a:blipFill>
          </p:spPr>
        </p:sp>
        <p:sp>
          <p:nvSpPr>
            <p:cNvPr name="TextBox 25" id="25"/>
            <p:cNvSpPr txBox="true"/>
            <p:nvPr/>
          </p:nvSpPr>
          <p:spPr>
            <a:xfrm>
              <a:off x="0" y="-9525"/>
              <a:ext cx="5500961" cy="3359448"/>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 Nhiều locale vẫn hiển thị ký hiệu € thay vì ký hiệu phù hợp.</a:t>
              </a:r>
            </a:p>
            <a:p>
              <a:pPr algn="just">
                <a:lnSpc>
                  <a:spcPts val="2400"/>
                </a:lnSpc>
              </a:pPr>
            </a:p>
            <a:p>
              <a:pPr algn="just">
                <a:lnSpc>
                  <a:spcPts val="2400"/>
                </a:lnSpc>
              </a:pPr>
              <a:r>
                <a:rPr lang="en-US" sz="2000">
                  <a:solidFill>
                    <a:srgbClr val="000000"/>
                  </a:solidFill>
                  <a:latin typeface="Aptos"/>
                  <a:ea typeface="Aptos"/>
                  <a:cs typeface="Aptos"/>
                  <a:sym typeface="Aptos"/>
                </a:rPr>
                <a:t>• Ảnh hưởng: người dùng có thể hiểu sai giá trị sản phẩm và thị trường mục tiêu.</a:t>
              </a:r>
            </a:p>
            <a:p>
              <a:pPr algn="just">
                <a:lnSpc>
                  <a:spcPts val="2400"/>
                </a:lnSpc>
              </a:pPr>
            </a:p>
            <a:p>
              <a:pPr algn="just">
                <a:lnSpc>
                  <a:spcPts val="2400"/>
                </a:lnSpc>
              </a:pPr>
              <a:r>
                <a:rPr lang="en-US" sz="2000">
                  <a:solidFill>
                    <a:srgbClr val="000000"/>
                  </a:solidFill>
                  <a:latin typeface="Aptos"/>
                  <a:ea typeface="Aptos"/>
                  <a:cs typeface="Aptos"/>
                  <a:sym typeface="Aptos"/>
                </a:rPr>
                <a:t>• Mức độ: Critical / Ưu tiên cao.</a:t>
              </a:r>
            </a:p>
          </p:txBody>
        </p:sp>
      </p:grpSp>
      <p:grpSp>
        <p:nvGrpSpPr>
          <p:cNvPr name="Group 26" id="26"/>
          <p:cNvGrpSpPr/>
          <p:nvPr/>
        </p:nvGrpSpPr>
        <p:grpSpPr>
          <a:xfrm rot="0">
            <a:off x="930611" y="6234678"/>
            <a:ext cx="4705946" cy="3702976"/>
            <a:chOff x="0" y="0"/>
            <a:chExt cx="7652008" cy="6021149"/>
          </a:xfrm>
        </p:grpSpPr>
        <p:sp>
          <p:nvSpPr>
            <p:cNvPr name="Freeform 27" id="27"/>
            <p:cNvSpPr/>
            <p:nvPr/>
          </p:nvSpPr>
          <p:spPr>
            <a:xfrm flipH="false" flipV="false" rot="0">
              <a:off x="13406" y="11259"/>
              <a:ext cx="7625197" cy="5998632"/>
            </a:xfrm>
            <a:custGeom>
              <a:avLst/>
              <a:gdLst/>
              <a:ahLst/>
              <a:cxnLst/>
              <a:rect r="r" b="b" t="t" l="l"/>
              <a:pathLst>
                <a:path h="5998632" w="7625197">
                  <a:moveTo>
                    <a:pt x="0" y="129700"/>
                  </a:moveTo>
                  <a:cubicBezTo>
                    <a:pt x="0" y="58095"/>
                    <a:pt x="69173" y="0"/>
                    <a:pt x="154434" y="0"/>
                  </a:cubicBezTo>
                  <a:lnTo>
                    <a:pt x="7470762" y="0"/>
                  </a:lnTo>
                  <a:cubicBezTo>
                    <a:pt x="7556023" y="0"/>
                    <a:pt x="7625197" y="58095"/>
                    <a:pt x="7625197" y="129700"/>
                  </a:cubicBezTo>
                  <a:lnTo>
                    <a:pt x="7625197" y="5868932"/>
                  </a:lnTo>
                  <a:cubicBezTo>
                    <a:pt x="7625197" y="5940537"/>
                    <a:pt x="7556023" y="5998632"/>
                    <a:pt x="7470762" y="5998632"/>
                  </a:cubicBezTo>
                  <a:lnTo>
                    <a:pt x="154434" y="5998632"/>
                  </a:lnTo>
                  <a:cubicBezTo>
                    <a:pt x="69173" y="5998631"/>
                    <a:pt x="0" y="5940537"/>
                    <a:pt x="0" y="5868932"/>
                  </a:cubicBezTo>
                  <a:close/>
                </a:path>
              </a:pathLst>
            </a:custGeom>
            <a:solidFill>
              <a:srgbClr val="FFFFFF"/>
            </a:solidFill>
          </p:spPr>
        </p:sp>
        <p:sp>
          <p:nvSpPr>
            <p:cNvPr name="Freeform 28" id="28"/>
            <p:cNvSpPr/>
            <p:nvPr/>
          </p:nvSpPr>
          <p:spPr>
            <a:xfrm flipH="false" flipV="false" rot="0">
              <a:off x="0" y="0"/>
              <a:ext cx="7652009" cy="6021150"/>
            </a:xfrm>
            <a:custGeom>
              <a:avLst/>
              <a:gdLst/>
              <a:ahLst/>
              <a:cxnLst/>
              <a:rect r="r" b="b" t="t" l="l"/>
              <a:pathLst>
                <a:path h="6021150" w="7652009">
                  <a:moveTo>
                    <a:pt x="0" y="140959"/>
                  </a:moveTo>
                  <a:cubicBezTo>
                    <a:pt x="0" y="63049"/>
                    <a:pt x="75206" y="0"/>
                    <a:pt x="167840" y="0"/>
                  </a:cubicBezTo>
                  <a:lnTo>
                    <a:pt x="7484168" y="0"/>
                  </a:lnTo>
                  <a:lnTo>
                    <a:pt x="7484168" y="11259"/>
                  </a:lnTo>
                  <a:lnTo>
                    <a:pt x="7484168" y="0"/>
                  </a:lnTo>
                  <a:cubicBezTo>
                    <a:pt x="7576936" y="0"/>
                    <a:pt x="7652009" y="63049"/>
                    <a:pt x="7652009" y="140959"/>
                  </a:cubicBezTo>
                  <a:lnTo>
                    <a:pt x="7638603" y="140959"/>
                  </a:lnTo>
                  <a:lnTo>
                    <a:pt x="7652009" y="140959"/>
                  </a:lnTo>
                  <a:lnTo>
                    <a:pt x="7652009" y="5880191"/>
                  </a:lnTo>
                  <a:lnTo>
                    <a:pt x="7638603" y="5880191"/>
                  </a:lnTo>
                  <a:lnTo>
                    <a:pt x="7652009" y="5880191"/>
                  </a:lnTo>
                  <a:cubicBezTo>
                    <a:pt x="7652009" y="5957988"/>
                    <a:pt x="7576802" y="6021150"/>
                    <a:pt x="7484168" y="6021150"/>
                  </a:cubicBezTo>
                  <a:lnTo>
                    <a:pt x="7484168" y="6009891"/>
                  </a:lnTo>
                  <a:lnTo>
                    <a:pt x="7484168" y="6021150"/>
                  </a:lnTo>
                  <a:lnTo>
                    <a:pt x="167840" y="6021150"/>
                  </a:lnTo>
                  <a:lnTo>
                    <a:pt x="167840" y="6009891"/>
                  </a:lnTo>
                  <a:lnTo>
                    <a:pt x="167840" y="6021150"/>
                  </a:lnTo>
                  <a:cubicBezTo>
                    <a:pt x="75206" y="6021149"/>
                    <a:pt x="0" y="5958101"/>
                    <a:pt x="0" y="5880191"/>
                  </a:cubicBezTo>
                  <a:lnTo>
                    <a:pt x="0" y="140959"/>
                  </a:lnTo>
                  <a:lnTo>
                    <a:pt x="13406" y="140959"/>
                  </a:lnTo>
                  <a:lnTo>
                    <a:pt x="0" y="140959"/>
                  </a:lnTo>
                  <a:moveTo>
                    <a:pt x="26812" y="140959"/>
                  </a:moveTo>
                  <a:lnTo>
                    <a:pt x="26812" y="5880191"/>
                  </a:lnTo>
                  <a:lnTo>
                    <a:pt x="13406" y="5880191"/>
                  </a:lnTo>
                  <a:lnTo>
                    <a:pt x="26812" y="5880191"/>
                  </a:lnTo>
                  <a:cubicBezTo>
                    <a:pt x="26812" y="5945603"/>
                    <a:pt x="89953" y="5998632"/>
                    <a:pt x="167840" y="5998632"/>
                  </a:cubicBezTo>
                  <a:lnTo>
                    <a:pt x="7484168" y="5998632"/>
                  </a:lnTo>
                  <a:cubicBezTo>
                    <a:pt x="7562055" y="5998632"/>
                    <a:pt x="7625197" y="5945603"/>
                    <a:pt x="7625197" y="5880191"/>
                  </a:cubicBezTo>
                  <a:lnTo>
                    <a:pt x="7625197" y="140959"/>
                  </a:lnTo>
                  <a:cubicBezTo>
                    <a:pt x="7625197" y="75546"/>
                    <a:pt x="7562055" y="22517"/>
                    <a:pt x="7484168" y="22517"/>
                  </a:cubicBezTo>
                  <a:lnTo>
                    <a:pt x="167840" y="22517"/>
                  </a:lnTo>
                  <a:lnTo>
                    <a:pt x="167840" y="11259"/>
                  </a:lnTo>
                  <a:lnTo>
                    <a:pt x="167840" y="22517"/>
                  </a:lnTo>
                  <a:cubicBezTo>
                    <a:pt x="89953" y="22517"/>
                    <a:pt x="26812" y="75546"/>
                    <a:pt x="26812" y="140959"/>
                  </a:cubicBezTo>
                  <a:close/>
                </a:path>
              </a:pathLst>
            </a:custGeom>
            <a:solidFill>
              <a:srgbClr val="E2E8F0"/>
            </a:solidFill>
          </p:spPr>
        </p:sp>
      </p:grpSp>
      <p:grpSp>
        <p:nvGrpSpPr>
          <p:cNvPr name="Group 29" id="29"/>
          <p:cNvGrpSpPr/>
          <p:nvPr/>
        </p:nvGrpSpPr>
        <p:grpSpPr>
          <a:xfrm rot="0">
            <a:off x="978027" y="6234678"/>
            <a:ext cx="183642" cy="3702976"/>
            <a:chOff x="0" y="0"/>
            <a:chExt cx="244856" cy="4937302"/>
          </a:xfrm>
        </p:grpSpPr>
        <p:sp>
          <p:nvSpPr>
            <p:cNvPr name="Freeform 30" id="30"/>
            <p:cNvSpPr/>
            <p:nvPr/>
          </p:nvSpPr>
          <p:spPr>
            <a:xfrm flipH="false" flipV="false" rot="0">
              <a:off x="12700" y="9232"/>
              <a:ext cx="219456" cy="4918837"/>
            </a:xfrm>
            <a:custGeom>
              <a:avLst/>
              <a:gdLst/>
              <a:ahLst/>
              <a:cxnLst/>
              <a:rect r="r" b="b" t="t" l="l"/>
              <a:pathLst>
                <a:path h="4918837" w="219456">
                  <a:moveTo>
                    <a:pt x="0" y="0"/>
                  </a:moveTo>
                  <a:lnTo>
                    <a:pt x="219456" y="0"/>
                  </a:lnTo>
                  <a:lnTo>
                    <a:pt x="219456" y="4918837"/>
                  </a:lnTo>
                  <a:lnTo>
                    <a:pt x="0" y="4918837"/>
                  </a:lnTo>
                  <a:close/>
                </a:path>
              </a:pathLst>
            </a:custGeom>
            <a:solidFill>
              <a:srgbClr val="F59E0B"/>
            </a:solidFill>
          </p:spPr>
        </p:sp>
        <p:sp>
          <p:nvSpPr>
            <p:cNvPr name="Freeform 31" id="31"/>
            <p:cNvSpPr/>
            <p:nvPr/>
          </p:nvSpPr>
          <p:spPr>
            <a:xfrm flipH="false" flipV="false" rot="0">
              <a:off x="0" y="0"/>
              <a:ext cx="244856" cy="4937302"/>
            </a:xfrm>
            <a:custGeom>
              <a:avLst/>
              <a:gdLst/>
              <a:ahLst/>
              <a:cxnLst/>
              <a:rect r="r" b="b" t="t" l="l"/>
              <a:pathLst>
                <a:path h="4937302" w="244856">
                  <a:moveTo>
                    <a:pt x="12700" y="0"/>
                  </a:moveTo>
                  <a:lnTo>
                    <a:pt x="232156" y="0"/>
                  </a:lnTo>
                  <a:cubicBezTo>
                    <a:pt x="239141" y="0"/>
                    <a:pt x="244856" y="4154"/>
                    <a:pt x="244856" y="9232"/>
                  </a:cubicBezTo>
                  <a:lnTo>
                    <a:pt x="244856" y="4928069"/>
                  </a:lnTo>
                  <a:cubicBezTo>
                    <a:pt x="244856" y="4933147"/>
                    <a:pt x="239141" y="4937302"/>
                    <a:pt x="232156" y="4937302"/>
                  </a:cubicBezTo>
                  <a:lnTo>
                    <a:pt x="12700" y="4937302"/>
                  </a:lnTo>
                  <a:cubicBezTo>
                    <a:pt x="5715" y="4937302"/>
                    <a:pt x="0" y="4933147"/>
                    <a:pt x="0" y="4928069"/>
                  </a:cubicBezTo>
                  <a:lnTo>
                    <a:pt x="0" y="9232"/>
                  </a:lnTo>
                  <a:cubicBezTo>
                    <a:pt x="0" y="4154"/>
                    <a:pt x="5715" y="0"/>
                    <a:pt x="12700" y="0"/>
                  </a:cubicBezTo>
                  <a:moveTo>
                    <a:pt x="12700" y="18464"/>
                  </a:moveTo>
                  <a:lnTo>
                    <a:pt x="12700" y="9232"/>
                  </a:lnTo>
                  <a:lnTo>
                    <a:pt x="25400" y="9232"/>
                  </a:lnTo>
                  <a:lnTo>
                    <a:pt x="25400" y="4928069"/>
                  </a:lnTo>
                  <a:lnTo>
                    <a:pt x="12700" y="4928069"/>
                  </a:lnTo>
                  <a:lnTo>
                    <a:pt x="12700" y="4918837"/>
                  </a:lnTo>
                  <a:lnTo>
                    <a:pt x="232156" y="4918837"/>
                  </a:lnTo>
                  <a:lnTo>
                    <a:pt x="232156" y="4928069"/>
                  </a:lnTo>
                  <a:lnTo>
                    <a:pt x="219456" y="4928069"/>
                  </a:lnTo>
                  <a:lnTo>
                    <a:pt x="219456" y="9232"/>
                  </a:lnTo>
                  <a:lnTo>
                    <a:pt x="232156" y="9232"/>
                  </a:lnTo>
                  <a:lnTo>
                    <a:pt x="232156" y="18464"/>
                  </a:lnTo>
                  <a:lnTo>
                    <a:pt x="12700" y="18464"/>
                  </a:lnTo>
                  <a:close/>
                </a:path>
              </a:pathLst>
            </a:custGeom>
            <a:solidFill>
              <a:srgbClr val="F59E0B"/>
            </a:solidFill>
          </p:spPr>
        </p:sp>
      </p:grpSp>
      <p:grpSp>
        <p:nvGrpSpPr>
          <p:cNvPr name="Group 32" id="32"/>
          <p:cNvGrpSpPr/>
          <p:nvPr/>
        </p:nvGrpSpPr>
        <p:grpSpPr>
          <a:xfrm rot="0">
            <a:off x="1241888" y="6517762"/>
            <a:ext cx="4394669" cy="450800"/>
            <a:chOff x="0" y="0"/>
            <a:chExt cx="5859559" cy="601067"/>
          </a:xfrm>
        </p:grpSpPr>
        <p:sp>
          <p:nvSpPr>
            <p:cNvPr name="Freeform 33" id="33"/>
            <p:cNvSpPr/>
            <p:nvPr/>
          </p:nvSpPr>
          <p:spPr>
            <a:xfrm flipH="false" flipV="false" rot="0">
              <a:off x="0" y="0"/>
              <a:ext cx="5859559" cy="601067"/>
            </a:xfrm>
            <a:custGeom>
              <a:avLst/>
              <a:gdLst/>
              <a:ahLst/>
              <a:cxnLst/>
              <a:rect r="r" b="b" t="t" l="l"/>
              <a:pathLst>
                <a:path h="601067" w="5859559">
                  <a:moveTo>
                    <a:pt x="0" y="0"/>
                  </a:moveTo>
                  <a:lnTo>
                    <a:pt x="5859559" y="0"/>
                  </a:lnTo>
                  <a:lnTo>
                    <a:pt x="5859559" y="601067"/>
                  </a:lnTo>
                  <a:lnTo>
                    <a:pt x="0" y="601067"/>
                  </a:lnTo>
                  <a:close/>
                </a:path>
              </a:pathLst>
            </a:custGeom>
            <a:blipFill>
              <a:blip r:embed="rId2">
                <a:alphaModFix amt="0"/>
              </a:blip>
              <a:stretch>
                <a:fillRect l="0" t="-173793" r="-13918" b="-158986"/>
              </a:stretch>
            </a:blipFill>
          </p:spPr>
        </p:sp>
        <p:sp>
          <p:nvSpPr>
            <p:cNvPr name="TextBox 34" id="34"/>
            <p:cNvSpPr txBox="true"/>
            <p:nvPr/>
          </p:nvSpPr>
          <p:spPr>
            <a:xfrm>
              <a:off x="0" y="0"/>
              <a:ext cx="5859559"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BUG_RTL_04 – Arabic chưa RTL</a:t>
              </a:r>
            </a:p>
          </p:txBody>
        </p:sp>
      </p:grpSp>
      <p:grpSp>
        <p:nvGrpSpPr>
          <p:cNvPr name="Group 35" id="35"/>
          <p:cNvGrpSpPr/>
          <p:nvPr/>
        </p:nvGrpSpPr>
        <p:grpSpPr>
          <a:xfrm rot="0">
            <a:off x="1289304" y="7153513"/>
            <a:ext cx="4171596" cy="2520839"/>
            <a:chOff x="0" y="0"/>
            <a:chExt cx="5562128" cy="3361118"/>
          </a:xfrm>
        </p:grpSpPr>
        <p:sp>
          <p:nvSpPr>
            <p:cNvPr name="Freeform 36" id="36"/>
            <p:cNvSpPr/>
            <p:nvPr/>
          </p:nvSpPr>
          <p:spPr>
            <a:xfrm flipH="false" flipV="false" rot="0">
              <a:off x="0" y="0"/>
              <a:ext cx="5562128" cy="3361118"/>
            </a:xfrm>
            <a:custGeom>
              <a:avLst/>
              <a:gdLst/>
              <a:ahLst/>
              <a:cxnLst/>
              <a:rect r="r" b="b" t="t" l="l"/>
              <a:pathLst>
                <a:path h="3361118" w="5562128">
                  <a:moveTo>
                    <a:pt x="0" y="0"/>
                  </a:moveTo>
                  <a:lnTo>
                    <a:pt x="5562128" y="0"/>
                  </a:lnTo>
                  <a:lnTo>
                    <a:pt x="5562128" y="3361118"/>
                  </a:lnTo>
                  <a:lnTo>
                    <a:pt x="0" y="3361118"/>
                  </a:lnTo>
                  <a:close/>
                </a:path>
              </a:pathLst>
            </a:custGeom>
            <a:blipFill>
              <a:blip r:embed="rId2">
                <a:alphaModFix amt="0"/>
              </a:blip>
              <a:stretch>
                <a:fillRect l="-72271" t="0" r="-90966" b="-69760"/>
              </a:stretch>
            </a:blipFill>
          </p:spPr>
        </p:sp>
        <p:sp>
          <p:nvSpPr>
            <p:cNvPr name="TextBox 37" id="37"/>
            <p:cNvSpPr txBox="true"/>
            <p:nvPr/>
          </p:nvSpPr>
          <p:spPr>
            <a:xfrm>
              <a:off x="0" y="-9525"/>
              <a:ext cx="5562128" cy="3370643"/>
            </a:xfrm>
            <a:prstGeom prst="rect">
              <a:avLst/>
            </a:prstGeom>
          </p:spPr>
          <p:txBody>
            <a:bodyPr anchor="ctr" rtlCol="false" tIns="0" lIns="0" bIns="0" rIns="0"/>
            <a:lstStyle/>
            <a:p>
              <a:pPr algn="just">
                <a:lnSpc>
                  <a:spcPts val="2400"/>
                </a:lnSpc>
              </a:pPr>
              <a:r>
                <a:rPr lang="en-US" sz="2000">
                  <a:solidFill>
                    <a:srgbClr val="000000"/>
                  </a:solidFill>
                  <a:latin typeface="Aptos"/>
                  <a:ea typeface="Aptos"/>
                  <a:cs typeface="Aptos"/>
                  <a:sym typeface="Aptos"/>
                </a:rPr>
                <a:t>• Khi đổi sang Arabic, giao diện vẫn giữ bố cục trái sang phải.</a:t>
              </a:r>
            </a:p>
            <a:p>
              <a:pPr algn="just">
                <a:lnSpc>
                  <a:spcPts val="2400"/>
                </a:lnSpc>
              </a:pPr>
            </a:p>
            <a:p>
              <a:pPr algn="just">
                <a:lnSpc>
                  <a:spcPts val="2400"/>
                </a:lnSpc>
              </a:pPr>
              <a:r>
                <a:rPr lang="en-US" sz="2000">
                  <a:solidFill>
                    <a:srgbClr val="000000"/>
                  </a:solidFill>
                  <a:latin typeface="Aptos"/>
                  <a:ea typeface="Aptos"/>
                  <a:cs typeface="Aptos"/>
                  <a:sym typeface="Aptos"/>
                </a:rPr>
                <a:t>• Ảnh hưởng: giảm khả năng sử dụng, sai chuẩn bản địa hóa cho ngôn ngữ RTL.</a:t>
              </a:r>
            </a:p>
            <a:p>
              <a:pPr algn="just">
                <a:lnSpc>
                  <a:spcPts val="2400"/>
                </a:lnSpc>
              </a:pPr>
            </a:p>
            <a:p>
              <a:pPr algn="just">
                <a:lnSpc>
                  <a:spcPts val="2400"/>
                </a:lnSpc>
              </a:pPr>
              <a:r>
                <a:rPr lang="en-US" sz="2000">
                  <a:solidFill>
                    <a:srgbClr val="000000"/>
                  </a:solidFill>
                  <a:latin typeface="Aptos"/>
                  <a:ea typeface="Aptos"/>
                  <a:cs typeface="Aptos"/>
                  <a:sym typeface="Aptos"/>
                </a:rPr>
                <a:t>• Mức độ: Critical / Ưu tiên cao.</a:t>
              </a:r>
            </a:p>
          </p:txBody>
        </p:sp>
      </p:grpSp>
      <p:sp>
        <p:nvSpPr>
          <p:cNvPr name="Freeform 38" id="38"/>
          <p:cNvSpPr/>
          <p:nvPr/>
        </p:nvSpPr>
        <p:spPr>
          <a:xfrm flipH="false" flipV="false" rot="0">
            <a:off x="6352794" y="1513158"/>
            <a:ext cx="5903429" cy="4833433"/>
          </a:xfrm>
          <a:custGeom>
            <a:avLst/>
            <a:gdLst/>
            <a:ahLst/>
            <a:cxnLst/>
            <a:rect r="r" b="b" t="t" l="l"/>
            <a:pathLst>
              <a:path h="4833433" w="5903429">
                <a:moveTo>
                  <a:pt x="0" y="0"/>
                </a:moveTo>
                <a:lnTo>
                  <a:pt x="5903429" y="0"/>
                </a:lnTo>
                <a:lnTo>
                  <a:pt x="5903429" y="4833432"/>
                </a:lnTo>
                <a:lnTo>
                  <a:pt x="0" y="4833432"/>
                </a:lnTo>
                <a:lnTo>
                  <a:pt x="0" y="0"/>
                </a:lnTo>
                <a:close/>
              </a:path>
            </a:pathLst>
          </a:custGeom>
          <a:blipFill>
            <a:blip r:embed="rId3"/>
            <a:stretch>
              <a:fillRect l="0" t="0" r="0" b="0"/>
            </a:stretch>
          </a:blipFill>
        </p:spPr>
      </p:sp>
      <p:sp>
        <p:nvSpPr>
          <p:cNvPr name="Freeform 39" id="39"/>
          <p:cNvSpPr/>
          <p:nvPr/>
        </p:nvSpPr>
        <p:spPr>
          <a:xfrm flipH="false" flipV="false" rot="0">
            <a:off x="9689144" y="6397967"/>
            <a:ext cx="7222241" cy="3376398"/>
          </a:xfrm>
          <a:custGeom>
            <a:avLst/>
            <a:gdLst/>
            <a:ahLst/>
            <a:cxnLst/>
            <a:rect r="r" b="b" t="t" l="l"/>
            <a:pathLst>
              <a:path h="3376398" w="7222241">
                <a:moveTo>
                  <a:pt x="0" y="0"/>
                </a:moveTo>
                <a:lnTo>
                  <a:pt x="7222241" y="0"/>
                </a:lnTo>
                <a:lnTo>
                  <a:pt x="7222241" y="3376397"/>
                </a:lnTo>
                <a:lnTo>
                  <a:pt x="0" y="3376397"/>
                </a:lnTo>
                <a:lnTo>
                  <a:pt x="0" y="0"/>
                </a:lnTo>
                <a:close/>
              </a:path>
            </a:pathLst>
          </a:custGeom>
          <a:blipFill>
            <a:blip r:embed="rId4"/>
            <a:stretch>
              <a:fillRect l="0" t="0" r="0" b="0"/>
            </a:stretch>
          </a:blipFill>
        </p:spPr>
      </p:sp>
      <p:sp>
        <p:nvSpPr>
          <p:cNvPr name="TextBox 40" id="40"/>
          <p:cNvSpPr txBox="true"/>
          <p:nvPr/>
        </p:nvSpPr>
        <p:spPr>
          <a:xfrm rot="0">
            <a:off x="17400794" y="9664827"/>
            <a:ext cx="91678" cy="209550"/>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Các lỗi nổi bật được phát hiện</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Bug nổi bật</a:t>
              </a:r>
            </a:p>
          </p:txBody>
        </p:sp>
      </p:grpSp>
      <p:grpSp>
        <p:nvGrpSpPr>
          <p:cNvPr name="Group 14" id="14"/>
          <p:cNvGrpSpPr/>
          <p:nvPr/>
        </p:nvGrpSpPr>
        <p:grpSpPr>
          <a:xfrm rot="0">
            <a:off x="586069" y="3065011"/>
            <a:ext cx="4929378" cy="5093970"/>
            <a:chOff x="0" y="0"/>
            <a:chExt cx="6572504" cy="6791960"/>
          </a:xfrm>
        </p:grpSpPr>
        <p:sp>
          <p:nvSpPr>
            <p:cNvPr name="Freeform 15" id="15"/>
            <p:cNvSpPr/>
            <p:nvPr/>
          </p:nvSpPr>
          <p:spPr>
            <a:xfrm flipH="false" flipV="false" rot="0">
              <a:off x="12700" y="12700"/>
              <a:ext cx="6547104" cy="6766561"/>
            </a:xfrm>
            <a:custGeom>
              <a:avLst/>
              <a:gdLst/>
              <a:ahLst/>
              <a:cxnLst/>
              <a:rect r="r" b="b" t="t" l="l"/>
              <a:pathLst>
                <a:path h="6766561" w="6547104">
                  <a:moveTo>
                    <a:pt x="0" y="146304"/>
                  </a:moveTo>
                  <a:cubicBezTo>
                    <a:pt x="0" y="65532"/>
                    <a:pt x="65532" y="0"/>
                    <a:pt x="146304" y="0"/>
                  </a:cubicBezTo>
                  <a:lnTo>
                    <a:pt x="6400800" y="0"/>
                  </a:lnTo>
                  <a:cubicBezTo>
                    <a:pt x="6481572" y="0"/>
                    <a:pt x="6547104" y="65532"/>
                    <a:pt x="6547104" y="146304"/>
                  </a:cubicBezTo>
                  <a:lnTo>
                    <a:pt x="6547104" y="6620256"/>
                  </a:lnTo>
                  <a:cubicBezTo>
                    <a:pt x="6547104" y="6701028"/>
                    <a:pt x="6481572" y="6766561"/>
                    <a:pt x="6400800" y="6766561"/>
                  </a:cubicBezTo>
                  <a:lnTo>
                    <a:pt x="146304" y="6766561"/>
                  </a:lnTo>
                  <a:cubicBezTo>
                    <a:pt x="65532" y="6766560"/>
                    <a:pt x="0" y="6701028"/>
                    <a:pt x="0" y="6620256"/>
                  </a:cubicBezTo>
                  <a:close/>
                </a:path>
              </a:pathLst>
            </a:custGeom>
            <a:solidFill>
              <a:srgbClr val="FFFFFF"/>
            </a:solidFill>
          </p:spPr>
        </p:sp>
        <p:sp>
          <p:nvSpPr>
            <p:cNvPr name="Freeform 16" id="16"/>
            <p:cNvSpPr/>
            <p:nvPr/>
          </p:nvSpPr>
          <p:spPr>
            <a:xfrm flipH="false" flipV="false" rot="0">
              <a:off x="0" y="0"/>
              <a:ext cx="6572504" cy="6791961"/>
            </a:xfrm>
            <a:custGeom>
              <a:avLst/>
              <a:gdLst/>
              <a:ahLst/>
              <a:cxnLst/>
              <a:rect r="r" b="b" t="t" l="l"/>
              <a:pathLst>
                <a:path h="6791961" w="6572504">
                  <a:moveTo>
                    <a:pt x="0" y="159004"/>
                  </a:moveTo>
                  <a:cubicBezTo>
                    <a:pt x="0" y="71247"/>
                    <a:pt x="71247" y="0"/>
                    <a:pt x="159004" y="0"/>
                  </a:cubicBezTo>
                  <a:lnTo>
                    <a:pt x="6413500" y="0"/>
                  </a:lnTo>
                  <a:lnTo>
                    <a:pt x="6413500" y="12700"/>
                  </a:lnTo>
                  <a:lnTo>
                    <a:pt x="6413500" y="0"/>
                  </a:lnTo>
                  <a:cubicBezTo>
                    <a:pt x="6501384" y="0"/>
                    <a:pt x="6572504" y="71247"/>
                    <a:pt x="6572504" y="159004"/>
                  </a:cubicBezTo>
                  <a:lnTo>
                    <a:pt x="6559804" y="159004"/>
                  </a:lnTo>
                  <a:lnTo>
                    <a:pt x="6572504" y="159004"/>
                  </a:lnTo>
                  <a:lnTo>
                    <a:pt x="6572504" y="6632956"/>
                  </a:lnTo>
                  <a:lnTo>
                    <a:pt x="6559804" y="6632956"/>
                  </a:lnTo>
                  <a:lnTo>
                    <a:pt x="6572504" y="6632956"/>
                  </a:lnTo>
                  <a:cubicBezTo>
                    <a:pt x="6572504" y="6720840"/>
                    <a:pt x="6501257" y="6791961"/>
                    <a:pt x="6413500" y="6791961"/>
                  </a:cubicBezTo>
                  <a:lnTo>
                    <a:pt x="6413500" y="6779261"/>
                  </a:lnTo>
                  <a:lnTo>
                    <a:pt x="6413500" y="6791961"/>
                  </a:lnTo>
                  <a:lnTo>
                    <a:pt x="159004" y="6791961"/>
                  </a:lnTo>
                  <a:lnTo>
                    <a:pt x="159004" y="6779261"/>
                  </a:lnTo>
                  <a:lnTo>
                    <a:pt x="159004" y="6791961"/>
                  </a:lnTo>
                  <a:cubicBezTo>
                    <a:pt x="71247" y="6791960"/>
                    <a:pt x="0" y="6720713"/>
                    <a:pt x="0" y="6632956"/>
                  </a:cubicBezTo>
                  <a:lnTo>
                    <a:pt x="0" y="159004"/>
                  </a:lnTo>
                  <a:lnTo>
                    <a:pt x="12700" y="159004"/>
                  </a:lnTo>
                  <a:lnTo>
                    <a:pt x="0" y="159004"/>
                  </a:lnTo>
                  <a:moveTo>
                    <a:pt x="25400" y="159004"/>
                  </a:moveTo>
                  <a:lnTo>
                    <a:pt x="25400" y="6632956"/>
                  </a:lnTo>
                  <a:lnTo>
                    <a:pt x="12700" y="6632956"/>
                  </a:lnTo>
                  <a:lnTo>
                    <a:pt x="25400" y="6632956"/>
                  </a:lnTo>
                  <a:cubicBezTo>
                    <a:pt x="25400" y="6706743"/>
                    <a:pt x="85217" y="6766561"/>
                    <a:pt x="159004" y="6766561"/>
                  </a:cubicBezTo>
                  <a:lnTo>
                    <a:pt x="6413500" y="6766561"/>
                  </a:lnTo>
                  <a:cubicBezTo>
                    <a:pt x="6487287" y="6766561"/>
                    <a:pt x="6547104" y="6706743"/>
                    <a:pt x="6547104" y="6632956"/>
                  </a:cubicBezTo>
                  <a:lnTo>
                    <a:pt x="6547104" y="159004"/>
                  </a:lnTo>
                  <a:cubicBezTo>
                    <a:pt x="6547104" y="85217"/>
                    <a:pt x="6487287" y="25400"/>
                    <a:pt x="6413500" y="25400"/>
                  </a:cubicBezTo>
                  <a:lnTo>
                    <a:pt x="159004" y="25400"/>
                  </a:lnTo>
                  <a:lnTo>
                    <a:pt x="159004" y="12700"/>
                  </a:lnTo>
                  <a:lnTo>
                    <a:pt x="159004" y="25400"/>
                  </a:lnTo>
                  <a:cubicBezTo>
                    <a:pt x="85217" y="25400"/>
                    <a:pt x="25400" y="85217"/>
                    <a:pt x="25400" y="159004"/>
                  </a:cubicBezTo>
                  <a:close/>
                </a:path>
              </a:pathLst>
            </a:custGeom>
            <a:solidFill>
              <a:srgbClr val="E2E8F0"/>
            </a:solidFill>
          </p:spPr>
        </p:sp>
      </p:grpSp>
      <p:grpSp>
        <p:nvGrpSpPr>
          <p:cNvPr name="Group 17" id="17"/>
          <p:cNvGrpSpPr/>
          <p:nvPr/>
        </p:nvGrpSpPr>
        <p:grpSpPr>
          <a:xfrm rot="0">
            <a:off x="586069" y="3065011"/>
            <a:ext cx="183642" cy="5093970"/>
            <a:chOff x="0" y="0"/>
            <a:chExt cx="244856" cy="6791960"/>
          </a:xfrm>
        </p:grpSpPr>
        <p:sp>
          <p:nvSpPr>
            <p:cNvPr name="Freeform 18" id="18"/>
            <p:cNvSpPr/>
            <p:nvPr/>
          </p:nvSpPr>
          <p:spPr>
            <a:xfrm flipH="false" flipV="false" rot="0">
              <a:off x="12700" y="12700"/>
              <a:ext cx="219456" cy="6766560"/>
            </a:xfrm>
            <a:custGeom>
              <a:avLst/>
              <a:gdLst/>
              <a:ahLst/>
              <a:cxnLst/>
              <a:rect r="r" b="b" t="t" l="l"/>
              <a:pathLst>
                <a:path h="6766560" w="219456">
                  <a:moveTo>
                    <a:pt x="0" y="0"/>
                  </a:moveTo>
                  <a:lnTo>
                    <a:pt x="219456" y="0"/>
                  </a:lnTo>
                  <a:lnTo>
                    <a:pt x="219456" y="6766560"/>
                  </a:lnTo>
                  <a:lnTo>
                    <a:pt x="0" y="6766560"/>
                  </a:lnTo>
                  <a:close/>
                </a:path>
              </a:pathLst>
            </a:custGeom>
            <a:solidFill>
              <a:srgbClr val="2563EB"/>
            </a:solidFill>
          </p:spPr>
        </p:sp>
        <p:sp>
          <p:nvSpPr>
            <p:cNvPr name="Freeform 19" id="19"/>
            <p:cNvSpPr/>
            <p:nvPr/>
          </p:nvSpPr>
          <p:spPr>
            <a:xfrm flipH="false" flipV="false" rot="0">
              <a:off x="0" y="0"/>
              <a:ext cx="244856" cy="6791960"/>
            </a:xfrm>
            <a:custGeom>
              <a:avLst/>
              <a:gdLst/>
              <a:ahLst/>
              <a:cxnLst/>
              <a:rect r="r" b="b" t="t" l="l"/>
              <a:pathLst>
                <a:path h="6791960" w="244856">
                  <a:moveTo>
                    <a:pt x="12700" y="0"/>
                  </a:moveTo>
                  <a:lnTo>
                    <a:pt x="232156" y="0"/>
                  </a:lnTo>
                  <a:cubicBezTo>
                    <a:pt x="239141" y="0"/>
                    <a:pt x="244856" y="5715"/>
                    <a:pt x="244856" y="12700"/>
                  </a:cubicBezTo>
                  <a:lnTo>
                    <a:pt x="244856" y="6779260"/>
                  </a:lnTo>
                  <a:cubicBezTo>
                    <a:pt x="244856" y="6786245"/>
                    <a:pt x="239141" y="6791960"/>
                    <a:pt x="232156" y="6791960"/>
                  </a:cubicBezTo>
                  <a:lnTo>
                    <a:pt x="12700" y="6791960"/>
                  </a:lnTo>
                  <a:cubicBezTo>
                    <a:pt x="5715" y="6791960"/>
                    <a:pt x="0" y="6786245"/>
                    <a:pt x="0" y="6779260"/>
                  </a:cubicBezTo>
                  <a:lnTo>
                    <a:pt x="0" y="12700"/>
                  </a:lnTo>
                  <a:cubicBezTo>
                    <a:pt x="0" y="5715"/>
                    <a:pt x="5715" y="0"/>
                    <a:pt x="12700" y="0"/>
                  </a:cubicBezTo>
                  <a:moveTo>
                    <a:pt x="12700" y="25400"/>
                  </a:moveTo>
                  <a:lnTo>
                    <a:pt x="12700" y="12700"/>
                  </a:lnTo>
                  <a:lnTo>
                    <a:pt x="25400" y="12700"/>
                  </a:lnTo>
                  <a:lnTo>
                    <a:pt x="25400" y="6779260"/>
                  </a:lnTo>
                  <a:lnTo>
                    <a:pt x="12700" y="6779260"/>
                  </a:lnTo>
                  <a:lnTo>
                    <a:pt x="12700" y="6766560"/>
                  </a:lnTo>
                  <a:lnTo>
                    <a:pt x="232156" y="6766560"/>
                  </a:lnTo>
                  <a:lnTo>
                    <a:pt x="232156" y="6779260"/>
                  </a:lnTo>
                  <a:lnTo>
                    <a:pt x="219456" y="6779260"/>
                  </a:lnTo>
                  <a:lnTo>
                    <a:pt x="219456" y="12700"/>
                  </a:lnTo>
                  <a:lnTo>
                    <a:pt x="232156" y="12700"/>
                  </a:lnTo>
                  <a:lnTo>
                    <a:pt x="232156" y="25400"/>
                  </a:lnTo>
                  <a:lnTo>
                    <a:pt x="12700" y="25400"/>
                  </a:lnTo>
                  <a:close/>
                </a:path>
              </a:pathLst>
            </a:custGeom>
            <a:solidFill>
              <a:srgbClr val="2563EB"/>
            </a:solidFill>
          </p:spPr>
        </p:sp>
      </p:grpSp>
      <p:grpSp>
        <p:nvGrpSpPr>
          <p:cNvPr name="Group 20" id="20"/>
          <p:cNvGrpSpPr/>
          <p:nvPr/>
        </p:nvGrpSpPr>
        <p:grpSpPr>
          <a:xfrm rot="0">
            <a:off x="897346" y="3370450"/>
            <a:ext cx="4498848" cy="812750"/>
            <a:chOff x="0" y="0"/>
            <a:chExt cx="5998464" cy="1083667"/>
          </a:xfrm>
        </p:grpSpPr>
        <p:sp>
          <p:nvSpPr>
            <p:cNvPr name="Freeform 21" id="21"/>
            <p:cNvSpPr/>
            <p:nvPr/>
          </p:nvSpPr>
          <p:spPr>
            <a:xfrm flipH="false" flipV="false" rot="0">
              <a:off x="0" y="0"/>
              <a:ext cx="5998464" cy="1083667"/>
            </a:xfrm>
            <a:custGeom>
              <a:avLst/>
              <a:gdLst/>
              <a:ahLst/>
              <a:cxnLst/>
              <a:rect r="r" b="b" t="t" l="l"/>
              <a:pathLst>
                <a:path h="1083667" w="5998464">
                  <a:moveTo>
                    <a:pt x="0" y="0"/>
                  </a:moveTo>
                  <a:lnTo>
                    <a:pt x="5998464" y="0"/>
                  </a:lnTo>
                  <a:lnTo>
                    <a:pt x="5998464" y="1083667"/>
                  </a:lnTo>
                  <a:lnTo>
                    <a:pt x="0" y="1083667"/>
                  </a:lnTo>
                  <a:close/>
                </a:path>
              </a:pathLst>
            </a:custGeom>
            <a:blipFill>
              <a:blip r:embed="rId2">
                <a:alphaModFix amt="0"/>
              </a:blip>
              <a:stretch>
                <a:fillRect l="0" t="-84229" r="0" b="-31482"/>
              </a:stretch>
            </a:blipFill>
          </p:spPr>
        </p:sp>
        <p:sp>
          <p:nvSpPr>
            <p:cNvPr name="TextBox 22" id="22"/>
            <p:cNvSpPr txBox="true"/>
            <p:nvPr/>
          </p:nvSpPr>
          <p:spPr>
            <a:xfrm>
              <a:off x="0" y="0"/>
              <a:ext cx="5998464" cy="10836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BUG_TR_05-07 – Còn text tiếng Anh</a:t>
              </a:r>
            </a:p>
          </p:txBody>
        </p:sp>
      </p:grpSp>
      <p:grpSp>
        <p:nvGrpSpPr>
          <p:cNvPr name="Group 23" id="23"/>
          <p:cNvGrpSpPr/>
          <p:nvPr/>
        </p:nvGrpSpPr>
        <p:grpSpPr>
          <a:xfrm rot="0">
            <a:off x="897346" y="3562474"/>
            <a:ext cx="4443984" cy="4279392"/>
            <a:chOff x="0" y="0"/>
            <a:chExt cx="5925312" cy="5705856"/>
          </a:xfrm>
        </p:grpSpPr>
        <p:sp>
          <p:nvSpPr>
            <p:cNvPr name="Freeform 24" id="24"/>
            <p:cNvSpPr/>
            <p:nvPr/>
          </p:nvSpPr>
          <p:spPr>
            <a:xfrm flipH="false" flipV="false" rot="0">
              <a:off x="0" y="0"/>
              <a:ext cx="5925312" cy="5705856"/>
            </a:xfrm>
            <a:custGeom>
              <a:avLst/>
              <a:gdLst/>
              <a:ahLst/>
              <a:cxnLst/>
              <a:rect r="r" b="b" t="t" l="l"/>
              <a:pathLst>
                <a:path h="5705856" w="5925312">
                  <a:moveTo>
                    <a:pt x="0" y="0"/>
                  </a:moveTo>
                  <a:lnTo>
                    <a:pt x="5925312" y="0"/>
                  </a:lnTo>
                  <a:lnTo>
                    <a:pt x="5925312" y="5705856"/>
                  </a:lnTo>
                  <a:lnTo>
                    <a:pt x="0" y="5705856"/>
                  </a:lnTo>
                  <a:close/>
                </a:path>
              </a:pathLst>
            </a:custGeom>
            <a:blipFill>
              <a:blip r:embed="rId2">
                <a:alphaModFix amt="0"/>
              </a:blip>
              <a:stretch>
                <a:fillRect l="-73551" t="0" r="-73551" b="0"/>
              </a:stretch>
            </a:blipFill>
          </p:spPr>
        </p:sp>
        <p:sp>
          <p:nvSpPr>
            <p:cNvPr name="TextBox 25" id="25"/>
            <p:cNvSpPr txBox="true"/>
            <p:nvPr/>
          </p:nvSpPr>
          <p:spPr>
            <a:xfrm>
              <a:off x="0" y="-9525"/>
              <a:ext cx="5925312" cy="5715381"/>
            </a:xfrm>
            <a:prstGeom prst="rect">
              <a:avLst/>
            </a:prstGeom>
          </p:spPr>
          <p:txBody>
            <a:bodyPr anchor="ctr" rtlCol="false" tIns="0" lIns="0" bIns="0" rIns="0"/>
            <a:lstStyle/>
            <a:p>
              <a:pPr algn="l">
                <a:lnSpc>
                  <a:spcPts val="2400"/>
                </a:lnSpc>
              </a:pPr>
              <a:r>
                <a:rPr lang="en-US" sz="2000">
                  <a:solidFill>
                    <a:srgbClr val="000000"/>
                  </a:solidFill>
                  <a:latin typeface="Aptos"/>
                  <a:ea typeface="Aptos"/>
                  <a:cs typeface="Aptos"/>
                  <a:sym typeface="Aptos"/>
                </a:rPr>
                <a:t>• Một số nhãn, nút bấm hoặc chuỗi giao diện chưa được dịch hết.</a:t>
              </a:r>
            </a:p>
            <a:p>
              <a:pPr algn="l">
                <a:lnSpc>
                  <a:spcPts val="2400"/>
                </a:lnSpc>
              </a:pPr>
            </a:p>
            <a:p>
              <a:pPr algn="l">
                <a:lnSpc>
                  <a:spcPts val="2400"/>
                </a:lnSpc>
              </a:pPr>
              <a:r>
                <a:rPr lang="en-US" sz="2000">
                  <a:solidFill>
                    <a:srgbClr val="000000"/>
                  </a:solidFill>
                  <a:latin typeface="Aptos"/>
                  <a:ea typeface="Aptos"/>
                  <a:cs typeface="Aptos"/>
                  <a:sym typeface="Aptos"/>
                </a:rPr>
                <a:t>• Ảnh hưởng: hệ thống thiếu tính nhất quán và chưa hoàn thiện về localization.</a:t>
              </a:r>
            </a:p>
            <a:p>
              <a:pPr algn="l">
                <a:lnSpc>
                  <a:spcPts val="2400"/>
                </a:lnSpc>
              </a:pPr>
            </a:p>
            <a:p>
              <a:pPr algn="l">
                <a:lnSpc>
                  <a:spcPts val="2400"/>
                </a:lnSpc>
              </a:pPr>
              <a:r>
                <a:rPr lang="en-US" sz="2000">
                  <a:solidFill>
                    <a:srgbClr val="000000"/>
                  </a:solidFill>
                  <a:latin typeface="Aptos"/>
                  <a:ea typeface="Aptos"/>
                  <a:cs typeface="Aptos"/>
                  <a:sym typeface="Aptos"/>
                </a:rPr>
                <a:t>• Mức độ: Major.</a:t>
              </a:r>
            </a:p>
          </p:txBody>
        </p:sp>
      </p:grpSp>
      <p:sp>
        <p:nvSpPr>
          <p:cNvPr name="Freeform 26" id="26"/>
          <p:cNvSpPr/>
          <p:nvPr/>
        </p:nvSpPr>
        <p:spPr>
          <a:xfrm flipH="false" flipV="false" rot="0">
            <a:off x="7416615" y="1839694"/>
            <a:ext cx="8871135" cy="7285419"/>
          </a:xfrm>
          <a:custGeom>
            <a:avLst/>
            <a:gdLst/>
            <a:ahLst/>
            <a:cxnLst/>
            <a:rect r="r" b="b" t="t" l="l"/>
            <a:pathLst>
              <a:path h="7285419" w="8871135">
                <a:moveTo>
                  <a:pt x="0" y="0"/>
                </a:moveTo>
                <a:lnTo>
                  <a:pt x="8871135" y="0"/>
                </a:lnTo>
                <a:lnTo>
                  <a:pt x="8871135" y="7285419"/>
                </a:lnTo>
                <a:lnTo>
                  <a:pt x="0" y="7285419"/>
                </a:lnTo>
                <a:lnTo>
                  <a:pt x="0" y="0"/>
                </a:lnTo>
                <a:close/>
              </a:path>
            </a:pathLst>
          </a:custGeom>
          <a:blipFill>
            <a:blip r:embed="rId3"/>
            <a:stretch>
              <a:fillRect l="0" t="0" r="0" b="0"/>
            </a:stretch>
          </a:blipFill>
        </p:spPr>
      </p:sp>
      <p:sp>
        <p:nvSpPr>
          <p:cNvPr name="TextBox 27" id="27"/>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403098"/>
            <a:chOff x="0" y="0"/>
            <a:chExt cx="24408790" cy="537464"/>
          </a:xfrm>
        </p:grpSpPr>
        <p:sp>
          <p:nvSpPr>
            <p:cNvPr name="Freeform 3" id="3"/>
            <p:cNvSpPr/>
            <p:nvPr/>
          </p:nvSpPr>
          <p:spPr>
            <a:xfrm flipH="false" flipV="false" rot="0">
              <a:off x="12700" y="12700"/>
              <a:ext cx="24383364" cy="512064"/>
            </a:xfrm>
            <a:custGeom>
              <a:avLst/>
              <a:gdLst/>
              <a:ahLst/>
              <a:cxnLst/>
              <a:rect r="r" b="b" t="t" l="l"/>
              <a:pathLst>
                <a:path h="512064" w="24383364">
                  <a:moveTo>
                    <a:pt x="0" y="0"/>
                  </a:moveTo>
                  <a:lnTo>
                    <a:pt x="24383364" y="0"/>
                  </a:lnTo>
                  <a:lnTo>
                    <a:pt x="24383364" y="512064"/>
                  </a:lnTo>
                  <a:lnTo>
                    <a:pt x="0" y="512064"/>
                  </a:lnTo>
                  <a:close/>
                </a:path>
              </a:pathLst>
            </a:custGeom>
            <a:solidFill>
              <a:srgbClr val="1F4E79"/>
            </a:solidFill>
          </p:spPr>
        </p:sp>
        <p:sp>
          <p:nvSpPr>
            <p:cNvPr name="Freeform 4" id="4"/>
            <p:cNvSpPr/>
            <p:nvPr/>
          </p:nvSpPr>
          <p:spPr>
            <a:xfrm flipH="false" flipV="false" rot="0">
              <a:off x="0" y="0"/>
              <a:ext cx="24408764" cy="537464"/>
            </a:xfrm>
            <a:custGeom>
              <a:avLst/>
              <a:gdLst/>
              <a:ahLst/>
              <a:cxnLst/>
              <a:rect r="r" b="b" t="t" l="l"/>
              <a:pathLst>
                <a:path h="537464" w="24408764">
                  <a:moveTo>
                    <a:pt x="12700" y="0"/>
                  </a:moveTo>
                  <a:lnTo>
                    <a:pt x="24396064" y="0"/>
                  </a:lnTo>
                  <a:cubicBezTo>
                    <a:pt x="24403050" y="0"/>
                    <a:pt x="24408764" y="5715"/>
                    <a:pt x="24408764" y="12700"/>
                  </a:cubicBezTo>
                  <a:lnTo>
                    <a:pt x="24408764" y="524764"/>
                  </a:lnTo>
                  <a:cubicBezTo>
                    <a:pt x="24408764" y="531749"/>
                    <a:pt x="24403050" y="537464"/>
                    <a:pt x="24396064" y="537464"/>
                  </a:cubicBezTo>
                  <a:lnTo>
                    <a:pt x="12700" y="537464"/>
                  </a:lnTo>
                  <a:cubicBezTo>
                    <a:pt x="5715" y="537464"/>
                    <a:pt x="0" y="531749"/>
                    <a:pt x="0" y="524764"/>
                  </a:cubicBezTo>
                  <a:lnTo>
                    <a:pt x="0" y="12700"/>
                  </a:lnTo>
                  <a:cubicBezTo>
                    <a:pt x="0" y="5715"/>
                    <a:pt x="5715" y="0"/>
                    <a:pt x="12700" y="0"/>
                  </a:cubicBezTo>
                  <a:moveTo>
                    <a:pt x="12700" y="25400"/>
                  </a:moveTo>
                  <a:lnTo>
                    <a:pt x="12700" y="12700"/>
                  </a:lnTo>
                  <a:lnTo>
                    <a:pt x="25400" y="12700"/>
                  </a:lnTo>
                  <a:lnTo>
                    <a:pt x="25400" y="524764"/>
                  </a:lnTo>
                  <a:lnTo>
                    <a:pt x="12700" y="524764"/>
                  </a:lnTo>
                  <a:lnTo>
                    <a:pt x="12700" y="512064"/>
                  </a:lnTo>
                  <a:lnTo>
                    <a:pt x="24396064" y="512064"/>
                  </a:lnTo>
                  <a:lnTo>
                    <a:pt x="24396064" y="524764"/>
                  </a:lnTo>
                  <a:lnTo>
                    <a:pt x="24383364" y="524764"/>
                  </a:lnTo>
                  <a:lnTo>
                    <a:pt x="24383364" y="12700"/>
                  </a:lnTo>
                  <a:lnTo>
                    <a:pt x="24396064" y="12700"/>
                  </a:lnTo>
                  <a:lnTo>
                    <a:pt x="24396064" y="25400"/>
                  </a:lnTo>
                  <a:lnTo>
                    <a:pt x="12700" y="25400"/>
                  </a:lnTo>
                  <a:close/>
                </a:path>
              </a:pathLst>
            </a:custGeom>
            <a:solidFill>
              <a:srgbClr val="1F4E79"/>
            </a:solidFill>
          </p:spPr>
        </p:sp>
      </p:grpSp>
      <p:grpSp>
        <p:nvGrpSpPr>
          <p:cNvPr name="Group 5" id="5"/>
          <p:cNvGrpSpPr/>
          <p:nvPr/>
        </p:nvGrpSpPr>
        <p:grpSpPr>
          <a:xfrm rot="0">
            <a:off x="754380" y="617220"/>
            <a:ext cx="11795760" cy="685800"/>
            <a:chOff x="0" y="0"/>
            <a:chExt cx="15727680" cy="914400"/>
          </a:xfrm>
        </p:grpSpPr>
        <p:sp>
          <p:nvSpPr>
            <p:cNvPr name="Freeform 6" id="6"/>
            <p:cNvSpPr/>
            <p:nvPr/>
          </p:nvSpPr>
          <p:spPr>
            <a:xfrm flipH="false" flipV="false" rot="0">
              <a:off x="0" y="0"/>
              <a:ext cx="15727680" cy="914400"/>
            </a:xfrm>
            <a:custGeom>
              <a:avLst/>
              <a:gdLst/>
              <a:ahLst/>
              <a:cxnLst/>
              <a:rect r="r" b="b" t="t" l="l"/>
              <a:pathLst>
                <a:path h="914400" w="15727680">
                  <a:moveTo>
                    <a:pt x="0" y="0"/>
                  </a:moveTo>
                  <a:lnTo>
                    <a:pt x="15727680" y="0"/>
                  </a:lnTo>
                  <a:lnTo>
                    <a:pt x="15727680" y="914400"/>
                  </a:lnTo>
                  <a:lnTo>
                    <a:pt x="0" y="914400"/>
                  </a:lnTo>
                  <a:close/>
                </a:path>
              </a:pathLst>
            </a:custGeom>
            <a:blipFill>
              <a:blip r:embed="rId2">
                <a:alphaModFix amt="0"/>
              </a:blip>
              <a:stretch>
                <a:fillRect l="0" t="-285142" r="0" b="-285142"/>
              </a:stretch>
            </a:blipFill>
          </p:spPr>
        </p:sp>
        <p:sp>
          <p:nvSpPr>
            <p:cNvPr name="TextBox 7" id="7"/>
            <p:cNvSpPr txBox="true"/>
            <p:nvPr/>
          </p:nvSpPr>
          <p:spPr>
            <a:xfrm>
              <a:off x="0" y="0"/>
              <a:ext cx="15727680" cy="914400"/>
            </a:xfrm>
            <a:prstGeom prst="rect">
              <a:avLst/>
            </a:prstGeom>
          </p:spPr>
          <p:txBody>
            <a:bodyPr anchor="ctr" rtlCol="false" tIns="0" lIns="0" bIns="0" rIns="0"/>
            <a:lstStyle/>
            <a:p>
              <a:pPr algn="l">
                <a:lnSpc>
                  <a:spcPts val="4320"/>
                </a:lnSpc>
              </a:pPr>
              <a:r>
                <a:rPr lang="en-US" sz="3600" b="true">
                  <a:solidFill>
                    <a:srgbClr val="0F172A"/>
                  </a:solidFill>
                  <a:latin typeface="Aptos Bold"/>
                  <a:ea typeface="Aptos Bold"/>
                  <a:cs typeface="Aptos Bold"/>
                  <a:sym typeface="Aptos Bold"/>
                </a:rPr>
                <a:t>Kết luận và hướng phát triển</a:t>
              </a:r>
            </a:p>
          </p:txBody>
        </p:sp>
      </p:grpSp>
      <p:grpSp>
        <p:nvGrpSpPr>
          <p:cNvPr name="Group 8" id="8"/>
          <p:cNvGrpSpPr/>
          <p:nvPr/>
        </p:nvGrpSpPr>
        <p:grpSpPr>
          <a:xfrm rot="0">
            <a:off x="15215235" y="676275"/>
            <a:ext cx="2145030" cy="485394"/>
            <a:chOff x="0" y="0"/>
            <a:chExt cx="2860040" cy="647192"/>
          </a:xfrm>
        </p:grpSpPr>
        <p:sp>
          <p:nvSpPr>
            <p:cNvPr name="Freeform 9" id="9"/>
            <p:cNvSpPr/>
            <p:nvPr/>
          </p:nvSpPr>
          <p:spPr>
            <a:xfrm flipH="false" flipV="false" rot="0">
              <a:off x="12700" y="12700"/>
              <a:ext cx="2834640" cy="621792"/>
            </a:xfrm>
            <a:custGeom>
              <a:avLst/>
              <a:gdLst/>
              <a:ahLst/>
              <a:cxnLst/>
              <a:rect r="r" b="b" t="t" l="l"/>
              <a:pathLst>
                <a:path h="621792" w="2834640">
                  <a:moveTo>
                    <a:pt x="0" y="146304"/>
                  </a:moveTo>
                  <a:cubicBezTo>
                    <a:pt x="0" y="65532"/>
                    <a:pt x="67564" y="0"/>
                    <a:pt x="150876" y="0"/>
                  </a:cubicBezTo>
                  <a:lnTo>
                    <a:pt x="2683764" y="0"/>
                  </a:lnTo>
                  <a:cubicBezTo>
                    <a:pt x="2767076" y="0"/>
                    <a:pt x="2834640" y="65532"/>
                    <a:pt x="2834640" y="146304"/>
                  </a:cubicBezTo>
                  <a:lnTo>
                    <a:pt x="2834640" y="475488"/>
                  </a:lnTo>
                  <a:cubicBezTo>
                    <a:pt x="2834640" y="556260"/>
                    <a:pt x="2767076" y="621792"/>
                    <a:pt x="2683764" y="621792"/>
                  </a:cubicBezTo>
                  <a:lnTo>
                    <a:pt x="150876" y="621792"/>
                  </a:lnTo>
                  <a:cubicBezTo>
                    <a:pt x="67564" y="621792"/>
                    <a:pt x="0" y="556260"/>
                    <a:pt x="0" y="475488"/>
                  </a:cubicBezTo>
                  <a:close/>
                </a:path>
              </a:pathLst>
            </a:custGeom>
            <a:solidFill>
              <a:srgbClr val="E0ECFF"/>
            </a:solidFill>
          </p:spPr>
        </p:sp>
        <p:sp>
          <p:nvSpPr>
            <p:cNvPr name="Freeform 10" id="10"/>
            <p:cNvSpPr/>
            <p:nvPr/>
          </p:nvSpPr>
          <p:spPr>
            <a:xfrm flipH="false" flipV="false" rot="0">
              <a:off x="0" y="0"/>
              <a:ext cx="2860040" cy="647192"/>
            </a:xfrm>
            <a:custGeom>
              <a:avLst/>
              <a:gdLst/>
              <a:ahLst/>
              <a:cxnLst/>
              <a:rect r="r" b="b" t="t" l="l"/>
              <a:pathLst>
                <a:path h="647192" w="2860040">
                  <a:moveTo>
                    <a:pt x="0" y="159004"/>
                  </a:moveTo>
                  <a:cubicBezTo>
                    <a:pt x="0" y="70866"/>
                    <a:pt x="73660" y="0"/>
                    <a:pt x="163576" y="0"/>
                  </a:cubicBezTo>
                  <a:lnTo>
                    <a:pt x="2696464" y="0"/>
                  </a:lnTo>
                  <a:lnTo>
                    <a:pt x="2696464" y="12700"/>
                  </a:lnTo>
                  <a:lnTo>
                    <a:pt x="2696464" y="0"/>
                  </a:lnTo>
                  <a:cubicBezTo>
                    <a:pt x="2786507" y="0"/>
                    <a:pt x="2860040" y="70866"/>
                    <a:pt x="2860040" y="159004"/>
                  </a:cubicBezTo>
                  <a:lnTo>
                    <a:pt x="2860040" y="488188"/>
                  </a:lnTo>
                  <a:lnTo>
                    <a:pt x="2847340" y="488188"/>
                  </a:lnTo>
                  <a:lnTo>
                    <a:pt x="2860040" y="488188"/>
                  </a:lnTo>
                  <a:cubicBezTo>
                    <a:pt x="2860040" y="576326"/>
                    <a:pt x="2786380" y="647192"/>
                    <a:pt x="2696464" y="647192"/>
                  </a:cubicBezTo>
                  <a:lnTo>
                    <a:pt x="2696464" y="634492"/>
                  </a:lnTo>
                  <a:lnTo>
                    <a:pt x="2696464" y="647192"/>
                  </a:lnTo>
                  <a:lnTo>
                    <a:pt x="163576" y="647192"/>
                  </a:lnTo>
                  <a:lnTo>
                    <a:pt x="163576" y="634492"/>
                  </a:lnTo>
                  <a:lnTo>
                    <a:pt x="163576" y="647192"/>
                  </a:lnTo>
                  <a:cubicBezTo>
                    <a:pt x="73660" y="647192"/>
                    <a:pt x="0" y="576326"/>
                    <a:pt x="0" y="488188"/>
                  </a:cubicBezTo>
                  <a:lnTo>
                    <a:pt x="0" y="159004"/>
                  </a:lnTo>
                  <a:lnTo>
                    <a:pt x="12700" y="159004"/>
                  </a:lnTo>
                  <a:lnTo>
                    <a:pt x="0" y="159004"/>
                  </a:lnTo>
                  <a:moveTo>
                    <a:pt x="25400" y="159004"/>
                  </a:moveTo>
                  <a:lnTo>
                    <a:pt x="25400" y="488188"/>
                  </a:lnTo>
                  <a:lnTo>
                    <a:pt x="12700" y="488188"/>
                  </a:lnTo>
                  <a:lnTo>
                    <a:pt x="25400" y="488188"/>
                  </a:lnTo>
                  <a:cubicBezTo>
                    <a:pt x="25400" y="561594"/>
                    <a:pt x="86868" y="621792"/>
                    <a:pt x="163576" y="621792"/>
                  </a:cubicBezTo>
                  <a:lnTo>
                    <a:pt x="2696464" y="621792"/>
                  </a:lnTo>
                  <a:cubicBezTo>
                    <a:pt x="2773172" y="621792"/>
                    <a:pt x="2834640" y="561594"/>
                    <a:pt x="2834640" y="488188"/>
                  </a:cubicBezTo>
                  <a:lnTo>
                    <a:pt x="2834640" y="159004"/>
                  </a:lnTo>
                  <a:lnTo>
                    <a:pt x="2847340" y="159004"/>
                  </a:lnTo>
                  <a:lnTo>
                    <a:pt x="2834640" y="159004"/>
                  </a:lnTo>
                  <a:cubicBezTo>
                    <a:pt x="2834640" y="85598"/>
                    <a:pt x="2773172" y="25400"/>
                    <a:pt x="2696464" y="25400"/>
                  </a:cubicBezTo>
                  <a:lnTo>
                    <a:pt x="163576" y="25400"/>
                  </a:lnTo>
                  <a:lnTo>
                    <a:pt x="163576" y="12700"/>
                  </a:lnTo>
                  <a:lnTo>
                    <a:pt x="163576" y="25400"/>
                  </a:lnTo>
                  <a:cubicBezTo>
                    <a:pt x="86868" y="25400"/>
                    <a:pt x="25400" y="85598"/>
                    <a:pt x="25400" y="159004"/>
                  </a:cubicBezTo>
                  <a:close/>
                </a:path>
              </a:pathLst>
            </a:custGeom>
            <a:solidFill>
              <a:srgbClr val="E0ECFF"/>
            </a:solidFill>
          </p:spPr>
        </p:sp>
      </p:grpSp>
      <p:grpSp>
        <p:nvGrpSpPr>
          <p:cNvPr name="Group 11" id="11"/>
          <p:cNvGrpSpPr/>
          <p:nvPr/>
        </p:nvGrpSpPr>
        <p:grpSpPr>
          <a:xfrm rot="0">
            <a:off x="15307056" y="754380"/>
            <a:ext cx="1961388" cy="246888"/>
            <a:chOff x="0" y="0"/>
            <a:chExt cx="2615184" cy="329184"/>
          </a:xfrm>
        </p:grpSpPr>
        <p:sp>
          <p:nvSpPr>
            <p:cNvPr name="Freeform 12" id="12"/>
            <p:cNvSpPr/>
            <p:nvPr/>
          </p:nvSpPr>
          <p:spPr>
            <a:xfrm flipH="false" flipV="false" rot="0">
              <a:off x="0" y="0"/>
              <a:ext cx="2615184" cy="329184"/>
            </a:xfrm>
            <a:custGeom>
              <a:avLst/>
              <a:gdLst/>
              <a:ahLst/>
              <a:cxnLst/>
              <a:rect r="r" b="b" t="t" l="l"/>
              <a:pathLst>
                <a:path h="329184" w="2615184">
                  <a:moveTo>
                    <a:pt x="0" y="0"/>
                  </a:moveTo>
                  <a:lnTo>
                    <a:pt x="2615184" y="0"/>
                  </a:lnTo>
                  <a:lnTo>
                    <a:pt x="2615184" y="329184"/>
                  </a:lnTo>
                  <a:lnTo>
                    <a:pt x="0" y="329184"/>
                  </a:lnTo>
                  <a:close/>
                </a:path>
              </a:pathLst>
            </a:custGeom>
            <a:blipFill>
              <a:blip r:embed="rId2">
                <a:alphaModFix amt="0"/>
              </a:blip>
              <a:stretch>
                <a:fillRect l="0" t="-104797" r="0" b="-104797"/>
              </a:stretch>
            </a:blipFill>
          </p:spPr>
        </p:sp>
        <p:sp>
          <p:nvSpPr>
            <p:cNvPr name="TextBox 13" id="13"/>
            <p:cNvSpPr txBox="true"/>
            <p:nvPr/>
          </p:nvSpPr>
          <p:spPr>
            <a:xfrm>
              <a:off x="0" y="0"/>
              <a:ext cx="2615184" cy="329184"/>
            </a:xfrm>
            <a:prstGeom prst="rect">
              <a:avLst/>
            </a:prstGeom>
          </p:spPr>
          <p:txBody>
            <a:bodyPr anchor="ctr" rtlCol="false" tIns="0" lIns="0" bIns="0" rIns="0"/>
            <a:lstStyle/>
            <a:p>
              <a:pPr algn="ctr">
                <a:lnSpc>
                  <a:spcPts val="1800"/>
                </a:lnSpc>
              </a:pPr>
              <a:r>
                <a:rPr lang="en-US" sz="1500" b="true">
                  <a:solidFill>
                    <a:srgbClr val="2563EB"/>
                  </a:solidFill>
                  <a:latin typeface="Aptos Bold"/>
                  <a:ea typeface="Aptos Bold"/>
                  <a:cs typeface="Aptos Bold"/>
                  <a:sym typeface="Aptos Bold"/>
                </a:rPr>
                <a:t>Kết luận</a:t>
              </a:r>
            </a:p>
          </p:txBody>
        </p:sp>
      </p:grpSp>
      <p:grpSp>
        <p:nvGrpSpPr>
          <p:cNvPr name="Group 14" id="14"/>
          <p:cNvGrpSpPr/>
          <p:nvPr/>
        </p:nvGrpSpPr>
        <p:grpSpPr>
          <a:xfrm rot="0">
            <a:off x="1060323" y="1979295"/>
            <a:ext cx="8111490" cy="6808470"/>
            <a:chOff x="0" y="0"/>
            <a:chExt cx="10815320" cy="9077960"/>
          </a:xfrm>
        </p:grpSpPr>
        <p:sp>
          <p:nvSpPr>
            <p:cNvPr name="Freeform 15" id="15"/>
            <p:cNvSpPr/>
            <p:nvPr/>
          </p:nvSpPr>
          <p:spPr>
            <a:xfrm flipH="false" flipV="false" rot="0">
              <a:off x="12700" y="12700"/>
              <a:ext cx="10789920" cy="9052561"/>
            </a:xfrm>
            <a:custGeom>
              <a:avLst/>
              <a:gdLst/>
              <a:ahLst/>
              <a:cxnLst/>
              <a:rect r="r" b="b" t="t" l="l"/>
              <a:pathLst>
                <a:path h="9052561" w="10789920">
                  <a:moveTo>
                    <a:pt x="0" y="146304"/>
                  </a:moveTo>
                  <a:cubicBezTo>
                    <a:pt x="0" y="65532"/>
                    <a:pt x="65532" y="0"/>
                    <a:pt x="146304" y="0"/>
                  </a:cubicBezTo>
                  <a:lnTo>
                    <a:pt x="10643616" y="0"/>
                  </a:lnTo>
                  <a:cubicBezTo>
                    <a:pt x="10724388" y="0"/>
                    <a:pt x="10789920" y="65532"/>
                    <a:pt x="10789920" y="146304"/>
                  </a:cubicBezTo>
                  <a:lnTo>
                    <a:pt x="10789920" y="8906256"/>
                  </a:lnTo>
                  <a:cubicBezTo>
                    <a:pt x="10789920" y="8987028"/>
                    <a:pt x="10724388" y="9052561"/>
                    <a:pt x="10643616" y="9052561"/>
                  </a:cubicBezTo>
                  <a:lnTo>
                    <a:pt x="146304" y="9052561"/>
                  </a:lnTo>
                  <a:cubicBezTo>
                    <a:pt x="65532" y="9052560"/>
                    <a:pt x="0" y="8987028"/>
                    <a:pt x="0" y="8906256"/>
                  </a:cubicBezTo>
                  <a:close/>
                </a:path>
              </a:pathLst>
            </a:custGeom>
            <a:solidFill>
              <a:srgbClr val="FFFFFF"/>
            </a:solidFill>
          </p:spPr>
        </p:sp>
        <p:sp>
          <p:nvSpPr>
            <p:cNvPr name="Freeform 16" id="16"/>
            <p:cNvSpPr/>
            <p:nvPr/>
          </p:nvSpPr>
          <p:spPr>
            <a:xfrm flipH="false" flipV="false" rot="0">
              <a:off x="0" y="0"/>
              <a:ext cx="10815320" cy="9077961"/>
            </a:xfrm>
            <a:custGeom>
              <a:avLst/>
              <a:gdLst/>
              <a:ahLst/>
              <a:cxnLst/>
              <a:rect r="r" b="b" t="t" l="l"/>
              <a:pathLst>
                <a:path h="9077961" w="10815320">
                  <a:moveTo>
                    <a:pt x="0" y="159004"/>
                  </a:moveTo>
                  <a:cubicBezTo>
                    <a:pt x="0" y="71120"/>
                    <a:pt x="71247" y="0"/>
                    <a:pt x="159004" y="0"/>
                  </a:cubicBezTo>
                  <a:lnTo>
                    <a:pt x="10656316" y="0"/>
                  </a:lnTo>
                  <a:lnTo>
                    <a:pt x="10656316" y="12700"/>
                  </a:lnTo>
                  <a:lnTo>
                    <a:pt x="10656316" y="0"/>
                  </a:lnTo>
                  <a:cubicBezTo>
                    <a:pt x="10744200" y="0"/>
                    <a:pt x="10815320" y="71120"/>
                    <a:pt x="10815320" y="159004"/>
                  </a:cubicBezTo>
                  <a:lnTo>
                    <a:pt x="10802620" y="159004"/>
                  </a:lnTo>
                  <a:lnTo>
                    <a:pt x="10815320" y="159004"/>
                  </a:lnTo>
                  <a:lnTo>
                    <a:pt x="10815320" y="8918956"/>
                  </a:lnTo>
                  <a:lnTo>
                    <a:pt x="10802620" y="8918956"/>
                  </a:lnTo>
                  <a:lnTo>
                    <a:pt x="10815320" y="8918956"/>
                  </a:lnTo>
                  <a:cubicBezTo>
                    <a:pt x="10815320" y="9006713"/>
                    <a:pt x="10744073" y="9077961"/>
                    <a:pt x="10656316" y="9077961"/>
                  </a:cubicBezTo>
                  <a:lnTo>
                    <a:pt x="10656316" y="9065261"/>
                  </a:lnTo>
                  <a:lnTo>
                    <a:pt x="10656316" y="9077961"/>
                  </a:lnTo>
                  <a:lnTo>
                    <a:pt x="159004" y="9077961"/>
                  </a:lnTo>
                  <a:lnTo>
                    <a:pt x="159004" y="9065261"/>
                  </a:lnTo>
                  <a:lnTo>
                    <a:pt x="159004" y="9077961"/>
                  </a:lnTo>
                  <a:cubicBezTo>
                    <a:pt x="71247" y="9077960"/>
                    <a:pt x="0" y="9006840"/>
                    <a:pt x="0" y="8918956"/>
                  </a:cubicBezTo>
                  <a:lnTo>
                    <a:pt x="0" y="159004"/>
                  </a:lnTo>
                  <a:lnTo>
                    <a:pt x="12700" y="159004"/>
                  </a:lnTo>
                  <a:lnTo>
                    <a:pt x="0" y="159004"/>
                  </a:lnTo>
                  <a:moveTo>
                    <a:pt x="25400" y="159004"/>
                  </a:moveTo>
                  <a:lnTo>
                    <a:pt x="25400" y="8918956"/>
                  </a:lnTo>
                  <a:lnTo>
                    <a:pt x="12700" y="8918956"/>
                  </a:lnTo>
                  <a:lnTo>
                    <a:pt x="25400" y="8918956"/>
                  </a:lnTo>
                  <a:cubicBezTo>
                    <a:pt x="25400" y="8992743"/>
                    <a:pt x="85217" y="9052561"/>
                    <a:pt x="159004" y="9052561"/>
                  </a:cubicBezTo>
                  <a:lnTo>
                    <a:pt x="10656316" y="9052561"/>
                  </a:lnTo>
                  <a:cubicBezTo>
                    <a:pt x="10730103" y="9052561"/>
                    <a:pt x="10789920" y="8992743"/>
                    <a:pt x="10789920" y="8918956"/>
                  </a:cubicBezTo>
                  <a:lnTo>
                    <a:pt x="10789920" y="159004"/>
                  </a:lnTo>
                  <a:cubicBezTo>
                    <a:pt x="10789920" y="85217"/>
                    <a:pt x="10730103" y="25400"/>
                    <a:pt x="10656316" y="25400"/>
                  </a:cubicBezTo>
                  <a:lnTo>
                    <a:pt x="159004" y="25400"/>
                  </a:lnTo>
                  <a:lnTo>
                    <a:pt x="159004" y="12700"/>
                  </a:lnTo>
                  <a:lnTo>
                    <a:pt x="159004" y="25400"/>
                  </a:lnTo>
                  <a:cubicBezTo>
                    <a:pt x="85217" y="25400"/>
                    <a:pt x="25400" y="85217"/>
                    <a:pt x="25400" y="159004"/>
                  </a:cubicBezTo>
                  <a:close/>
                </a:path>
              </a:pathLst>
            </a:custGeom>
            <a:solidFill>
              <a:srgbClr val="E2E8F0"/>
            </a:solidFill>
          </p:spPr>
        </p:sp>
      </p:grpSp>
      <p:grpSp>
        <p:nvGrpSpPr>
          <p:cNvPr name="Group 17" id="17"/>
          <p:cNvGrpSpPr/>
          <p:nvPr/>
        </p:nvGrpSpPr>
        <p:grpSpPr>
          <a:xfrm rot="0">
            <a:off x="1060323" y="1979295"/>
            <a:ext cx="183642" cy="6808470"/>
            <a:chOff x="0" y="0"/>
            <a:chExt cx="244856" cy="9077960"/>
          </a:xfrm>
        </p:grpSpPr>
        <p:sp>
          <p:nvSpPr>
            <p:cNvPr name="Freeform 18" id="18"/>
            <p:cNvSpPr/>
            <p:nvPr/>
          </p:nvSpPr>
          <p:spPr>
            <a:xfrm flipH="false" flipV="false" rot="0">
              <a:off x="12700" y="12700"/>
              <a:ext cx="219456" cy="9052560"/>
            </a:xfrm>
            <a:custGeom>
              <a:avLst/>
              <a:gdLst/>
              <a:ahLst/>
              <a:cxnLst/>
              <a:rect r="r" b="b" t="t" l="l"/>
              <a:pathLst>
                <a:path h="9052560" w="219456">
                  <a:moveTo>
                    <a:pt x="0" y="0"/>
                  </a:moveTo>
                  <a:lnTo>
                    <a:pt x="219456" y="0"/>
                  </a:lnTo>
                  <a:lnTo>
                    <a:pt x="219456" y="9052560"/>
                  </a:lnTo>
                  <a:lnTo>
                    <a:pt x="0" y="9052560"/>
                  </a:lnTo>
                  <a:close/>
                </a:path>
              </a:pathLst>
            </a:custGeom>
            <a:solidFill>
              <a:srgbClr val="10B981"/>
            </a:solidFill>
          </p:spPr>
        </p:sp>
        <p:sp>
          <p:nvSpPr>
            <p:cNvPr name="Freeform 19" id="19"/>
            <p:cNvSpPr/>
            <p:nvPr/>
          </p:nvSpPr>
          <p:spPr>
            <a:xfrm flipH="false" flipV="false" rot="0">
              <a:off x="0" y="0"/>
              <a:ext cx="244856" cy="9077960"/>
            </a:xfrm>
            <a:custGeom>
              <a:avLst/>
              <a:gdLst/>
              <a:ahLst/>
              <a:cxnLst/>
              <a:rect r="r" b="b" t="t" l="l"/>
              <a:pathLst>
                <a:path h="9077960" w="244856">
                  <a:moveTo>
                    <a:pt x="12700" y="0"/>
                  </a:moveTo>
                  <a:lnTo>
                    <a:pt x="232156" y="0"/>
                  </a:lnTo>
                  <a:cubicBezTo>
                    <a:pt x="239141" y="0"/>
                    <a:pt x="244856" y="5715"/>
                    <a:pt x="244856" y="12700"/>
                  </a:cubicBezTo>
                  <a:lnTo>
                    <a:pt x="244856" y="9065260"/>
                  </a:lnTo>
                  <a:cubicBezTo>
                    <a:pt x="244856" y="9072245"/>
                    <a:pt x="239141" y="9077960"/>
                    <a:pt x="232156" y="9077960"/>
                  </a:cubicBezTo>
                  <a:lnTo>
                    <a:pt x="12700" y="9077960"/>
                  </a:lnTo>
                  <a:cubicBezTo>
                    <a:pt x="5715" y="9077960"/>
                    <a:pt x="0" y="9072245"/>
                    <a:pt x="0" y="9065260"/>
                  </a:cubicBezTo>
                  <a:lnTo>
                    <a:pt x="0" y="12700"/>
                  </a:lnTo>
                  <a:cubicBezTo>
                    <a:pt x="0" y="5715"/>
                    <a:pt x="5715" y="0"/>
                    <a:pt x="12700" y="0"/>
                  </a:cubicBezTo>
                  <a:moveTo>
                    <a:pt x="12700" y="25400"/>
                  </a:moveTo>
                  <a:lnTo>
                    <a:pt x="12700" y="12700"/>
                  </a:lnTo>
                  <a:lnTo>
                    <a:pt x="25400" y="12700"/>
                  </a:lnTo>
                  <a:lnTo>
                    <a:pt x="25400" y="9065260"/>
                  </a:lnTo>
                  <a:lnTo>
                    <a:pt x="12700" y="9065260"/>
                  </a:lnTo>
                  <a:lnTo>
                    <a:pt x="12700" y="9052560"/>
                  </a:lnTo>
                  <a:lnTo>
                    <a:pt x="232156" y="9052560"/>
                  </a:lnTo>
                  <a:lnTo>
                    <a:pt x="232156" y="9065260"/>
                  </a:lnTo>
                  <a:lnTo>
                    <a:pt x="219456" y="9065260"/>
                  </a:lnTo>
                  <a:lnTo>
                    <a:pt x="219456" y="12700"/>
                  </a:lnTo>
                  <a:lnTo>
                    <a:pt x="232156" y="12700"/>
                  </a:lnTo>
                  <a:lnTo>
                    <a:pt x="232156" y="25400"/>
                  </a:lnTo>
                  <a:lnTo>
                    <a:pt x="12700" y="25400"/>
                  </a:lnTo>
                  <a:close/>
                </a:path>
              </a:pathLst>
            </a:custGeom>
            <a:solidFill>
              <a:srgbClr val="10B981"/>
            </a:solidFill>
          </p:spPr>
        </p:sp>
      </p:grpSp>
      <p:grpSp>
        <p:nvGrpSpPr>
          <p:cNvPr name="Group 20" id="20"/>
          <p:cNvGrpSpPr/>
          <p:nvPr/>
        </p:nvGrpSpPr>
        <p:grpSpPr>
          <a:xfrm rot="0">
            <a:off x="1371600" y="2208276"/>
            <a:ext cx="7680960" cy="450800"/>
            <a:chOff x="0" y="0"/>
            <a:chExt cx="10241280" cy="601067"/>
          </a:xfrm>
        </p:grpSpPr>
        <p:sp>
          <p:nvSpPr>
            <p:cNvPr name="Freeform 21" id="21"/>
            <p:cNvSpPr/>
            <p:nvPr/>
          </p:nvSpPr>
          <p:spPr>
            <a:xfrm flipH="false" flipV="false" rot="0">
              <a:off x="0" y="0"/>
              <a:ext cx="10241280" cy="601067"/>
            </a:xfrm>
            <a:custGeom>
              <a:avLst/>
              <a:gdLst/>
              <a:ahLst/>
              <a:cxnLst/>
              <a:rect r="r" b="b" t="t" l="l"/>
              <a:pathLst>
                <a:path h="601067" w="10241280">
                  <a:moveTo>
                    <a:pt x="0" y="0"/>
                  </a:moveTo>
                  <a:lnTo>
                    <a:pt x="10241280" y="0"/>
                  </a:lnTo>
                  <a:lnTo>
                    <a:pt x="10241280" y="601067"/>
                  </a:lnTo>
                  <a:lnTo>
                    <a:pt x="0" y="601067"/>
                  </a:lnTo>
                  <a:close/>
                </a:path>
              </a:pathLst>
            </a:custGeom>
            <a:blipFill>
              <a:blip r:embed="rId2">
                <a:alphaModFix amt="0"/>
              </a:blip>
              <a:stretch>
                <a:fillRect l="0" t="-289399" r="0" b="-274591"/>
              </a:stretch>
            </a:blipFill>
          </p:spPr>
        </p:sp>
        <p:sp>
          <p:nvSpPr>
            <p:cNvPr name="TextBox 22" id="22"/>
            <p:cNvSpPr txBox="true"/>
            <p:nvPr/>
          </p:nvSpPr>
          <p:spPr>
            <a:xfrm>
              <a:off x="0" y="0"/>
              <a:ext cx="10241280" cy="601067"/>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Kết luận</a:t>
              </a:r>
            </a:p>
          </p:txBody>
        </p:sp>
      </p:grpSp>
      <p:grpSp>
        <p:nvGrpSpPr>
          <p:cNvPr name="Group 23" id="23"/>
          <p:cNvGrpSpPr/>
          <p:nvPr/>
        </p:nvGrpSpPr>
        <p:grpSpPr>
          <a:xfrm rot="0">
            <a:off x="1371600" y="2647188"/>
            <a:ext cx="7626096" cy="5993892"/>
            <a:chOff x="0" y="0"/>
            <a:chExt cx="10168128" cy="7991856"/>
          </a:xfrm>
        </p:grpSpPr>
        <p:sp>
          <p:nvSpPr>
            <p:cNvPr name="Freeform 24" id="24"/>
            <p:cNvSpPr/>
            <p:nvPr/>
          </p:nvSpPr>
          <p:spPr>
            <a:xfrm flipH="false" flipV="false" rot="0">
              <a:off x="0" y="0"/>
              <a:ext cx="10168128" cy="7991856"/>
            </a:xfrm>
            <a:custGeom>
              <a:avLst/>
              <a:gdLst/>
              <a:ahLst/>
              <a:cxnLst/>
              <a:rect r="r" b="b" t="t" l="l"/>
              <a:pathLst>
                <a:path h="7991856" w="10168128">
                  <a:moveTo>
                    <a:pt x="0" y="0"/>
                  </a:moveTo>
                  <a:lnTo>
                    <a:pt x="10168128" y="0"/>
                  </a:lnTo>
                  <a:lnTo>
                    <a:pt x="10168128" y="7991856"/>
                  </a:lnTo>
                  <a:lnTo>
                    <a:pt x="0" y="7991856"/>
                  </a:lnTo>
                  <a:close/>
                </a:path>
              </a:pathLst>
            </a:custGeom>
            <a:blipFill>
              <a:blip r:embed="rId2">
                <a:alphaModFix amt="0"/>
              </a:blip>
              <a:stretch>
                <a:fillRect l="-50842" t="0" r="-50842" b="0"/>
              </a:stretch>
            </a:blipFill>
          </p:spPr>
        </p:sp>
        <p:sp>
          <p:nvSpPr>
            <p:cNvPr name="TextBox 25" id="25"/>
            <p:cNvSpPr txBox="true"/>
            <p:nvPr/>
          </p:nvSpPr>
          <p:spPr>
            <a:xfrm>
              <a:off x="0" y="-9525"/>
              <a:ext cx="10168128" cy="8001381"/>
            </a:xfrm>
            <a:prstGeom prst="rect">
              <a:avLst/>
            </a:prstGeom>
          </p:spPr>
          <p:txBody>
            <a:bodyPr anchor="ctr" rtlCol="false" tIns="0" lIns="0" bIns="0" rIns="0"/>
            <a:lstStyle/>
            <a:p>
              <a:pPr algn="l">
                <a:lnSpc>
                  <a:spcPts val="2400"/>
                </a:lnSpc>
              </a:pPr>
              <a:r>
                <a:rPr lang="en-US" sz="2000">
                  <a:solidFill>
                    <a:srgbClr val="000000"/>
                  </a:solidFill>
                  <a:latin typeface="Aptos"/>
                  <a:ea typeface="Aptos"/>
                  <a:cs typeface="Aptos"/>
                  <a:sym typeface="Aptos"/>
                </a:rPr>
                <a:t>• Đã xây dựng được bộ automation test cho 6 module localization trên PrestaShop Demo.</a:t>
              </a:r>
            </a:p>
            <a:p>
              <a:pPr algn="l">
                <a:lnSpc>
                  <a:spcPts val="2400"/>
                </a:lnSpc>
              </a:pPr>
            </a:p>
            <a:p>
              <a:pPr algn="l">
                <a:lnSpc>
                  <a:spcPts val="2400"/>
                </a:lnSpc>
              </a:pPr>
              <a:r>
                <a:rPr lang="en-US" sz="2000">
                  <a:solidFill>
                    <a:srgbClr val="000000"/>
                  </a:solidFill>
                  <a:latin typeface="Aptos"/>
                  <a:ea typeface="Aptos"/>
                  <a:cs typeface="Aptos"/>
                  <a:sym typeface="Aptos"/>
                </a:rPr>
                <a:t>• Bộ test bao phủ 4 locale đại diện: English, French, Vietnamese và Arabic.</a:t>
              </a:r>
            </a:p>
            <a:p>
              <a:pPr algn="l">
                <a:lnSpc>
                  <a:spcPts val="2400"/>
                </a:lnSpc>
              </a:pPr>
            </a:p>
            <a:p>
              <a:pPr algn="l">
                <a:lnSpc>
                  <a:spcPts val="2400"/>
                </a:lnSpc>
              </a:pPr>
              <a:r>
                <a:rPr lang="en-US" sz="2000">
                  <a:solidFill>
                    <a:srgbClr val="000000"/>
                  </a:solidFill>
                  <a:latin typeface="Aptos"/>
                  <a:ea typeface="Aptos"/>
                  <a:cs typeface="Aptos"/>
                  <a:sym typeface="Aptos"/>
                </a:rPr>
                <a:t>• Kết quả thực thi 24 test cases cho thấy hệ thống còn một số lỗi quan trọng về tiền tệ, RTL và dịch thuật.</a:t>
              </a:r>
            </a:p>
            <a:p>
              <a:pPr algn="l">
                <a:lnSpc>
                  <a:spcPts val="2400"/>
                </a:lnSpc>
              </a:pPr>
            </a:p>
            <a:p>
              <a:pPr algn="l">
                <a:lnSpc>
                  <a:spcPts val="2400"/>
                </a:lnSpc>
              </a:pPr>
              <a:r>
                <a:rPr lang="en-US" sz="2000">
                  <a:solidFill>
                    <a:srgbClr val="000000"/>
                  </a:solidFill>
                  <a:latin typeface="Aptos"/>
                  <a:ea typeface="Aptos"/>
                  <a:cs typeface="Aptos"/>
                  <a:sym typeface="Aptos"/>
                </a:rPr>
                <a:t>• Framework có khả năng tái sử dụng cho các lần kiểm thử hồi quy tiếp theo.</a:t>
              </a:r>
            </a:p>
          </p:txBody>
        </p:sp>
      </p:grpSp>
      <p:grpSp>
        <p:nvGrpSpPr>
          <p:cNvPr name="Group 26" id="26"/>
          <p:cNvGrpSpPr/>
          <p:nvPr/>
        </p:nvGrpSpPr>
        <p:grpSpPr>
          <a:xfrm rot="0">
            <a:off x="9481947" y="1979295"/>
            <a:ext cx="7768590" cy="6808470"/>
            <a:chOff x="0" y="0"/>
            <a:chExt cx="10358120" cy="9077960"/>
          </a:xfrm>
        </p:grpSpPr>
        <p:sp>
          <p:nvSpPr>
            <p:cNvPr name="Freeform 27" id="27"/>
            <p:cNvSpPr/>
            <p:nvPr/>
          </p:nvSpPr>
          <p:spPr>
            <a:xfrm flipH="false" flipV="false" rot="0">
              <a:off x="12700" y="12700"/>
              <a:ext cx="10332720" cy="9052561"/>
            </a:xfrm>
            <a:custGeom>
              <a:avLst/>
              <a:gdLst/>
              <a:ahLst/>
              <a:cxnLst/>
              <a:rect r="r" b="b" t="t" l="l"/>
              <a:pathLst>
                <a:path h="9052561" w="10332720">
                  <a:moveTo>
                    <a:pt x="0" y="146304"/>
                  </a:moveTo>
                  <a:cubicBezTo>
                    <a:pt x="0" y="65532"/>
                    <a:pt x="65532" y="0"/>
                    <a:pt x="146304" y="0"/>
                  </a:cubicBezTo>
                  <a:lnTo>
                    <a:pt x="10186416" y="0"/>
                  </a:lnTo>
                  <a:cubicBezTo>
                    <a:pt x="10267188" y="0"/>
                    <a:pt x="10332720" y="65532"/>
                    <a:pt x="10332720" y="146304"/>
                  </a:cubicBezTo>
                  <a:lnTo>
                    <a:pt x="10332720" y="8906256"/>
                  </a:lnTo>
                  <a:cubicBezTo>
                    <a:pt x="10332720" y="8987028"/>
                    <a:pt x="10267188" y="9052561"/>
                    <a:pt x="10186416" y="9052561"/>
                  </a:cubicBezTo>
                  <a:lnTo>
                    <a:pt x="146304" y="9052561"/>
                  </a:lnTo>
                  <a:cubicBezTo>
                    <a:pt x="65532" y="9052560"/>
                    <a:pt x="0" y="8987028"/>
                    <a:pt x="0" y="8906256"/>
                  </a:cubicBezTo>
                  <a:close/>
                </a:path>
              </a:pathLst>
            </a:custGeom>
            <a:solidFill>
              <a:srgbClr val="FFFFFF"/>
            </a:solidFill>
          </p:spPr>
        </p:sp>
        <p:sp>
          <p:nvSpPr>
            <p:cNvPr name="Freeform 28" id="28"/>
            <p:cNvSpPr/>
            <p:nvPr/>
          </p:nvSpPr>
          <p:spPr>
            <a:xfrm flipH="false" flipV="false" rot="0">
              <a:off x="0" y="0"/>
              <a:ext cx="10358120" cy="9077961"/>
            </a:xfrm>
            <a:custGeom>
              <a:avLst/>
              <a:gdLst/>
              <a:ahLst/>
              <a:cxnLst/>
              <a:rect r="r" b="b" t="t" l="l"/>
              <a:pathLst>
                <a:path h="9077961" w="10358120">
                  <a:moveTo>
                    <a:pt x="0" y="159004"/>
                  </a:moveTo>
                  <a:cubicBezTo>
                    <a:pt x="0" y="71120"/>
                    <a:pt x="71247" y="0"/>
                    <a:pt x="159004" y="0"/>
                  </a:cubicBezTo>
                  <a:lnTo>
                    <a:pt x="10199116" y="0"/>
                  </a:lnTo>
                  <a:lnTo>
                    <a:pt x="10199116" y="12700"/>
                  </a:lnTo>
                  <a:lnTo>
                    <a:pt x="10199116" y="0"/>
                  </a:lnTo>
                  <a:cubicBezTo>
                    <a:pt x="10287000" y="0"/>
                    <a:pt x="10358120" y="71120"/>
                    <a:pt x="10358120" y="159004"/>
                  </a:cubicBezTo>
                  <a:lnTo>
                    <a:pt x="10345420" y="159004"/>
                  </a:lnTo>
                  <a:lnTo>
                    <a:pt x="10358120" y="159004"/>
                  </a:lnTo>
                  <a:lnTo>
                    <a:pt x="10358120" y="8918956"/>
                  </a:lnTo>
                  <a:lnTo>
                    <a:pt x="10345420" y="8918956"/>
                  </a:lnTo>
                  <a:lnTo>
                    <a:pt x="10358120" y="8918956"/>
                  </a:lnTo>
                  <a:cubicBezTo>
                    <a:pt x="10358120" y="9006713"/>
                    <a:pt x="10286873" y="9077961"/>
                    <a:pt x="10199116" y="9077961"/>
                  </a:cubicBezTo>
                  <a:lnTo>
                    <a:pt x="10199116" y="9065261"/>
                  </a:lnTo>
                  <a:lnTo>
                    <a:pt x="10199116" y="9077961"/>
                  </a:lnTo>
                  <a:lnTo>
                    <a:pt x="159004" y="9077961"/>
                  </a:lnTo>
                  <a:lnTo>
                    <a:pt x="159004" y="9065261"/>
                  </a:lnTo>
                  <a:lnTo>
                    <a:pt x="159004" y="9077961"/>
                  </a:lnTo>
                  <a:cubicBezTo>
                    <a:pt x="71247" y="9077960"/>
                    <a:pt x="0" y="9006840"/>
                    <a:pt x="0" y="8918956"/>
                  </a:cubicBezTo>
                  <a:lnTo>
                    <a:pt x="0" y="159004"/>
                  </a:lnTo>
                  <a:lnTo>
                    <a:pt x="12700" y="159004"/>
                  </a:lnTo>
                  <a:lnTo>
                    <a:pt x="0" y="159004"/>
                  </a:lnTo>
                  <a:moveTo>
                    <a:pt x="25400" y="159004"/>
                  </a:moveTo>
                  <a:lnTo>
                    <a:pt x="25400" y="8918956"/>
                  </a:lnTo>
                  <a:lnTo>
                    <a:pt x="12700" y="8918956"/>
                  </a:lnTo>
                  <a:lnTo>
                    <a:pt x="25400" y="8918956"/>
                  </a:lnTo>
                  <a:cubicBezTo>
                    <a:pt x="25400" y="8992743"/>
                    <a:pt x="85217" y="9052561"/>
                    <a:pt x="159004" y="9052561"/>
                  </a:cubicBezTo>
                  <a:lnTo>
                    <a:pt x="10199116" y="9052561"/>
                  </a:lnTo>
                  <a:cubicBezTo>
                    <a:pt x="10272903" y="9052561"/>
                    <a:pt x="10332720" y="8992743"/>
                    <a:pt x="10332720" y="8918956"/>
                  </a:cubicBezTo>
                  <a:lnTo>
                    <a:pt x="10332720" y="159004"/>
                  </a:lnTo>
                  <a:cubicBezTo>
                    <a:pt x="10332720" y="85217"/>
                    <a:pt x="10272903" y="25400"/>
                    <a:pt x="10199116" y="25400"/>
                  </a:cubicBezTo>
                  <a:lnTo>
                    <a:pt x="159004" y="25400"/>
                  </a:lnTo>
                  <a:lnTo>
                    <a:pt x="159004" y="12700"/>
                  </a:lnTo>
                  <a:lnTo>
                    <a:pt x="159004" y="25400"/>
                  </a:lnTo>
                  <a:cubicBezTo>
                    <a:pt x="85217" y="25400"/>
                    <a:pt x="25400" y="85217"/>
                    <a:pt x="25400" y="159004"/>
                  </a:cubicBezTo>
                  <a:close/>
                </a:path>
              </a:pathLst>
            </a:custGeom>
            <a:solidFill>
              <a:srgbClr val="E2E8F0"/>
            </a:solidFill>
          </p:spPr>
        </p:sp>
      </p:grpSp>
      <p:grpSp>
        <p:nvGrpSpPr>
          <p:cNvPr name="Group 29" id="29"/>
          <p:cNvGrpSpPr/>
          <p:nvPr/>
        </p:nvGrpSpPr>
        <p:grpSpPr>
          <a:xfrm rot="0">
            <a:off x="9481947" y="1979295"/>
            <a:ext cx="183642" cy="6808470"/>
            <a:chOff x="0" y="0"/>
            <a:chExt cx="244856" cy="9077960"/>
          </a:xfrm>
        </p:grpSpPr>
        <p:sp>
          <p:nvSpPr>
            <p:cNvPr name="Freeform 30" id="30"/>
            <p:cNvSpPr/>
            <p:nvPr/>
          </p:nvSpPr>
          <p:spPr>
            <a:xfrm flipH="false" flipV="false" rot="0">
              <a:off x="12700" y="12700"/>
              <a:ext cx="219456" cy="9052560"/>
            </a:xfrm>
            <a:custGeom>
              <a:avLst/>
              <a:gdLst/>
              <a:ahLst/>
              <a:cxnLst/>
              <a:rect r="r" b="b" t="t" l="l"/>
              <a:pathLst>
                <a:path h="9052560" w="219456">
                  <a:moveTo>
                    <a:pt x="0" y="0"/>
                  </a:moveTo>
                  <a:lnTo>
                    <a:pt x="219456" y="0"/>
                  </a:lnTo>
                  <a:lnTo>
                    <a:pt x="219456" y="9052560"/>
                  </a:lnTo>
                  <a:lnTo>
                    <a:pt x="0" y="9052560"/>
                  </a:lnTo>
                  <a:close/>
                </a:path>
              </a:pathLst>
            </a:custGeom>
            <a:solidFill>
              <a:srgbClr val="7C3AED"/>
            </a:solidFill>
          </p:spPr>
        </p:sp>
        <p:sp>
          <p:nvSpPr>
            <p:cNvPr name="Freeform 31" id="31"/>
            <p:cNvSpPr/>
            <p:nvPr/>
          </p:nvSpPr>
          <p:spPr>
            <a:xfrm flipH="false" flipV="false" rot="0">
              <a:off x="0" y="0"/>
              <a:ext cx="244856" cy="9077960"/>
            </a:xfrm>
            <a:custGeom>
              <a:avLst/>
              <a:gdLst/>
              <a:ahLst/>
              <a:cxnLst/>
              <a:rect r="r" b="b" t="t" l="l"/>
              <a:pathLst>
                <a:path h="9077960" w="244856">
                  <a:moveTo>
                    <a:pt x="12700" y="0"/>
                  </a:moveTo>
                  <a:lnTo>
                    <a:pt x="232156" y="0"/>
                  </a:lnTo>
                  <a:cubicBezTo>
                    <a:pt x="239141" y="0"/>
                    <a:pt x="244856" y="5715"/>
                    <a:pt x="244856" y="12700"/>
                  </a:cubicBezTo>
                  <a:lnTo>
                    <a:pt x="244856" y="9065260"/>
                  </a:lnTo>
                  <a:cubicBezTo>
                    <a:pt x="244856" y="9072245"/>
                    <a:pt x="239141" y="9077960"/>
                    <a:pt x="232156" y="9077960"/>
                  </a:cubicBezTo>
                  <a:lnTo>
                    <a:pt x="12700" y="9077960"/>
                  </a:lnTo>
                  <a:cubicBezTo>
                    <a:pt x="5715" y="9077960"/>
                    <a:pt x="0" y="9072245"/>
                    <a:pt x="0" y="9065260"/>
                  </a:cubicBezTo>
                  <a:lnTo>
                    <a:pt x="0" y="12700"/>
                  </a:lnTo>
                  <a:cubicBezTo>
                    <a:pt x="0" y="5715"/>
                    <a:pt x="5715" y="0"/>
                    <a:pt x="12700" y="0"/>
                  </a:cubicBezTo>
                  <a:moveTo>
                    <a:pt x="12700" y="25400"/>
                  </a:moveTo>
                  <a:lnTo>
                    <a:pt x="12700" y="12700"/>
                  </a:lnTo>
                  <a:lnTo>
                    <a:pt x="25400" y="12700"/>
                  </a:lnTo>
                  <a:lnTo>
                    <a:pt x="25400" y="9065260"/>
                  </a:lnTo>
                  <a:lnTo>
                    <a:pt x="12700" y="9065260"/>
                  </a:lnTo>
                  <a:lnTo>
                    <a:pt x="12700" y="9052560"/>
                  </a:lnTo>
                  <a:lnTo>
                    <a:pt x="232156" y="9052560"/>
                  </a:lnTo>
                  <a:lnTo>
                    <a:pt x="232156" y="9065260"/>
                  </a:lnTo>
                  <a:lnTo>
                    <a:pt x="219456" y="9065260"/>
                  </a:lnTo>
                  <a:lnTo>
                    <a:pt x="219456" y="12700"/>
                  </a:lnTo>
                  <a:lnTo>
                    <a:pt x="232156" y="12700"/>
                  </a:lnTo>
                  <a:lnTo>
                    <a:pt x="232156" y="25400"/>
                  </a:lnTo>
                  <a:lnTo>
                    <a:pt x="12700" y="25400"/>
                  </a:lnTo>
                  <a:close/>
                </a:path>
              </a:pathLst>
            </a:custGeom>
            <a:solidFill>
              <a:srgbClr val="7C3AED"/>
            </a:solidFill>
          </p:spPr>
        </p:sp>
      </p:grpSp>
      <p:grpSp>
        <p:nvGrpSpPr>
          <p:cNvPr name="Group 32" id="32"/>
          <p:cNvGrpSpPr/>
          <p:nvPr/>
        </p:nvGrpSpPr>
        <p:grpSpPr>
          <a:xfrm rot="0">
            <a:off x="9793224" y="2208276"/>
            <a:ext cx="7338060" cy="384048"/>
            <a:chOff x="0" y="0"/>
            <a:chExt cx="9784080" cy="512064"/>
          </a:xfrm>
        </p:grpSpPr>
        <p:sp>
          <p:nvSpPr>
            <p:cNvPr name="Freeform 33" id="33"/>
            <p:cNvSpPr/>
            <p:nvPr/>
          </p:nvSpPr>
          <p:spPr>
            <a:xfrm flipH="false" flipV="false" rot="0">
              <a:off x="0" y="0"/>
              <a:ext cx="9784080" cy="512064"/>
            </a:xfrm>
            <a:custGeom>
              <a:avLst/>
              <a:gdLst/>
              <a:ahLst/>
              <a:cxnLst/>
              <a:rect r="r" b="b" t="t" l="l"/>
              <a:pathLst>
                <a:path h="512064" w="9784080">
                  <a:moveTo>
                    <a:pt x="0" y="0"/>
                  </a:moveTo>
                  <a:lnTo>
                    <a:pt x="9784080" y="0"/>
                  </a:lnTo>
                  <a:lnTo>
                    <a:pt x="9784080" y="512064"/>
                  </a:lnTo>
                  <a:lnTo>
                    <a:pt x="0" y="512064"/>
                  </a:lnTo>
                  <a:close/>
                </a:path>
              </a:pathLst>
            </a:custGeom>
            <a:blipFill>
              <a:blip r:embed="rId2">
                <a:alphaModFix amt="0"/>
              </a:blip>
              <a:stretch>
                <a:fillRect l="0" t="-322303" r="0" b="-322303"/>
              </a:stretch>
            </a:blipFill>
          </p:spPr>
        </p:sp>
        <p:sp>
          <p:nvSpPr>
            <p:cNvPr name="TextBox 34" id="34"/>
            <p:cNvSpPr txBox="true"/>
            <p:nvPr/>
          </p:nvSpPr>
          <p:spPr>
            <a:xfrm>
              <a:off x="0" y="0"/>
              <a:ext cx="9784080" cy="512064"/>
            </a:xfrm>
            <a:prstGeom prst="rect">
              <a:avLst/>
            </a:prstGeom>
          </p:spPr>
          <p:txBody>
            <a:bodyPr anchor="ctr" rtlCol="false" tIns="0" lIns="0" bIns="0" rIns="0"/>
            <a:lstStyle/>
            <a:p>
              <a:pPr algn="l">
                <a:lnSpc>
                  <a:spcPts val="2879"/>
                </a:lnSpc>
              </a:pPr>
              <a:r>
                <a:rPr lang="en-US" sz="2400" b="true">
                  <a:solidFill>
                    <a:srgbClr val="0F172A"/>
                  </a:solidFill>
                  <a:latin typeface="Aptos Bold"/>
                  <a:ea typeface="Aptos Bold"/>
                  <a:cs typeface="Aptos Bold"/>
                  <a:sym typeface="Aptos Bold"/>
                </a:rPr>
                <a:t>Hướng phát triển</a:t>
              </a:r>
            </a:p>
          </p:txBody>
        </p:sp>
      </p:grpSp>
      <p:grpSp>
        <p:nvGrpSpPr>
          <p:cNvPr name="Group 35" id="35"/>
          <p:cNvGrpSpPr/>
          <p:nvPr/>
        </p:nvGrpSpPr>
        <p:grpSpPr>
          <a:xfrm rot="0">
            <a:off x="9793224" y="2647188"/>
            <a:ext cx="7283196" cy="5993892"/>
            <a:chOff x="0" y="0"/>
            <a:chExt cx="9710928" cy="7991856"/>
          </a:xfrm>
        </p:grpSpPr>
        <p:sp>
          <p:nvSpPr>
            <p:cNvPr name="Freeform 36" id="36"/>
            <p:cNvSpPr/>
            <p:nvPr/>
          </p:nvSpPr>
          <p:spPr>
            <a:xfrm flipH="false" flipV="false" rot="0">
              <a:off x="0" y="0"/>
              <a:ext cx="9710928" cy="7991856"/>
            </a:xfrm>
            <a:custGeom>
              <a:avLst/>
              <a:gdLst/>
              <a:ahLst/>
              <a:cxnLst/>
              <a:rect r="r" b="b" t="t" l="l"/>
              <a:pathLst>
                <a:path h="7991856" w="9710928">
                  <a:moveTo>
                    <a:pt x="0" y="0"/>
                  </a:moveTo>
                  <a:lnTo>
                    <a:pt x="9710928" y="0"/>
                  </a:lnTo>
                  <a:lnTo>
                    <a:pt x="9710928" y="7991856"/>
                  </a:lnTo>
                  <a:lnTo>
                    <a:pt x="0" y="7991856"/>
                  </a:lnTo>
                  <a:close/>
                </a:path>
              </a:pathLst>
            </a:custGeom>
            <a:blipFill>
              <a:blip r:embed="rId2">
                <a:alphaModFix amt="0"/>
              </a:blip>
              <a:stretch>
                <a:fillRect l="-55590" t="0" r="-55590" b="0"/>
              </a:stretch>
            </a:blipFill>
          </p:spPr>
        </p:sp>
        <p:sp>
          <p:nvSpPr>
            <p:cNvPr name="TextBox 37" id="37"/>
            <p:cNvSpPr txBox="true"/>
            <p:nvPr/>
          </p:nvSpPr>
          <p:spPr>
            <a:xfrm>
              <a:off x="0" y="-9525"/>
              <a:ext cx="9710928" cy="8001381"/>
            </a:xfrm>
            <a:prstGeom prst="rect">
              <a:avLst/>
            </a:prstGeom>
          </p:spPr>
          <p:txBody>
            <a:bodyPr anchor="ctr" rtlCol="false" tIns="0" lIns="0" bIns="0" rIns="0"/>
            <a:lstStyle/>
            <a:p>
              <a:pPr algn="l">
                <a:lnSpc>
                  <a:spcPts val="2400"/>
                </a:lnSpc>
              </a:pPr>
              <a:r>
                <a:rPr lang="en-US" sz="2000">
                  <a:solidFill>
                    <a:srgbClr val="000000"/>
                  </a:solidFill>
                  <a:latin typeface="Aptos"/>
                  <a:ea typeface="Aptos"/>
                  <a:cs typeface="Aptos"/>
                  <a:sym typeface="Aptos"/>
                </a:rPr>
                <a:t>1. Mở rộng thêm locale và màn hình kiểm thử ngoài trang chủ.</a:t>
              </a:r>
            </a:p>
            <a:p>
              <a:pPr algn="l">
                <a:lnSpc>
                  <a:spcPts val="2400"/>
                </a:lnSpc>
              </a:pPr>
            </a:p>
            <a:p>
              <a:pPr algn="l">
                <a:lnSpc>
                  <a:spcPts val="2400"/>
                </a:lnSpc>
              </a:pPr>
              <a:r>
                <a:rPr lang="en-US" sz="2000">
                  <a:solidFill>
                    <a:srgbClr val="000000"/>
                  </a:solidFill>
                  <a:latin typeface="Aptos"/>
                  <a:ea typeface="Aptos"/>
                  <a:cs typeface="Aptos"/>
                  <a:sym typeface="Aptos"/>
                </a:rPr>
                <a:t>2. Bổ sung dữ liệu để kiểm tra Date Format một cách ổn định hơn.</a:t>
              </a:r>
            </a:p>
            <a:p>
              <a:pPr algn="l">
                <a:lnSpc>
                  <a:spcPts val="2400"/>
                </a:lnSpc>
              </a:pPr>
            </a:p>
            <a:p>
              <a:pPr algn="l">
                <a:lnSpc>
                  <a:spcPts val="2400"/>
                </a:lnSpc>
              </a:pPr>
              <a:r>
                <a:rPr lang="en-US" sz="2000">
                  <a:solidFill>
                    <a:srgbClr val="000000"/>
                  </a:solidFill>
                  <a:latin typeface="Aptos"/>
                  <a:ea typeface="Aptos"/>
                  <a:cs typeface="Aptos"/>
                  <a:sym typeface="Aptos"/>
                </a:rPr>
                <a:t>3. Chuẩn hóa bug report và xuất báo cáo tự động sau mỗi lần chạy test.</a:t>
              </a:r>
            </a:p>
            <a:p>
              <a:pPr algn="l">
                <a:lnSpc>
                  <a:spcPts val="2400"/>
                </a:lnSpc>
              </a:pPr>
            </a:p>
            <a:p>
              <a:pPr algn="l">
                <a:lnSpc>
                  <a:spcPts val="2400"/>
                </a:lnSpc>
              </a:pPr>
              <a:r>
                <a:rPr lang="en-US" sz="2000">
                  <a:solidFill>
                    <a:srgbClr val="000000"/>
                  </a:solidFill>
                  <a:latin typeface="Aptos"/>
                  <a:ea typeface="Aptos"/>
                  <a:cs typeface="Aptos"/>
                  <a:sym typeface="Aptos"/>
                </a:rPr>
                <a:t>4. Tích hợp regression testing vào CI/CD nếu dự án có môi trường phát triển hoàn chỉnh.</a:t>
              </a:r>
            </a:p>
            <a:p>
              <a:pPr algn="l">
                <a:lnSpc>
                  <a:spcPts val="2400"/>
                </a:lnSpc>
              </a:pPr>
            </a:p>
            <a:p>
              <a:pPr algn="l">
                <a:lnSpc>
                  <a:spcPts val="2400"/>
                </a:lnSpc>
              </a:pPr>
              <a:r>
                <a:rPr lang="en-US" sz="2000">
                  <a:solidFill>
                    <a:srgbClr val="000000"/>
                  </a:solidFill>
                  <a:latin typeface="Aptos"/>
                  <a:ea typeface="Aptos"/>
                  <a:cs typeface="Aptos"/>
                  <a:sym typeface="Aptos"/>
                </a:rPr>
                <a:t>5. Mở rộng sang kiểm thử responsive/mobile khi có đủ phạm vi.</a:t>
              </a:r>
            </a:p>
          </p:txBody>
        </p:sp>
      </p:grpSp>
      <p:sp>
        <p:nvSpPr>
          <p:cNvPr name="TextBox 38" id="38"/>
          <p:cNvSpPr txBox="true"/>
          <p:nvPr/>
        </p:nvSpPr>
        <p:spPr>
          <a:xfrm rot="0">
            <a:off x="17373600" y="9664827"/>
            <a:ext cx="118872" cy="164973"/>
          </a:xfrm>
          <a:prstGeom prst="rect">
            <a:avLst/>
          </a:prstGeom>
        </p:spPr>
        <p:txBody>
          <a:bodyPr anchor="t" rtlCol="false" tIns="0" lIns="0" bIns="0" rIns="0">
            <a:spAutoFit/>
          </a:bodyPr>
          <a:lstStyle/>
          <a:p>
            <a:pPr algn="r">
              <a:lnSpc>
                <a:spcPts val="1620"/>
              </a:lnSpc>
            </a:pPr>
            <a:r>
              <a:rPr lang="en-US" sz="1350">
                <a:solidFill>
                  <a:srgbClr val="64748B"/>
                </a:solidFill>
                <a:latin typeface="Aptos"/>
                <a:ea typeface="Aptos"/>
                <a:cs typeface="Aptos"/>
                <a:sym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DAHETxlhYU8</dc:identifier>
  <dcterms:modified xsi:type="dcterms:W3CDTF">2011-08-01T06:04:30Z</dcterms:modified>
  <cp:revision>1</cp:revision>
  <dc:title>Đề tài tập trung đánh giá khả năng bản địa hóa của website thương mại điện tử đa ngôn ngữ trên 4 locale đại diện bằng bộ kiểm thử tự động Selenium + JUnit 5.</dc:title>
</cp:coreProperties>
</file>